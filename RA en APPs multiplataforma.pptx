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4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90" r:id="rId7"/>
    <p:sldId id="261" r:id="rId8"/>
    <p:sldId id="262" r:id="rId9"/>
    <p:sldId id="265" r:id="rId10"/>
    <p:sldId id="263" r:id="rId11"/>
    <p:sldId id="264" r:id="rId12"/>
  </p:sldIdLst>
  <p:sldSz cx="18288000" cy="10287000"/>
  <p:notesSz cx="6858000" cy="9144000"/>
  <p:embeddedFontLst>
    <p:embeddedFont>
      <p:font typeface="Franklin Gothic Demi Cond" panose="020B0706030402020204" pitchFamily="34" charset="0"/>
      <p:regular r:id="rId14"/>
    </p:embeddedFont>
    <p:embeddedFont>
      <p:font typeface="Now" panose="020B0604020202020204" charset="0"/>
      <p:regular r:id="rId15"/>
    </p:embeddedFont>
    <p:embeddedFont>
      <p:font typeface="Now Bold" panose="020B0604020202020204" charset="0"/>
      <p:regular r:id="rId16"/>
    </p:embeddedFont>
    <p:embeddedFont>
      <p:font typeface="Tw Cen MT" panose="020B0602020104020603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4622" autoAdjust="0"/>
  </p:normalViewPr>
  <p:slideViewPr>
    <p:cSldViewPr>
      <p:cViewPr varScale="1">
        <p:scale>
          <a:sx n="46" d="100"/>
          <a:sy n="46" d="100"/>
        </p:scale>
        <p:origin x="73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BF74C-5349-42C1-BBE2-741E106F6D8E}" type="doc">
      <dgm:prSet loTypeId="urn:microsoft.com/office/officeart/2005/8/layout/matrix2" loCatId="matrix" qsTypeId="urn:microsoft.com/office/officeart/2005/8/quickstyle/3d9" qsCatId="3D" csTypeId="urn:microsoft.com/office/officeart/2005/8/colors/accent0_1" csCatId="mainScheme" phldr="1"/>
      <dgm:spPr/>
      <dgm:t>
        <a:bodyPr/>
        <a:lstStyle/>
        <a:p>
          <a:endParaRPr lang="es-ES"/>
        </a:p>
      </dgm:t>
    </dgm:pt>
    <dgm:pt modelId="{3940626F-079F-4B33-9C9F-9D188F31E839}">
      <dgm:prSet phldrT="[Texto]" phldr="0"/>
      <dgm:spPr/>
      <dgm:t>
        <a:bodyPr/>
        <a:lstStyle/>
        <a:p>
          <a:endParaRPr lang="es-ES" dirty="0"/>
        </a:p>
      </dgm:t>
    </dgm:pt>
    <dgm:pt modelId="{80A1210F-5F08-47DE-9331-2ADA16F6F031}" type="parTrans" cxnId="{70FBBC76-177E-4C72-BBD6-B041BB6EB150}">
      <dgm:prSet/>
      <dgm:spPr/>
      <dgm:t>
        <a:bodyPr/>
        <a:lstStyle/>
        <a:p>
          <a:endParaRPr lang="es-ES"/>
        </a:p>
      </dgm:t>
    </dgm:pt>
    <dgm:pt modelId="{D2E5832F-69E5-4420-8A6E-0C8CF889F27C}" type="sibTrans" cxnId="{70FBBC76-177E-4C72-BBD6-B041BB6EB150}">
      <dgm:prSet/>
      <dgm:spPr/>
      <dgm:t>
        <a:bodyPr/>
        <a:lstStyle/>
        <a:p>
          <a:endParaRPr lang="es-ES"/>
        </a:p>
      </dgm:t>
    </dgm:pt>
    <dgm:pt modelId="{EECB220D-5C2B-44CE-B03E-B2F79B0DB201}">
      <dgm:prSet phldrT="[Texto]" phldr="0"/>
      <dgm:spPr/>
      <dgm:t>
        <a:bodyPr/>
        <a:lstStyle/>
        <a:p>
          <a:endParaRPr lang="es-ES" dirty="0"/>
        </a:p>
      </dgm:t>
    </dgm:pt>
    <dgm:pt modelId="{14D7BEC9-4FED-4ED7-BB35-40F97890F372}" type="parTrans" cxnId="{1085B05E-F780-4790-B53C-443B005C47FC}">
      <dgm:prSet/>
      <dgm:spPr/>
      <dgm:t>
        <a:bodyPr/>
        <a:lstStyle/>
        <a:p>
          <a:endParaRPr lang="es-ES"/>
        </a:p>
      </dgm:t>
    </dgm:pt>
    <dgm:pt modelId="{E8997228-51CB-43DB-8383-5B33FC6C34D4}" type="sibTrans" cxnId="{1085B05E-F780-4790-B53C-443B005C47FC}">
      <dgm:prSet/>
      <dgm:spPr/>
      <dgm:t>
        <a:bodyPr/>
        <a:lstStyle/>
        <a:p>
          <a:endParaRPr lang="es-ES"/>
        </a:p>
      </dgm:t>
    </dgm:pt>
    <dgm:pt modelId="{1B5B6841-7A85-40C6-BDA6-BD66C1F540E5}">
      <dgm:prSet phldrT="[Texto]" phldr="0"/>
      <dgm:spPr/>
      <dgm:t>
        <a:bodyPr/>
        <a:lstStyle/>
        <a:p>
          <a:endParaRPr lang="es-ES" dirty="0"/>
        </a:p>
      </dgm:t>
    </dgm:pt>
    <dgm:pt modelId="{62351223-E216-43C3-A971-0397517A27FD}" type="parTrans" cxnId="{EA256743-BB79-4788-A85A-4729BF1374FB}">
      <dgm:prSet/>
      <dgm:spPr/>
      <dgm:t>
        <a:bodyPr/>
        <a:lstStyle/>
        <a:p>
          <a:endParaRPr lang="es-ES"/>
        </a:p>
      </dgm:t>
    </dgm:pt>
    <dgm:pt modelId="{535DC777-3166-48BB-B214-BA3CAC0EC139}" type="sibTrans" cxnId="{EA256743-BB79-4788-A85A-4729BF1374FB}">
      <dgm:prSet/>
      <dgm:spPr/>
      <dgm:t>
        <a:bodyPr/>
        <a:lstStyle/>
        <a:p>
          <a:endParaRPr lang="es-ES"/>
        </a:p>
      </dgm:t>
    </dgm:pt>
    <dgm:pt modelId="{02D9CE77-271E-428F-BB22-777412C224E6}">
      <dgm:prSet phldrT="[Texto]" phldr="0"/>
      <dgm:spPr/>
      <dgm:t>
        <a:bodyPr/>
        <a:lstStyle/>
        <a:p>
          <a:endParaRPr lang="es-ES" dirty="0"/>
        </a:p>
      </dgm:t>
    </dgm:pt>
    <dgm:pt modelId="{E3C4DEE1-7F6E-4890-8A8F-66C4C994D07F}" type="parTrans" cxnId="{D17203D8-497F-479A-AB25-F032ECB73265}">
      <dgm:prSet/>
      <dgm:spPr/>
      <dgm:t>
        <a:bodyPr/>
        <a:lstStyle/>
        <a:p>
          <a:endParaRPr lang="es-ES"/>
        </a:p>
      </dgm:t>
    </dgm:pt>
    <dgm:pt modelId="{A1FA8561-801C-47F0-8362-2A8D68F98E95}" type="sibTrans" cxnId="{D17203D8-497F-479A-AB25-F032ECB73265}">
      <dgm:prSet/>
      <dgm:spPr/>
      <dgm:t>
        <a:bodyPr/>
        <a:lstStyle/>
        <a:p>
          <a:endParaRPr lang="es-ES"/>
        </a:p>
      </dgm:t>
    </dgm:pt>
    <dgm:pt modelId="{4DE0229F-50A0-4549-86BE-6F15E859AE4E}" type="pres">
      <dgm:prSet presAssocID="{3DEBF74C-5349-42C1-BBE2-741E106F6D8E}" presName="matrix" presStyleCnt="0">
        <dgm:presLayoutVars>
          <dgm:chMax val="1"/>
          <dgm:dir/>
          <dgm:resizeHandles val="exact"/>
        </dgm:presLayoutVars>
      </dgm:prSet>
      <dgm:spPr/>
    </dgm:pt>
    <dgm:pt modelId="{C19504CD-B645-4748-AB68-051F721A5327}" type="pres">
      <dgm:prSet presAssocID="{3DEBF74C-5349-42C1-BBE2-741E106F6D8E}" presName="axisShape" presStyleLbl="bgShp" presStyleIdx="0" presStyleCnt="1"/>
      <dgm:spPr/>
    </dgm:pt>
    <dgm:pt modelId="{C8BFF6C7-DE58-4E70-9FDE-946C33522628}" type="pres">
      <dgm:prSet presAssocID="{3DEBF74C-5349-42C1-BBE2-741E106F6D8E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2BB427D-D6D5-4B7E-993B-DC9535292F30}" type="pres">
      <dgm:prSet presAssocID="{3DEBF74C-5349-42C1-BBE2-741E106F6D8E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07052DB-2B89-46DA-9622-184008799382}" type="pres">
      <dgm:prSet presAssocID="{3DEBF74C-5349-42C1-BBE2-741E106F6D8E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012E2FD-4BCE-4C7F-BB65-BFC456C3CD64}" type="pres">
      <dgm:prSet presAssocID="{3DEBF74C-5349-42C1-BBE2-741E106F6D8E}" presName="rect4" presStyleLbl="node1" presStyleIdx="3" presStyleCnt="4" custLinFactNeighborY="-421">
        <dgm:presLayoutVars>
          <dgm:chMax val="0"/>
          <dgm:chPref val="0"/>
          <dgm:bulletEnabled val="1"/>
        </dgm:presLayoutVars>
      </dgm:prSet>
      <dgm:spPr/>
    </dgm:pt>
  </dgm:ptLst>
  <dgm:cxnLst>
    <dgm:cxn modelId="{1085B05E-F780-4790-B53C-443B005C47FC}" srcId="{3DEBF74C-5349-42C1-BBE2-741E106F6D8E}" destId="{EECB220D-5C2B-44CE-B03E-B2F79B0DB201}" srcOrd="1" destOrd="0" parTransId="{14D7BEC9-4FED-4ED7-BB35-40F97890F372}" sibTransId="{E8997228-51CB-43DB-8383-5B33FC6C34D4}"/>
    <dgm:cxn modelId="{EA256743-BB79-4788-A85A-4729BF1374FB}" srcId="{3DEBF74C-5349-42C1-BBE2-741E106F6D8E}" destId="{1B5B6841-7A85-40C6-BDA6-BD66C1F540E5}" srcOrd="2" destOrd="0" parTransId="{62351223-E216-43C3-A971-0397517A27FD}" sibTransId="{535DC777-3166-48BB-B214-BA3CAC0EC139}"/>
    <dgm:cxn modelId="{70FBBC76-177E-4C72-BBD6-B041BB6EB150}" srcId="{3DEBF74C-5349-42C1-BBE2-741E106F6D8E}" destId="{3940626F-079F-4B33-9C9F-9D188F31E839}" srcOrd="0" destOrd="0" parTransId="{80A1210F-5F08-47DE-9331-2ADA16F6F031}" sibTransId="{D2E5832F-69E5-4420-8A6E-0C8CF889F27C}"/>
    <dgm:cxn modelId="{C2D6217B-8CFC-452C-A185-ABD72A469C1C}" type="presOf" srcId="{3DEBF74C-5349-42C1-BBE2-741E106F6D8E}" destId="{4DE0229F-50A0-4549-86BE-6F15E859AE4E}" srcOrd="0" destOrd="0" presId="urn:microsoft.com/office/officeart/2005/8/layout/matrix2"/>
    <dgm:cxn modelId="{FCA01288-6400-4E83-B963-76BA068A357A}" type="presOf" srcId="{1B5B6841-7A85-40C6-BDA6-BD66C1F540E5}" destId="{B07052DB-2B89-46DA-9622-184008799382}" srcOrd="0" destOrd="0" presId="urn:microsoft.com/office/officeart/2005/8/layout/matrix2"/>
    <dgm:cxn modelId="{E91E2392-9562-416D-8AD3-033F55845839}" type="presOf" srcId="{3940626F-079F-4B33-9C9F-9D188F31E839}" destId="{C8BFF6C7-DE58-4E70-9FDE-946C33522628}" srcOrd="0" destOrd="0" presId="urn:microsoft.com/office/officeart/2005/8/layout/matrix2"/>
    <dgm:cxn modelId="{7EF48BBC-FBEA-4AFA-856E-473B57C5989D}" type="presOf" srcId="{EECB220D-5C2B-44CE-B03E-B2F79B0DB201}" destId="{22BB427D-D6D5-4B7E-993B-DC9535292F30}" srcOrd="0" destOrd="0" presId="urn:microsoft.com/office/officeart/2005/8/layout/matrix2"/>
    <dgm:cxn modelId="{20A397C1-761E-4E90-AB75-05C62F553AE6}" type="presOf" srcId="{02D9CE77-271E-428F-BB22-777412C224E6}" destId="{9012E2FD-4BCE-4C7F-BB65-BFC456C3CD64}" srcOrd="0" destOrd="0" presId="urn:microsoft.com/office/officeart/2005/8/layout/matrix2"/>
    <dgm:cxn modelId="{D17203D8-497F-479A-AB25-F032ECB73265}" srcId="{3DEBF74C-5349-42C1-BBE2-741E106F6D8E}" destId="{02D9CE77-271E-428F-BB22-777412C224E6}" srcOrd="3" destOrd="0" parTransId="{E3C4DEE1-7F6E-4890-8A8F-66C4C994D07F}" sibTransId="{A1FA8561-801C-47F0-8362-2A8D68F98E95}"/>
    <dgm:cxn modelId="{A4596B0B-8A19-43AF-A921-22CEB553FB7D}" type="presParOf" srcId="{4DE0229F-50A0-4549-86BE-6F15E859AE4E}" destId="{C19504CD-B645-4748-AB68-051F721A5327}" srcOrd="0" destOrd="0" presId="urn:microsoft.com/office/officeart/2005/8/layout/matrix2"/>
    <dgm:cxn modelId="{45642234-C77F-4ACB-828B-7B9A36CE12E0}" type="presParOf" srcId="{4DE0229F-50A0-4549-86BE-6F15E859AE4E}" destId="{C8BFF6C7-DE58-4E70-9FDE-946C33522628}" srcOrd="1" destOrd="0" presId="urn:microsoft.com/office/officeart/2005/8/layout/matrix2"/>
    <dgm:cxn modelId="{1E809584-7F2E-4997-95D1-8A46BF5DB8A7}" type="presParOf" srcId="{4DE0229F-50A0-4549-86BE-6F15E859AE4E}" destId="{22BB427D-D6D5-4B7E-993B-DC9535292F30}" srcOrd="2" destOrd="0" presId="urn:microsoft.com/office/officeart/2005/8/layout/matrix2"/>
    <dgm:cxn modelId="{F445084F-DBFC-48E7-A456-8122298176F6}" type="presParOf" srcId="{4DE0229F-50A0-4549-86BE-6F15E859AE4E}" destId="{B07052DB-2B89-46DA-9622-184008799382}" srcOrd="3" destOrd="0" presId="urn:microsoft.com/office/officeart/2005/8/layout/matrix2"/>
    <dgm:cxn modelId="{C4FE1369-283E-4E3D-81BE-2CE9525C4130}" type="presParOf" srcId="{4DE0229F-50A0-4549-86BE-6F15E859AE4E}" destId="{9012E2FD-4BCE-4C7F-BB65-BFC456C3CD64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9504CD-B645-4748-AB68-051F721A5327}">
      <dsp:nvSpPr>
        <dsp:cNvPr id="0" name=""/>
        <dsp:cNvSpPr/>
      </dsp:nvSpPr>
      <dsp:spPr>
        <a:xfrm>
          <a:off x="929466" y="0"/>
          <a:ext cx="8351868" cy="8351868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BFF6C7-DE58-4E70-9FDE-946C33522628}">
      <dsp:nvSpPr>
        <dsp:cNvPr id="0" name=""/>
        <dsp:cNvSpPr/>
      </dsp:nvSpPr>
      <dsp:spPr>
        <a:xfrm>
          <a:off x="1472337" y="542871"/>
          <a:ext cx="3340747" cy="334074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  <a:sp3d extrusionH="28000" prstMaterial="matte"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6500" kern="1200" dirty="0"/>
        </a:p>
      </dsp:txBody>
      <dsp:txXfrm>
        <a:off x="1635419" y="705953"/>
        <a:ext cx="3014583" cy="3014583"/>
      </dsp:txXfrm>
    </dsp:sp>
    <dsp:sp modelId="{22BB427D-D6D5-4B7E-993B-DC9535292F30}">
      <dsp:nvSpPr>
        <dsp:cNvPr id="0" name=""/>
        <dsp:cNvSpPr/>
      </dsp:nvSpPr>
      <dsp:spPr>
        <a:xfrm>
          <a:off x="5397715" y="542871"/>
          <a:ext cx="3340747" cy="334074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  <a:sp3d extrusionH="28000" prstMaterial="matte"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6500" kern="1200" dirty="0"/>
        </a:p>
      </dsp:txBody>
      <dsp:txXfrm>
        <a:off x="5560797" y="705953"/>
        <a:ext cx="3014583" cy="3014583"/>
      </dsp:txXfrm>
    </dsp:sp>
    <dsp:sp modelId="{B07052DB-2B89-46DA-9622-184008799382}">
      <dsp:nvSpPr>
        <dsp:cNvPr id="0" name=""/>
        <dsp:cNvSpPr/>
      </dsp:nvSpPr>
      <dsp:spPr>
        <a:xfrm>
          <a:off x="1472337" y="4468249"/>
          <a:ext cx="3340747" cy="334074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  <a:sp3d extrusionH="28000" prstMaterial="matte"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6500" kern="1200" dirty="0"/>
        </a:p>
      </dsp:txBody>
      <dsp:txXfrm>
        <a:off x="1635419" y="4631331"/>
        <a:ext cx="3014583" cy="3014583"/>
      </dsp:txXfrm>
    </dsp:sp>
    <dsp:sp modelId="{9012E2FD-4BCE-4C7F-BB65-BFC456C3CD64}">
      <dsp:nvSpPr>
        <dsp:cNvPr id="0" name=""/>
        <dsp:cNvSpPr/>
      </dsp:nvSpPr>
      <dsp:spPr>
        <a:xfrm>
          <a:off x="5397715" y="4454184"/>
          <a:ext cx="3340747" cy="334074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  <a:sp3d extrusionH="28000" prstMaterial="matte"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6500" kern="1200" dirty="0"/>
        </a:p>
      </dsp:txBody>
      <dsp:txXfrm>
        <a:off x="5560797" y="4617266"/>
        <a:ext cx="3014583" cy="30145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A66A9B-469D-41E6-81BF-965863134EE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4CD4-1CE5-42B5-A468-34227200B88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9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A24CD4-1CE5-42B5-A468-34227200B8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13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4CD4-1CE5-42B5-A468-34227200B88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347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A24CD4-1CE5-42B5-A468-34227200B88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49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8288005" cy="1028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1"/>
            <a:ext cx="3457577" cy="10287002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14637" y="1683545"/>
            <a:ext cx="13187363" cy="3581400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14637" y="5403057"/>
            <a:ext cx="13187363" cy="2483643"/>
          </a:xfrm>
        </p:spPr>
        <p:txBody>
          <a:bodyPr>
            <a:normAutofit/>
          </a:bodyPr>
          <a:lstStyle>
            <a:lvl1pPr marL="0" indent="0" algn="l">
              <a:buNone/>
              <a:defRPr sz="3000" cap="all" baseline="0">
                <a:solidFill>
                  <a:schemeClr val="tx2"/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16267" y="8115302"/>
            <a:ext cx="4114800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14636" y="8115302"/>
            <a:ext cx="7687329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845367" y="8115299"/>
            <a:ext cx="1156634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62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30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7" y="2128840"/>
            <a:ext cx="14859000" cy="4279106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6636543"/>
            <a:ext cx="14859000" cy="2062164"/>
          </a:xfrm>
        </p:spPr>
        <p:txBody>
          <a:bodyPr>
            <a:normAutofit/>
          </a:bodyPr>
          <a:lstStyle>
            <a:lvl1pPr marL="0" indent="0">
              <a:buNone/>
              <a:defRPr sz="27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879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12116" y="3374229"/>
            <a:ext cx="7317584" cy="53125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1" y="3374229"/>
            <a:ext cx="7312817" cy="53125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492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7" y="928690"/>
            <a:ext cx="14859000" cy="221694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5029" y="3374229"/>
            <a:ext cx="6974675" cy="1235868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36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2116" y="4610096"/>
            <a:ext cx="7317587" cy="407670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01212" y="3374228"/>
            <a:ext cx="6969903" cy="1235868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36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4610096"/>
            <a:ext cx="7312815" cy="407670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28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35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0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0058" y="914402"/>
            <a:ext cx="5784056" cy="245982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34301" y="888999"/>
            <a:ext cx="8836814" cy="7797801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20058" y="3374229"/>
            <a:ext cx="5784056" cy="5312571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5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20" y="914400"/>
            <a:ext cx="8901762" cy="2459829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071082" y="914402"/>
            <a:ext cx="5500035" cy="77723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6" y="3374229"/>
            <a:ext cx="8901767" cy="5312571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82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6" y="6456997"/>
            <a:ext cx="14868533" cy="1229033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2117" y="909639"/>
            <a:ext cx="14868531" cy="4949667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48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047" y="7686030"/>
            <a:ext cx="14866289" cy="102370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48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85" y="914400"/>
            <a:ext cx="14858933" cy="5143500"/>
          </a:xfrm>
        </p:spPr>
        <p:txBody>
          <a:bodyPr anchor="ctr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6" y="6629399"/>
            <a:ext cx="14856689" cy="2057399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12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18" y="914399"/>
            <a:ext cx="13954128" cy="4122644"/>
          </a:xfrm>
        </p:spPr>
        <p:txBody>
          <a:bodyPr anchor="ctr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580967" y="5048336"/>
            <a:ext cx="13128449" cy="823452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7" y="6464879"/>
            <a:ext cx="14859003" cy="2234244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1355268" y="1098591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806055" y="4147458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224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6" y="3201062"/>
            <a:ext cx="14859002" cy="376775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047" y="6986483"/>
            <a:ext cx="14856758" cy="1710966"/>
          </a:xfrm>
        </p:spPr>
        <p:txBody>
          <a:bodyPr anchor="t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2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712120" y="914400"/>
            <a:ext cx="14858997" cy="28575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712116" y="4011695"/>
            <a:ext cx="4795349" cy="10287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6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691878" y="5040395"/>
            <a:ext cx="4813103" cy="364640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72150" y="4016453"/>
            <a:ext cx="4776578" cy="10287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6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6756320" y="5045153"/>
            <a:ext cx="4793745" cy="364640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778663" y="4011695"/>
            <a:ext cx="4792452" cy="10287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6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11778663" y="5040395"/>
            <a:ext cx="4792452" cy="364640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61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712117" y="914400"/>
            <a:ext cx="14858999" cy="28575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712120" y="6606894"/>
            <a:ext cx="4792860" cy="864393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0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712120" y="4000497"/>
            <a:ext cx="4792860" cy="2286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712120" y="7471288"/>
            <a:ext cx="4792860" cy="1226765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33580" y="6606894"/>
            <a:ext cx="4800600" cy="864393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0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6733580" y="4000497"/>
            <a:ext cx="4798410" cy="2286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6731390" y="7471286"/>
            <a:ext cx="4800600" cy="1215513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778851" y="6606893"/>
            <a:ext cx="4786112" cy="864393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0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1778664" y="4000497"/>
            <a:ext cx="4792454" cy="2286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11778663" y="7471281"/>
            <a:ext cx="4792452" cy="1215518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51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631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563601" y="914399"/>
            <a:ext cx="3007517" cy="777240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12115" y="914399"/>
            <a:ext cx="11622885" cy="777240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733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8288005" cy="1028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21432" y="1"/>
            <a:ext cx="18080832" cy="10287002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12120" y="927777"/>
            <a:ext cx="14858997" cy="2217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9" y="3374230"/>
            <a:ext cx="14858999" cy="5312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85382" y="882491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12117" y="8824913"/>
            <a:ext cx="9358964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14482" y="8824912"/>
            <a:ext cx="1156634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836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120000"/>
        </a:lnSpc>
        <a:spcBef>
          <a:spcPts val="1500"/>
        </a:spcBef>
        <a:buSzPct val="125000"/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diagramData" Target="../diagrams/data1.xml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microsoft.com/office/2007/relationships/diagramDrawing" Target="../diagrams/drawing1.xml"/><Relationship Id="rId5" Type="http://schemas.openxmlformats.org/officeDocument/2006/relationships/image" Target="../media/image7.svg"/><Relationship Id="rId15" Type="http://schemas.openxmlformats.org/officeDocument/2006/relationships/image" Target="../media/image14.png"/><Relationship Id="rId10" Type="http://schemas.openxmlformats.org/officeDocument/2006/relationships/diagramColors" Target="../diagrams/colors1.xml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diagramQuickStyle" Target="../diagrams/quickStyle1.xml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svg"/><Relationship Id="rId7" Type="http://schemas.openxmlformats.org/officeDocument/2006/relationships/image" Target="../media/image23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9.png"/><Relationship Id="rId4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microsoft.com/office/2007/relationships/hdphoto" Target="../media/hdphoto1.wdp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sv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19.sv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5.svg"/><Relationship Id="rId7" Type="http://schemas.openxmlformats.org/officeDocument/2006/relationships/image" Target="../media/image31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7.svg"/><Relationship Id="rId7" Type="http://schemas.openxmlformats.org/officeDocument/2006/relationships/image" Target="../media/image3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jpg"/><Relationship Id="rId9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91970">
            <a:off x="-6564316" y="-718708"/>
            <a:ext cx="13236843" cy="11389755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9" y="0"/>
                </a:lnTo>
                <a:lnTo>
                  <a:pt x="14639359" y="12643082"/>
                </a:lnTo>
                <a:lnTo>
                  <a:pt x="0" y="12643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Freeform 4"/>
          <p:cNvSpPr/>
          <p:nvPr/>
        </p:nvSpPr>
        <p:spPr>
          <a:xfrm>
            <a:off x="15529742" y="8343900"/>
            <a:ext cx="1817135" cy="1752599"/>
          </a:xfrm>
          <a:custGeom>
            <a:avLst/>
            <a:gdLst/>
            <a:ahLst/>
            <a:cxnLst/>
            <a:rect l="l" t="t" r="r" b="b"/>
            <a:pathLst>
              <a:path w="1817135" h="1817135">
                <a:moveTo>
                  <a:pt x="0" y="0"/>
                </a:moveTo>
                <a:lnTo>
                  <a:pt x="1817135" y="0"/>
                </a:lnTo>
                <a:lnTo>
                  <a:pt x="1817135" y="1817135"/>
                </a:lnTo>
                <a:lnTo>
                  <a:pt x="0" y="1817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5" name="TextBox 5"/>
          <p:cNvSpPr txBox="1"/>
          <p:nvPr/>
        </p:nvSpPr>
        <p:spPr>
          <a:xfrm>
            <a:off x="3810001" y="647700"/>
            <a:ext cx="12649199" cy="26225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s-SV" sz="4000" dirty="0">
                <a:latin typeface="Now Bold" panose="020B0604020202020204" charset="0"/>
                <a:ea typeface="Now"/>
                <a:cs typeface="Now"/>
                <a:sym typeface="Now"/>
              </a:rPr>
              <a:t>D</a:t>
            </a:r>
            <a:r>
              <a:rPr lang="es-MX" sz="4000" dirty="0">
                <a:latin typeface="Now Bold" panose="020B0604020202020204" charset="0"/>
              </a:rPr>
              <a:t>esarrollo de Aplicaciones Multiplataforma para </a:t>
            </a:r>
            <a:r>
              <a:rPr lang="es-MX" sz="4000" dirty="0" err="1">
                <a:latin typeface="Now Bold" panose="020B0604020202020204" charset="0"/>
              </a:rPr>
              <a:t>IoT</a:t>
            </a:r>
            <a:r>
              <a:rPr lang="es-MX" sz="4000" dirty="0">
                <a:latin typeface="Now Bold" panose="020B0604020202020204" charset="0"/>
              </a:rPr>
              <a:t> con Realidad Aumentada [RA] en la Monitorización de Dispositivos Inteligentes.</a:t>
            </a:r>
            <a:endParaRPr lang="en-US" sz="4000" dirty="0">
              <a:latin typeface="Now Bold" panose="020B0604020202020204" charset="0"/>
              <a:ea typeface="Now"/>
              <a:cs typeface="Now"/>
              <a:sym typeface="Now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6014405" y="9105900"/>
            <a:ext cx="7620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419"/>
          </a:p>
        </p:txBody>
      </p:sp>
      <p:sp>
        <p:nvSpPr>
          <p:cNvPr id="8" name="Freeform 6"/>
          <p:cNvSpPr/>
          <p:nvPr/>
        </p:nvSpPr>
        <p:spPr>
          <a:xfrm>
            <a:off x="16535400" y="-434189"/>
            <a:ext cx="2133600" cy="2758290"/>
          </a:xfrm>
          <a:custGeom>
            <a:avLst/>
            <a:gdLst/>
            <a:ahLst/>
            <a:cxnLst/>
            <a:rect l="l" t="t" r="r" b="b"/>
            <a:pathLst>
              <a:path w="6601579" h="6601579">
                <a:moveTo>
                  <a:pt x="0" y="0"/>
                </a:moveTo>
                <a:lnTo>
                  <a:pt x="6601580" y="0"/>
                </a:lnTo>
                <a:lnTo>
                  <a:pt x="6601580" y="6601579"/>
                </a:lnTo>
                <a:lnTo>
                  <a:pt x="0" y="6601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28F39C5A-36E9-51DD-4D04-5432B8B8890D}"/>
              </a:ext>
            </a:extLst>
          </p:cNvPr>
          <p:cNvSpPr txBox="1"/>
          <p:nvPr/>
        </p:nvSpPr>
        <p:spPr>
          <a:xfrm>
            <a:off x="7924800" y="3758386"/>
            <a:ext cx="8859225" cy="5284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s-ES" sz="3600" dirty="0">
                <a:latin typeface="Now Bold" panose="020B0604020202020204" charset="0"/>
                <a:ea typeface="Now"/>
                <a:cs typeface="Now"/>
                <a:sym typeface="Now"/>
              </a:rPr>
              <a:t>Presentado por:</a:t>
            </a:r>
          </a:p>
          <a:p>
            <a:pPr marL="571500" indent="-571500">
              <a:lnSpc>
                <a:spcPts val="7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Now Bold" panose="020B0604020202020204" charset="0"/>
                <a:ea typeface="Now"/>
                <a:cs typeface="Now"/>
                <a:sym typeface="Now"/>
              </a:rPr>
              <a:t>William Alexander Avilés Del Cid</a:t>
            </a:r>
          </a:p>
          <a:p>
            <a:pPr marL="571500" indent="-571500">
              <a:lnSpc>
                <a:spcPts val="7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Now Bold" panose="020B0604020202020204" charset="0"/>
                <a:ea typeface="Now"/>
                <a:cs typeface="Now"/>
                <a:sym typeface="Now"/>
              </a:rPr>
              <a:t>Fernando Aldair Durán Amaya</a:t>
            </a:r>
          </a:p>
          <a:p>
            <a:pPr marL="571500" indent="-571500">
              <a:lnSpc>
                <a:spcPts val="7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Now Bold" panose="020B0604020202020204" charset="0"/>
                <a:ea typeface="Now"/>
                <a:cs typeface="Now"/>
                <a:sym typeface="Now"/>
              </a:rPr>
              <a:t>Gabriela María Flores Noguera</a:t>
            </a:r>
          </a:p>
          <a:p>
            <a:pPr marL="571500" indent="-571500">
              <a:lnSpc>
                <a:spcPts val="7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Now Bold" panose="020B0604020202020204" charset="0"/>
                <a:ea typeface="Now"/>
                <a:cs typeface="Now"/>
                <a:sym typeface="Now"/>
              </a:rPr>
              <a:t>Harold Albeiro Quintanilla Rodríguez</a:t>
            </a:r>
          </a:p>
          <a:p>
            <a:pPr marL="571500" indent="-571500">
              <a:lnSpc>
                <a:spcPts val="7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Now Bold" panose="020B0604020202020204" charset="0"/>
                <a:ea typeface="Now"/>
                <a:cs typeface="Now"/>
                <a:sym typeface="Now"/>
              </a:rPr>
              <a:t>Eduardo Josué Ortiz Orellana</a:t>
            </a:r>
          </a:p>
        </p:txBody>
      </p:sp>
      <p:pic>
        <p:nvPicPr>
          <p:cNvPr id="1028" name="Picture 4" descr=" iot and augmented reality concept with hand holding smart phone">
            <a:extLst>
              <a:ext uri="{FF2B5EF4-FFF2-40B4-BE49-F238E27FC236}">
                <a16:creationId xmlns:a16="http://schemas.microsoft.com/office/drawing/2014/main" id="{F45ECD9E-591D-C267-AD74-404D59EB5E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5" t="859" r="21264" b="-859"/>
          <a:stretch>
            <a:fillRect/>
          </a:stretch>
        </p:blipFill>
        <p:spPr bwMode="auto">
          <a:xfrm>
            <a:off x="621564" y="3775039"/>
            <a:ext cx="4495800" cy="5543550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072555">
            <a:off x="16555730" y="2195760"/>
            <a:ext cx="9497408" cy="7145335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9" y="0"/>
                </a:lnTo>
                <a:lnTo>
                  <a:pt x="14639359" y="12643083"/>
                </a:lnTo>
                <a:lnTo>
                  <a:pt x="0" y="12643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Freeform 4"/>
          <p:cNvSpPr/>
          <p:nvPr/>
        </p:nvSpPr>
        <p:spPr>
          <a:xfrm rot="10415872">
            <a:off x="16047444" y="-242455"/>
            <a:ext cx="3096966" cy="3192491"/>
          </a:xfrm>
          <a:custGeom>
            <a:avLst/>
            <a:gdLst/>
            <a:ahLst/>
            <a:cxnLst/>
            <a:rect l="l" t="t" r="r" b="b"/>
            <a:pathLst>
              <a:path w="5277584" h="5277584">
                <a:moveTo>
                  <a:pt x="0" y="0"/>
                </a:moveTo>
                <a:lnTo>
                  <a:pt x="5277584" y="0"/>
                </a:lnTo>
                <a:lnTo>
                  <a:pt x="5277584" y="5277583"/>
                </a:lnTo>
                <a:lnTo>
                  <a:pt x="0" y="5277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5" name="Freeform 5"/>
          <p:cNvSpPr/>
          <p:nvPr/>
        </p:nvSpPr>
        <p:spPr>
          <a:xfrm>
            <a:off x="15879109" y="7535792"/>
            <a:ext cx="2514600" cy="2751208"/>
          </a:xfrm>
          <a:custGeom>
            <a:avLst/>
            <a:gdLst/>
            <a:ahLst/>
            <a:cxnLst/>
            <a:rect l="l" t="t" r="r" b="b"/>
            <a:pathLst>
              <a:path w="4774256" h="4774256">
                <a:moveTo>
                  <a:pt x="0" y="0"/>
                </a:moveTo>
                <a:lnTo>
                  <a:pt x="4774256" y="0"/>
                </a:lnTo>
                <a:lnTo>
                  <a:pt x="4774256" y="4774256"/>
                </a:lnTo>
                <a:lnTo>
                  <a:pt x="0" y="4774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44FB19CF-7BA5-46D3-FEE1-6CCDC7E21242}"/>
              </a:ext>
            </a:extLst>
          </p:cNvPr>
          <p:cNvSpPr txBox="1"/>
          <p:nvPr/>
        </p:nvSpPr>
        <p:spPr>
          <a:xfrm>
            <a:off x="3048000" y="1353790"/>
            <a:ext cx="11519272" cy="857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s-MX" sz="4800" dirty="0">
                <a:latin typeface="Now Bold" panose="020B0604020202020204" charset="0"/>
              </a:rPr>
              <a:t>¿Qué es Realidad Aumentada [RA]?</a:t>
            </a:r>
            <a:endParaRPr lang="en-US" sz="4800" dirty="0">
              <a:latin typeface="Now Bold" panose="020B0604020202020204" charset="0"/>
              <a:ea typeface="Now"/>
              <a:cs typeface="Now"/>
              <a:sym typeface="Now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C2B99CAE-B516-2068-4838-32B925150377}"/>
              </a:ext>
            </a:extLst>
          </p:cNvPr>
          <p:cNvSpPr txBox="1"/>
          <p:nvPr/>
        </p:nvSpPr>
        <p:spPr>
          <a:xfrm>
            <a:off x="6858000" y="3621224"/>
            <a:ext cx="7522726" cy="4417876"/>
          </a:xfrm>
          <a:prstGeom prst="rect">
            <a:avLst/>
          </a:prstGeom>
        </p:spPr>
        <p:txBody>
          <a:bodyPr wrap="square" lIns="0" tIns="0" rIns="0" bIns="0" rtlCol="0" anchor="t">
            <a:spAutoFit/>
            <a:scene3d>
              <a:camera prst="perspectiveHeroicExtremeLeftFacing">
                <a:rot lat="487347" lon="1200000" rev="21425485"/>
              </a:camera>
              <a:lightRig rig="threePt" dir="t"/>
            </a:scene3d>
          </a:bodyPr>
          <a:lstStyle/>
          <a:p>
            <a:pPr algn="ctr">
              <a:lnSpc>
                <a:spcPts val="7000"/>
              </a:lnSpc>
            </a:pPr>
            <a:r>
              <a:rPr lang="es-ES" sz="4000" dirty="0">
                <a:latin typeface="Now Bold" panose="020B0604020202020204" charset="0"/>
                <a:ea typeface="Now"/>
                <a:cs typeface="Now"/>
                <a:sym typeface="Now"/>
              </a:rPr>
              <a:t>Tecnología que superpone información digital, como imágenes, texto o sonido, sobre nuestra percepción del mundo real</a:t>
            </a:r>
            <a:endParaRPr lang="en-US" sz="4000" dirty="0">
              <a:latin typeface="Now Bold" panose="020B0604020202020204" charset="0"/>
              <a:ea typeface="Now"/>
              <a:cs typeface="Now"/>
              <a:sym typeface="Now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89F44A1-6322-005C-E8E3-49AC3ABA33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810" y="3619500"/>
            <a:ext cx="4266590" cy="42665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703180"/>
            <a:ext cx="8395093" cy="47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400" dirty="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 </a:t>
            </a:r>
          </a:p>
        </p:txBody>
      </p:sp>
      <p:sp>
        <p:nvSpPr>
          <p:cNvPr id="4" name="Freeform 4"/>
          <p:cNvSpPr/>
          <p:nvPr/>
        </p:nvSpPr>
        <p:spPr>
          <a:xfrm rot="-7613816">
            <a:off x="9645129" y="10896964"/>
            <a:ext cx="12732378" cy="12203313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8" y="0"/>
                </a:lnTo>
                <a:lnTo>
                  <a:pt x="14639358" y="12643082"/>
                </a:lnTo>
                <a:lnTo>
                  <a:pt x="0" y="12643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5" name="Freeform 5"/>
          <p:cNvSpPr/>
          <p:nvPr/>
        </p:nvSpPr>
        <p:spPr>
          <a:xfrm rot="10415872">
            <a:off x="-322326" y="9204510"/>
            <a:ext cx="1243484" cy="1500191"/>
          </a:xfrm>
          <a:custGeom>
            <a:avLst/>
            <a:gdLst/>
            <a:ahLst/>
            <a:cxnLst/>
            <a:rect l="l" t="t" r="r" b="b"/>
            <a:pathLst>
              <a:path w="3212938" h="3212938">
                <a:moveTo>
                  <a:pt x="0" y="0"/>
                </a:moveTo>
                <a:lnTo>
                  <a:pt x="3212939" y="0"/>
                </a:lnTo>
                <a:lnTo>
                  <a:pt x="3212939" y="3212938"/>
                </a:lnTo>
                <a:lnTo>
                  <a:pt x="0" y="3212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6" name="Freeform 6"/>
          <p:cNvSpPr/>
          <p:nvPr/>
        </p:nvSpPr>
        <p:spPr>
          <a:xfrm>
            <a:off x="16815046" y="-238116"/>
            <a:ext cx="1676400" cy="2199780"/>
          </a:xfrm>
          <a:custGeom>
            <a:avLst/>
            <a:gdLst/>
            <a:ahLst/>
            <a:cxnLst/>
            <a:rect l="l" t="t" r="r" b="b"/>
            <a:pathLst>
              <a:path w="6601579" h="6601579">
                <a:moveTo>
                  <a:pt x="0" y="0"/>
                </a:moveTo>
                <a:lnTo>
                  <a:pt x="6601580" y="0"/>
                </a:lnTo>
                <a:lnTo>
                  <a:pt x="6601580" y="6601579"/>
                </a:lnTo>
                <a:lnTo>
                  <a:pt x="0" y="6601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968D8877-D535-41B3-B696-58B2CB187B8E}"/>
              </a:ext>
            </a:extLst>
          </p:cNvPr>
          <p:cNvSpPr txBox="1"/>
          <p:nvPr/>
        </p:nvSpPr>
        <p:spPr>
          <a:xfrm>
            <a:off x="3431681" y="719562"/>
            <a:ext cx="11519272" cy="842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s-MX" sz="4400" dirty="0">
                <a:latin typeface="Now Bold" panose="020B0604020202020204" charset="0"/>
              </a:rPr>
              <a:t>Implementación en dispositivos móviles</a:t>
            </a:r>
            <a:endParaRPr lang="en-US" sz="4400" dirty="0">
              <a:latin typeface="Now Bold" panose="020B0604020202020204" charset="0"/>
              <a:ea typeface="Now"/>
              <a:cs typeface="Now"/>
              <a:sym typeface="Now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2E28F3E-6476-D779-5AE3-9370B81D8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425" y="3434629"/>
            <a:ext cx="1776805" cy="177680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7A676DA-7EAD-CAF4-13E5-289A6B2FE7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790700"/>
            <a:ext cx="9848235" cy="5375494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14165E5-2306-1DCC-D304-BD7865005B1E}"/>
              </a:ext>
            </a:extLst>
          </p:cNvPr>
          <p:cNvSpPr txBox="1"/>
          <p:nvPr/>
        </p:nvSpPr>
        <p:spPr>
          <a:xfrm>
            <a:off x="1564345" y="7276165"/>
            <a:ext cx="15159310" cy="2591735"/>
          </a:xfrm>
          <a:prstGeom prst="rect">
            <a:avLst/>
          </a:prstGeom>
        </p:spPr>
        <p:txBody>
          <a:bodyPr wrap="square" lIns="0" tIns="0" rIns="0" bIns="0" rtlCol="0" anchor="t">
            <a:spAutoFit/>
            <a:scene3d>
              <a:camera prst="perspectiveAbove"/>
              <a:lightRig rig="threePt" dir="t"/>
            </a:scene3d>
          </a:bodyPr>
          <a:lstStyle/>
          <a:p>
            <a:pPr algn="ctr">
              <a:lnSpc>
                <a:spcPts val="7000"/>
              </a:lnSpc>
            </a:pPr>
            <a:r>
              <a:rPr lang="es-ES" sz="3400" dirty="0">
                <a:latin typeface="Now Bold" panose="020B0604020202020204" charset="0"/>
                <a:ea typeface="Now"/>
                <a:cs typeface="Now"/>
                <a:sym typeface="Now"/>
              </a:rPr>
              <a:t>La combinación de software especializado y sensores de hardware (cámara, GPS, acelerómetro, giroscopio) constituye la base técnica de la Realidad Aumentada</a:t>
            </a:r>
            <a:endParaRPr lang="en-US" sz="3400" dirty="0">
              <a:latin typeface="Now Bold" panose="020B0604020202020204" charset="0"/>
              <a:ea typeface="Now"/>
              <a:cs typeface="Now"/>
              <a:sym typeface="N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E8B83E8-DD55-AEB7-F2F9-DC075C00B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200" y="266700"/>
            <a:ext cx="1368000" cy="1368000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 rot="-9028477">
            <a:off x="12305383" y="-5931156"/>
            <a:ext cx="11966162" cy="8251384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8" y="0"/>
                </a:lnTo>
                <a:lnTo>
                  <a:pt x="14639358" y="12643083"/>
                </a:lnTo>
                <a:lnTo>
                  <a:pt x="0" y="12643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8" name="Freeform 8"/>
          <p:cNvSpPr/>
          <p:nvPr/>
        </p:nvSpPr>
        <p:spPr>
          <a:xfrm rot="-5725674">
            <a:off x="-4753693" y="9145190"/>
            <a:ext cx="14639359" cy="12643082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9" y="0"/>
                </a:lnTo>
                <a:lnTo>
                  <a:pt x="14639359" y="12643083"/>
                </a:lnTo>
                <a:lnTo>
                  <a:pt x="0" y="12643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9" name="Freeform 9"/>
          <p:cNvSpPr/>
          <p:nvPr/>
        </p:nvSpPr>
        <p:spPr>
          <a:xfrm rot="10415872">
            <a:off x="16918119" y="1836488"/>
            <a:ext cx="1731124" cy="1494408"/>
          </a:xfrm>
          <a:custGeom>
            <a:avLst/>
            <a:gdLst/>
            <a:ahLst/>
            <a:cxnLst/>
            <a:rect l="l" t="t" r="r" b="b"/>
            <a:pathLst>
              <a:path w="3212938" h="3212938">
                <a:moveTo>
                  <a:pt x="0" y="0"/>
                </a:moveTo>
                <a:lnTo>
                  <a:pt x="3212939" y="0"/>
                </a:lnTo>
                <a:lnTo>
                  <a:pt x="3212939" y="3212938"/>
                </a:lnTo>
                <a:lnTo>
                  <a:pt x="0" y="3212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" name="Freeform 10"/>
          <p:cNvSpPr/>
          <p:nvPr/>
        </p:nvSpPr>
        <p:spPr>
          <a:xfrm>
            <a:off x="-152400" y="8801100"/>
            <a:ext cx="2148142" cy="2559058"/>
          </a:xfrm>
          <a:custGeom>
            <a:avLst/>
            <a:gdLst/>
            <a:ahLst/>
            <a:cxnLst/>
            <a:rect l="l" t="t" r="r" b="b"/>
            <a:pathLst>
              <a:path w="3043256" h="3043256">
                <a:moveTo>
                  <a:pt x="0" y="0"/>
                </a:moveTo>
                <a:lnTo>
                  <a:pt x="3043256" y="0"/>
                </a:lnTo>
                <a:lnTo>
                  <a:pt x="3043256" y="3043255"/>
                </a:lnTo>
                <a:lnTo>
                  <a:pt x="0" y="3043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2842E0AD-BB7F-074F-6281-30D7D56A8CAD}"/>
              </a:ext>
            </a:extLst>
          </p:cNvPr>
          <p:cNvSpPr txBox="1"/>
          <p:nvPr/>
        </p:nvSpPr>
        <p:spPr>
          <a:xfrm>
            <a:off x="3384364" y="490962"/>
            <a:ext cx="11519272" cy="842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s-MX" sz="4400" dirty="0" err="1">
                <a:latin typeface="Now Bold" panose="020B0604020202020204" charset="0"/>
              </a:rPr>
              <a:t>Frameworks</a:t>
            </a:r>
            <a:r>
              <a:rPr lang="es-MX" sz="4400" dirty="0">
                <a:latin typeface="Now Bold" panose="020B0604020202020204" charset="0"/>
              </a:rPr>
              <a:t> multiplataforma para RA</a:t>
            </a:r>
            <a:endParaRPr lang="en-US" sz="4400" dirty="0">
              <a:latin typeface="Now Bold" panose="020B0604020202020204" charset="0"/>
              <a:ea typeface="Now"/>
              <a:cs typeface="Now"/>
              <a:sym typeface="Now"/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7247C619-B4A2-6BD3-3959-517935628E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0049273"/>
              </p:ext>
            </p:extLst>
          </p:nvPr>
        </p:nvGraphicFramePr>
        <p:xfrm>
          <a:off x="3733800" y="1028700"/>
          <a:ext cx="10210800" cy="8351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2" name="Imagen 11">
            <a:extLst>
              <a:ext uri="{FF2B5EF4-FFF2-40B4-BE49-F238E27FC236}">
                <a16:creationId xmlns:a16="http://schemas.microsoft.com/office/drawing/2014/main" id="{405BBDF9-096E-035A-2109-CF27E697A78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2099803"/>
            <a:ext cx="2700000" cy="270000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FA40D1F-8178-7F89-780E-7C75BE0C8BB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0000">
            <a:off x="8723124" y="1721376"/>
            <a:ext cx="2700000" cy="270000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93D7CAF-9223-0896-F423-5FC9F768948F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73" r="12445" b="28618"/>
          <a:stretch>
            <a:fillRect/>
          </a:stretch>
        </p:blipFill>
        <p:spPr>
          <a:xfrm>
            <a:off x="6215400" y="5643900"/>
            <a:ext cx="2700000" cy="2700000"/>
          </a:xfrm>
          <a:prstGeom prst="rect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028E1A10-84CD-088A-A60E-D378932EE3A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9" b="2725"/>
          <a:stretch>
            <a:fillRect/>
          </a:stretch>
        </p:blipFill>
        <p:spPr>
          <a:xfrm>
            <a:off x="10134600" y="4533900"/>
            <a:ext cx="2863636" cy="270000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5BD91D87-8239-1706-1EEE-32DFE1C917C5}"/>
              </a:ext>
            </a:extLst>
          </p:cNvPr>
          <p:cNvSpPr txBox="1"/>
          <p:nvPr/>
        </p:nvSpPr>
        <p:spPr>
          <a:xfrm>
            <a:off x="533400" y="2705100"/>
            <a:ext cx="4495800" cy="2044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3200" dirty="0" err="1">
                <a:latin typeface="Franklin Gothic Demi Cond" panose="020B0706030402020204" pitchFamily="34" charset="0"/>
              </a:rPr>
              <a:t>ARCore</a:t>
            </a:r>
            <a:endParaRPr lang="es-ES" sz="2800" dirty="0">
              <a:latin typeface="Franklin Gothic Demi Cond" panose="020B07060304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800" dirty="0">
                <a:latin typeface="Franklin Gothic Demi Cond" panose="020B0706030402020204" pitchFamily="34" charset="0"/>
              </a:rPr>
              <a:t>Nativo de Android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800" dirty="0">
                <a:latin typeface="Franklin Gothic Demi Cond" panose="020B0706030402020204" pitchFamily="34" charset="0"/>
              </a:rPr>
              <a:t>Ecosistema Google masivo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B6BF80C-16FC-2CBD-F5E4-F8968E4A0F9C}"/>
              </a:ext>
            </a:extLst>
          </p:cNvPr>
          <p:cNvSpPr txBox="1"/>
          <p:nvPr/>
        </p:nvSpPr>
        <p:spPr>
          <a:xfrm>
            <a:off x="11887200" y="1866900"/>
            <a:ext cx="3871658" cy="2044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3200" dirty="0" err="1">
                <a:latin typeface="Franklin Gothic Demi Cond" panose="020B0706030402020204" pitchFamily="34" charset="0"/>
              </a:rPr>
              <a:t>ARKit</a:t>
            </a:r>
            <a:endParaRPr lang="es-ES" sz="2800" dirty="0">
              <a:latin typeface="Franklin Gothic Demi Cond" panose="020B07060304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800" dirty="0">
                <a:latin typeface="Franklin Gothic Demi Cond" panose="020B0706030402020204" pitchFamily="34" charset="0"/>
              </a:rPr>
              <a:t>Nativo de iOS / Apple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800" dirty="0">
                <a:latin typeface="Franklin Gothic Demi Cond" panose="020B0706030402020204" pitchFamily="34" charset="0"/>
              </a:rPr>
              <a:t>Precisión y fluidez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3214F3C-AE8B-BA01-64FF-8E3A2E5E16A1}"/>
              </a:ext>
            </a:extLst>
          </p:cNvPr>
          <p:cNvSpPr txBox="1"/>
          <p:nvPr/>
        </p:nvSpPr>
        <p:spPr>
          <a:xfrm>
            <a:off x="13716000" y="5576707"/>
            <a:ext cx="4324603" cy="2690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3200" dirty="0" err="1">
                <a:latin typeface="Franklin Gothic Demi Cond" panose="020B0706030402020204" pitchFamily="34" charset="0"/>
              </a:rPr>
              <a:t>WebXR</a:t>
            </a:r>
            <a:endParaRPr lang="es-ES" sz="2800" dirty="0">
              <a:latin typeface="Franklin Gothic Demi Cond" panose="020B07060304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800" dirty="0">
                <a:latin typeface="Franklin Gothic Demi Cond" panose="020B0706030402020204" pitchFamily="34" charset="0"/>
              </a:rPr>
              <a:t>Directo en navegador web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800" dirty="0">
                <a:latin typeface="Franklin Gothic Demi Cond" panose="020B0706030402020204" pitchFamily="34" charset="0"/>
              </a:rPr>
              <a:t>Multiplataforma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800" dirty="0" err="1">
                <a:latin typeface="Franklin Gothic Demi Cond" panose="020B0706030402020204" pitchFamily="34" charset="0"/>
              </a:rPr>
              <a:t>WebXR</a:t>
            </a:r>
            <a:r>
              <a:rPr lang="es-ES" sz="2800" dirty="0">
                <a:latin typeface="Franklin Gothic Demi Cond" panose="020B0706030402020204" pitchFamily="34" charset="0"/>
              </a:rPr>
              <a:t> </a:t>
            </a:r>
            <a:r>
              <a:rPr lang="es-ES" sz="2800" dirty="0" err="1">
                <a:latin typeface="Franklin Gothic Demi Cond" panose="020B0706030402020204" pitchFamily="34" charset="0"/>
              </a:rPr>
              <a:t>Device</a:t>
            </a:r>
            <a:r>
              <a:rPr lang="es-ES" sz="2800" dirty="0">
                <a:latin typeface="Franklin Gothic Demi Cond" panose="020B0706030402020204" pitchFamily="34" charset="0"/>
              </a:rPr>
              <a:t> API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1CD7FC2-17F7-0F03-25B3-828E95A25F98}"/>
              </a:ext>
            </a:extLst>
          </p:cNvPr>
          <p:cNvSpPr txBox="1"/>
          <p:nvPr/>
        </p:nvSpPr>
        <p:spPr>
          <a:xfrm>
            <a:off x="354469" y="5576707"/>
            <a:ext cx="5131931" cy="2690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3200" dirty="0" err="1">
                <a:latin typeface="Franklin Gothic Demi Cond" panose="020B0706030402020204" pitchFamily="34" charset="0"/>
              </a:rPr>
              <a:t>Vuforia</a:t>
            </a:r>
            <a:endParaRPr lang="es-ES" sz="2800" dirty="0">
              <a:latin typeface="Franklin Gothic Demi Cond" panose="020B07060304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800" dirty="0">
                <a:latin typeface="Franklin Gothic Demi Cond" panose="020B0706030402020204" pitchFamily="34" charset="0"/>
              </a:rPr>
              <a:t>Multiplataforma (Unity)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800" dirty="0">
                <a:latin typeface="Franklin Gothic Demi Cond" panose="020B0706030402020204" pitchFamily="34" charset="0"/>
              </a:rPr>
              <a:t>Líder en reconocimiento 2D/3D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800" dirty="0">
                <a:latin typeface="Franklin Gothic Demi Cond" panose="020B0706030402020204" pitchFamily="34" charset="0"/>
              </a:rPr>
              <a:t>Enfoque industrial y empresarial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D1237F5F-190A-4CA5-830B-63753F308CD7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26719" y="5561802"/>
            <a:ext cx="864000" cy="864000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4BE7C519-D801-13FE-47E2-AF7E45D59372}"/>
              </a:ext>
            </a:extLst>
          </p:cNvPr>
          <p:cNvPicPr>
            <a:picLocks noChangeAspect="1"/>
          </p:cNvPicPr>
          <p:nvPr/>
        </p:nvPicPr>
        <p:blipFill>
          <a:blip r:embed="rId17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79400" y="3212700"/>
            <a:ext cx="864000" cy="86400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B3466465-F742-53EB-74E1-33DBFDEE3157}"/>
              </a:ext>
            </a:extLst>
          </p:cNvPr>
          <p:cNvPicPr>
            <a:picLocks noChangeAspect="1"/>
          </p:cNvPicPr>
          <p:nvPr/>
        </p:nvPicPr>
        <p:blipFill>
          <a:blip r:embed="rId1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394800" y="1818949"/>
            <a:ext cx="864000" cy="864000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75662B29-7D34-4BE2-FF41-68CED4386D00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311036" y="5522874"/>
            <a:ext cx="864000" cy="86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373600" y="190500"/>
            <a:ext cx="895350" cy="1382018"/>
          </a:xfrm>
          <a:custGeom>
            <a:avLst/>
            <a:gdLst/>
            <a:ahLst/>
            <a:cxnLst/>
            <a:rect l="l" t="t" r="r" b="b"/>
            <a:pathLst>
              <a:path w="1811250" h="2012500">
                <a:moveTo>
                  <a:pt x="0" y="0"/>
                </a:moveTo>
                <a:lnTo>
                  <a:pt x="1811251" y="0"/>
                </a:lnTo>
                <a:lnTo>
                  <a:pt x="1811251" y="2012501"/>
                </a:lnTo>
                <a:lnTo>
                  <a:pt x="0" y="2012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Freeform 3"/>
          <p:cNvSpPr/>
          <p:nvPr/>
        </p:nvSpPr>
        <p:spPr>
          <a:xfrm>
            <a:off x="-228600" y="9067316"/>
            <a:ext cx="1361578" cy="1142032"/>
          </a:xfrm>
          <a:custGeom>
            <a:avLst/>
            <a:gdLst/>
            <a:ahLst/>
            <a:cxnLst/>
            <a:rect l="l" t="t" r="r" b="b"/>
            <a:pathLst>
              <a:path w="2107552" h="1820159">
                <a:moveTo>
                  <a:pt x="0" y="0"/>
                </a:moveTo>
                <a:lnTo>
                  <a:pt x="2107552" y="0"/>
                </a:lnTo>
                <a:lnTo>
                  <a:pt x="2107552" y="1820159"/>
                </a:lnTo>
                <a:lnTo>
                  <a:pt x="0" y="1820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Freeform 4"/>
          <p:cNvSpPr/>
          <p:nvPr/>
        </p:nvSpPr>
        <p:spPr>
          <a:xfrm>
            <a:off x="15163800" y="9369484"/>
            <a:ext cx="914400" cy="1446832"/>
          </a:xfrm>
          <a:custGeom>
            <a:avLst/>
            <a:gdLst/>
            <a:ahLst/>
            <a:cxnLst/>
            <a:rect l="l" t="t" r="r" b="b"/>
            <a:pathLst>
              <a:path w="1852993" h="1908513">
                <a:moveTo>
                  <a:pt x="0" y="0"/>
                </a:moveTo>
                <a:lnTo>
                  <a:pt x="1852993" y="0"/>
                </a:lnTo>
                <a:lnTo>
                  <a:pt x="1852993" y="1908513"/>
                </a:lnTo>
                <a:lnTo>
                  <a:pt x="0" y="1908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3B0D8612-4EAC-5B55-F7CB-E8CB99434F5E}"/>
              </a:ext>
            </a:extLst>
          </p:cNvPr>
          <p:cNvSpPr txBox="1"/>
          <p:nvPr/>
        </p:nvSpPr>
        <p:spPr>
          <a:xfrm>
            <a:off x="3536764" y="490962"/>
            <a:ext cx="12693836" cy="842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s-MX" sz="4400" dirty="0">
                <a:latin typeface="Now Bold" panose="020B0604020202020204" charset="0"/>
              </a:rPr>
              <a:t>Implementación en </a:t>
            </a:r>
            <a:r>
              <a:rPr lang="es-MX" sz="4400" dirty="0" err="1">
                <a:latin typeface="Now Bold" panose="020B0604020202020204" charset="0"/>
              </a:rPr>
              <a:t>React</a:t>
            </a:r>
            <a:r>
              <a:rPr lang="es-MX" sz="4400" dirty="0">
                <a:latin typeface="Now Bold" panose="020B0604020202020204" charset="0"/>
              </a:rPr>
              <a:t> Native, y </a:t>
            </a:r>
            <a:r>
              <a:rPr lang="es-MX" sz="4400" dirty="0" err="1">
                <a:latin typeface="Now Bold" panose="020B0604020202020204" charset="0"/>
              </a:rPr>
              <a:t>Flutter</a:t>
            </a:r>
            <a:endParaRPr lang="en-US" sz="4400" dirty="0">
              <a:latin typeface="Now Bold" panose="020B0604020202020204" charset="0"/>
              <a:ea typeface="Now"/>
              <a:cs typeface="Now"/>
              <a:sym typeface="Now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71BC237-267D-8207-7810-F7A595FA8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40200" y="8724900"/>
            <a:ext cx="1368000" cy="1368000"/>
          </a:xfrm>
          <a:prstGeom prst="rect">
            <a:avLst/>
          </a:prstGeom>
        </p:spPr>
      </p:pic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9B338CCD-F2F0-0B96-2451-37C5E5BD4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863516"/>
              </p:ext>
            </p:extLst>
          </p:nvPr>
        </p:nvGraphicFramePr>
        <p:xfrm>
          <a:off x="2131800" y="1655791"/>
          <a:ext cx="14172300" cy="72000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628000">
                  <a:extLst>
                    <a:ext uri="{9D8B030D-6E8A-4147-A177-3AD203B41FA5}">
                      <a16:colId xmlns:a16="http://schemas.microsoft.com/office/drawing/2014/main" val="880353484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60486172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4250632427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3769760414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es-ES" sz="2800" dirty="0"/>
                        <a:t>Entorno</a:t>
                      </a:r>
                      <a:endParaRPr lang="es-ES" sz="2800" dirty="0">
                        <a:latin typeface="Franklin Gothic Demi Cond" panose="020B07060304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dirty="0" err="1"/>
                        <a:t>ViroReact</a:t>
                      </a:r>
                      <a:endParaRPr lang="es-ES" sz="2800" dirty="0">
                        <a:latin typeface="Franklin Gothic Demi Cond" panose="020B07060304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dirty="0" err="1"/>
                        <a:t>React</a:t>
                      </a:r>
                      <a:r>
                        <a:rPr lang="es-ES" sz="2800" dirty="0"/>
                        <a:t> Native + </a:t>
                      </a:r>
                      <a:r>
                        <a:rPr lang="es-ES" sz="2800" dirty="0" err="1"/>
                        <a:t>ARKit</a:t>
                      </a:r>
                      <a:endParaRPr lang="es-ES" sz="2800" dirty="0"/>
                    </a:p>
                    <a:p>
                      <a:pPr algn="l"/>
                      <a:endParaRPr lang="es-ES" sz="2800" dirty="0">
                        <a:latin typeface="Franklin Gothic Demi Cond" panose="020B07060304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dirty="0" err="1"/>
                        <a:t>Flutter</a:t>
                      </a:r>
                      <a:endParaRPr lang="es-ES" sz="2800" b="1" kern="1200" dirty="0">
                        <a:solidFill>
                          <a:schemeClr val="tx1"/>
                        </a:solidFill>
                        <a:latin typeface="Franklin Gothic Demi Cond" panose="020B07060304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8192193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es-ES" sz="2800" dirty="0"/>
                        <a:t>Plataforma</a:t>
                      </a:r>
                      <a:endParaRPr lang="es-ES" sz="2800" dirty="0">
                        <a:latin typeface="Franklin Gothic Demi Cond" panose="020B07060304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sz="2800" dirty="0">
                        <a:latin typeface="Franklin Gothic Demi Cond" panose="020B07060304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sz="2800" dirty="0">
                        <a:latin typeface="Franklin Gothic Demi Cond" panose="020B07060304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sz="2800" dirty="0">
                        <a:latin typeface="Franklin Gothic Demi Cond" panose="020B07060304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003127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es-ES" sz="2800" dirty="0"/>
                        <a:t>Plugin / Librería</a:t>
                      </a:r>
                      <a:endParaRPr lang="es-ES" sz="2800" dirty="0">
                        <a:latin typeface="Franklin Gothic Demi Cond" panose="020B07060304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dirty="0"/>
                        <a:t>@reactvision/react-viro</a:t>
                      </a:r>
                      <a:endParaRPr lang="es-ES" sz="2800" dirty="0">
                        <a:latin typeface="Franklin Gothic Demi Cond" panose="020B07060304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kern="1200" dirty="0" err="1">
                          <a:solidFill>
                            <a:schemeClr val="tx1"/>
                          </a:solidFill>
                        </a:rPr>
                        <a:t>react</a:t>
                      </a:r>
                      <a:r>
                        <a:rPr lang="es-ES" sz="2800" kern="1200" dirty="0">
                          <a:solidFill>
                            <a:schemeClr val="tx1"/>
                          </a:solidFill>
                        </a:rPr>
                        <a:t>-native-</a:t>
                      </a:r>
                      <a:r>
                        <a:rPr lang="es-ES" sz="2800" kern="1200" dirty="0" err="1">
                          <a:solidFill>
                            <a:schemeClr val="tx1"/>
                          </a:solidFill>
                        </a:rPr>
                        <a:t>arkit</a:t>
                      </a:r>
                      <a:endParaRPr lang="es-ES" sz="2800" kern="1200" dirty="0">
                        <a:solidFill>
                          <a:schemeClr val="tx1"/>
                        </a:solidFill>
                        <a:latin typeface="Franklin Gothic Demi Cond" panose="020B07060304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kern="1200" dirty="0" err="1">
                          <a:solidFill>
                            <a:schemeClr val="tx1"/>
                          </a:solidFill>
                        </a:rPr>
                        <a:t>ar_flutter_plugin</a:t>
                      </a:r>
                      <a:endParaRPr lang="es-ES" sz="2800" kern="1200" dirty="0">
                        <a:solidFill>
                          <a:schemeClr val="tx1"/>
                        </a:solidFill>
                        <a:latin typeface="Franklin Gothic Demi Cond" panose="020B07060304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8789002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es-ES" sz="2800" dirty="0" err="1"/>
                        <a:t>Instalacion</a:t>
                      </a:r>
                      <a:endParaRPr lang="es-ES" sz="2800" dirty="0">
                        <a:latin typeface="Franklin Gothic Demi Cond" panose="020B07060304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sz="2800" dirty="0"/>
                        <a:t>npm install --save @viro-community/react-viro</a:t>
                      </a:r>
                      <a:endParaRPr lang="es-ES" sz="2800" dirty="0">
                        <a:latin typeface="Franklin Gothic Demi Cond" panose="020B07060304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dirty="0" err="1"/>
                        <a:t>npm</a:t>
                      </a:r>
                      <a:r>
                        <a:rPr lang="es-ES" sz="2800" dirty="0"/>
                        <a:t> </a:t>
                      </a:r>
                      <a:r>
                        <a:rPr lang="es-ES" sz="2800" dirty="0" err="1"/>
                        <a:t>install</a:t>
                      </a:r>
                      <a:r>
                        <a:rPr lang="es-ES" sz="2800" dirty="0"/>
                        <a:t> </a:t>
                      </a:r>
                      <a:r>
                        <a:rPr lang="es-ES" sz="2800" dirty="0" err="1"/>
                        <a:t>react</a:t>
                      </a:r>
                      <a:r>
                        <a:rPr lang="es-ES" sz="2800" dirty="0"/>
                        <a:t>-native-</a:t>
                      </a:r>
                      <a:r>
                        <a:rPr lang="es-ES" sz="2800" dirty="0" err="1"/>
                        <a:t>arkit</a:t>
                      </a:r>
                      <a:r>
                        <a:rPr lang="es-ES" sz="2800" dirty="0"/>
                        <a:t> --</a:t>
                      </a:r>
                      <a:r>
                        <a:rPr lang="es-ES" sz="2800" dirty="0" err="1"/>
                        <a:t>save</a:t>
                      </a:r>
                      <a:endParaRPr lang="es-ES" sz="2800" dirty="0">
                        <a:latin typeface="Franklin Gothic Demi Cond" panose="020B07060304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sz="2800" dirty="0"/>
                        <a:t>flutter pub add ar_flutter_plugin</a:t>
                      </a:r>
                      <a:endParaRPr lang="es-ES" sz="2800" dirty="0">
                        <a:latin typeface="Franklin Gothic Demi Cond" panose="020B07060304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1547867"/>
                  </a:ext>
                </a:extLst>
              </a:tr>
            </a:tbl>
          </a:graphicData>
        </a:graphic>
      </p:graphicFrame>
      <p:pic>
        <p:nvPicPr>
          <p:cNvPr id="21" name="Imagen 20">
            <a:extLst>
              <a:ext uri="{FF2B5EF4-FFF2-40B4-BE49-F238E27FC236}">
                <a16:creationId xmlns:a16="http://schemas.microsoft.com/office/drawing/2014/main" id="{3CC13B92-3376-17C4-4184-27AE3EAC3DB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6" t="9042" r="5842" b="12656"/>
          <a:stretch>
            <a:fillRect/>
          </a:stretch>
        </p:blipFill>
        <p:spPr>
          <a:xfrm>
            <a:off x="5979398" y="4028485"/>
            <a:ext cx="1506462" cy="72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3F0BCA1E-788E-B03C-C616-DA26DAE7E85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61" r="21261" b="22986"/>
          <a:stretch>
            <a:fillRect/>
          </a:stretch>
        </p:blipFill>
        <p:spPr>
          <a:xfrm>
            <a:off x="7485860" y="2213700"/>
            <a:ext cx="817792" cy="72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1792E2C9-3CB7-B2C8-8C95-46140C74881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11" r="83331" b="28889"/>
          <a:stretch>
            <a:fillRect/>
          </a:stretch>
        </p:blipFill>
        <p:spPr>
          <a:xfrm>
            <a:off x="14948681" y="2213700"/>
            <a:ext cx="800100" cy="720000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BD623F7-4126-BFB4-D9A5-094698E9400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61" r="21261" b="22986"/>
          <a:stretch>
            <a:fillRect/>
          </a:stretch>
        </p:blipFill>
        <p:spPr>
          <a:xfrm>
            <a:off x="10095373" y="2573700"/>
            <a:ext cx="817792" cy="72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D77DBFF6-842A-C63E-A9AE-C5A47BBDB38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6" t="9042" r="56918" b="12656"/>
          <a:stretch>
            <a:fillRect/>
          </a:stretch>
        </p:blipFill>
        <p:spPr>
          <a:xfrm>
            <a:off x="10192542" y="4004458"/>
            <a:ext cx="609600" cy="72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019BFF41-AC4F-A081-0CC7-B2BB8E0DC98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6" t="9042" r="5842" b="12656"/>
          <a:stretch>
            <a:fillRect/>
          </a:stretch>
        </p:blipFill>
        <p:spPr>
          <a:xfrm>
            <a:off x="13657338" y="4001213"/>
            <a:ext cx="1506462" cy="72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1D2AB-F392-937D-F08C-9F226C8C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0FFA31E-8DEE-0FC0-8351-5BBD7AE87C6F}"/>
              </a:ext>
            </a:extLst>
          </p:cNvPr>
          <p:cNvSpPr/>
          <p:nvPr/>
        </p:nvSpPr>
        <p:spPr>
          <a:xfrm rot="3072555">
            <a:off x="12163346" y="1879709"/>
            <a:ext cx="9497408" cy="7145335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9" y="0"/>
                </a:lnTo>
                <a:lnTo>
                  <a:pt x="14639359" y="12643083"/>
                </a:lnTo>
                <a:lnTo>
                  <a:pt x="0" y="12643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1A7AC20-6497-6D90-B21C-93355BB0F871}"/>
              </a:ext>
            </a:extLst>
          </p:cNvPr>
          <p:cNvSpPr/>
          <p:nvPr/>
        </p:nvSpPr>
        <p:spPr>
          <a:xfrm rot="10415872">
            <a:off x="1235134" y="-1596245"/>
            <a:ext cx="3096966" cy="3192491"/>
          </a:xfrm>
          <a:custGeom>
            <a:avLst/>
            <a:gdLst/>
            <a:ahLst/>
            <a:cxnLst/>
            <a:rect l="l" t="t" r="r" b="b"/>
            <a:pathLst>
              <a:path w="5277584" h="5277584">
                <a:moveTo>
                  <a:pt x="0" y="0"/>
                </a:moveTo>
                <a:lnTo>
                  <a:pt x="5277584" y="0"/>
                </a:lnTo>
                <a:lnTo>
                  <a:pt x="5277584" y="5277583"/>
                </a:lnTo>
                <a:lnTo>
                  <a:pt x="0" y="5277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4066728-A13D-B3AA-9E57-29F32AAC1F6A}"/>
              </a:ext>
            </a:extLst>
          </p:cNvPr>
          <p:cNvSpPr/>
          <p:nvPr/>
        </p:nvSpPr>
        <p:spPr>
          <a:xfrm>
            <a:off x="1790700" y="8496300"/>
            <a:ext cx="2514600" cy="2751208"/>
          </a:xfrm>
          <a:custGeom>
            <a:avLst/>
            <a:gdLst/>
            <a:ahLst/>
            <a:cxnLst/>
            <a:rect l="l" t="t" r="r" b="b"/>
            <a:pathLst>
              <a:path w="4774256" h="4774256">
                <a:moveTo>
                  <a:pt x="0" y="0"/>
                </a:moveTo>
                <a:lnTo>
                  <a:pt x="4774256" y="0"/>
                </a:lnTo>
                <a:lnTo>
                  <a:pt x="4774256" y="4774256"/>
                </a:lnTo>
                <a:lnTo>
                  <a:pt x="0" y="4774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C594CA91-CDFC-141B-4D1F-C7D36289E59A}"/>
              </a:ext>
            </a:extLst>
          </p:cNvPr>
          <p:cNvSpPr txBox="1"/>
          <p:nvPr/>
        </p:nvSpPr>
        <p:spPr>
          <a:xfrm>
            <a:off x="4305300" y="1320992"/>
            <a:ext cx="8763000" cy="857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s-ES" sz="4800" dirty="0">
                <a:latin typeface="Now Bold" panose="020B0604020202020204" charset="0"/>
              </a:rPr>
              <a:t> Internet de las Cosas [ </a:t>
            </a:r>
            <a:r>
              <a:rPr lang="es-ES" sz="4800" dirty="0" err="1">
                <a:latin typeface="Now Bold" panose="020B0604020202020204" charset="0"/>
              </a:rPr>
              <a:t>IoT</a:t>
            </a:r>
            <a:r>
              <a:rPr lang="es-ES" sz="4800" dirty="0">
                <a:latin typeface="Now Bold" panose="020B0604020202020204" charset="0"/>
              </a:rPr>
              <a:t> ]</a:t>
            </a:r>
            <a:endParaRPr lang="en-US" sz="4800" dirty="0">
              <a:latin typeface="Now Bold" panose="020B0604020202020204" charset="0"/>
              <a:ea typeface="Now"/>
              <a:cs typeface="Now"/>
              <a:sym typeface="Now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70B4D907-A6BB-DA4D-C4C7-8954737B5545}"/>
              </a:ext>
            </a:extLst>
          </p:cNvPr>
          <p:cNvSpPr txBox="1"/>
          <p:nvPr/>
        </p:nvSpPr>
        <p:spPr>
          <a:xfrm>
            <a:off x="2792477" y="3238500"/>
            <a:ext cx="7756642" cy="4417876"/>
          </a:xfrm>
          <a:prstGeom prst="rect">
            <a:avLst/>
          </a:prstGeom>
        </p:spPr>
        <p:txBody>
          <a:bodyPr wrap="square" lIns="0" tIns="0" rIns="0" bIns="0" rtlCol="0" anchor="t">
            <a:spAutoFit/>
            <a:scene3d>
              <a:camera prst="perspectiveContrastingRightFacing">
                <a:rot lat="623785" lon="20400000" rev="213211"/>
              </a:camera>
              <a:lightRig rig="threePt" dir="t"/>
            </a:scene3d>
          </a:bodyPr>
          <a:lstStyle/>
          <a:p>
            <a:pPr algn="ctr">
              <a:lnSpc>
                <a:spcPts val="7000"/>
              </a:lnSpc>
            </a:pPr>
            <a:r>
              <a:rPr lang="es-ES" sz="4000" dirty="0">
                <a:latin typeface="Now Bold" panose="020B0604020202020204" charset="0"/>
                <a:ea typeface="Now"/>
                <a:cs typeface="Now"/>
                <a:sym typeface="Now"/>
              </a:rPr>
              <a:t>Red colectiva de dispositivos equipados con sensores, software y tecnologías que facilita la comunicación entre ellos y la nube</a:t>
            </a:r>
            <a:endParaRPr lang="en-US" sz="4000" dirty="0">
              <a:latin typeface="Now Bold" panose="020B0604020202020204" charset="0"/>
              <a:ea typeface="Now"/>
              <a:cs typeface="Now"/>
              <a:sym typeface="Now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CFAB1C9-53C8-174B-DCE4-FB4E38D65A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1" t="10422" r="10422" b="10422"/>
          <a:stretch>
            <a:fillRect/>
          </a:stretch>
        </p:blipFill>
        <p:spPr>
          <a:xfrm>
            <a:off x="13465242" y="3240900"/>
            <a:ext cx="4012089" cy="396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4614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6002000" y="8267700"/>
            <a:ext cx="2971800" cy="2322310"/>
          </a:xfrm>
          <a:custGeom>
            <a:avLst/>
            <a:gdLst/>
            <a:ahLst/>
            <a:cxnLst/>
            <a:rect l="l" t="t" r="r" b="b"/>
            <a:pathLst>
              <a:path w="11939065" h="11939065">
                <a:moveTo>
                  <a:pt x="0" y="0"/>
                </a:moveTo>
                <a:lnTo>
                  <a:pt x="11939064" y="0"/>
                </a:lnTo>
                <a:lnTo>
                  <a:pt x="11939064" y="11939064"/>
                </a:lnTo>
                <a:lnTo>
                  <a:pt x="0" y="119390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5" name="Freeform 3"/>
          <p:cNvSpPr/>
          <p:nvPr/>
        </p:nvSpPr>
        <p:spPr>
          <a:xfrm>
            <a:off x="16954131" y="0"/>
            <a:ext cx="1361578" cy="1142032"/>
          </a:xfrm>
          <a:custGeom>
            <a:avLst/>
            <a:gdLst/>
            <a:ahLst/>
            <a:cxnLst/>
            <a:rect l="l" t="t" r="r" b="b"/>
            <a:pathLst>
              <a:path w="2107552" h="1820159">
                <a:moveTo>
                  <a:pt x="0" y="0"/>
                </a:moveTo>
                <a:lnTo>
                  <a:pt x="2107552" y="0"/>
                </a:lnTo>
                <a:lnTo>
                  <a:pt x="2107552" y="1820159"/>
                </a:lnTo>
                <a:lnTo>
                  <a:pt x="0" y="1820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6" name="Freeform 2"/>
          <p:cNvSpPr/>
          <p:nvPr/>
        </p:nvSpPr>
        <p:spPr>
          <a:xfrm>
            <a:off x="-20782" y="8929227"/>
            <a:ext cx="895350" cy="1382018"/>
          </a:xfrm>
          <a:custGeom>
            <a:avLst/>
            <a:gdLst/>
            <a:ahLst/>
            <a:cxnLst/>
            <a:rect l="l" t="t" r="r" b="b"/>
            <a:pathLst>
              <a:path w="1811250" h="2012500">
                <a:moveTo>
                  <a:pt x="0" y="0"/>
                </a:moveTo>
                <a:lnTo>
                  <a:pt x="1811251" y="0"/>
                </a:lnTo>
                <a:lnTo>
                  <a:pt x="1811251" y="2012501"/>
                </a:lnTo>
                <a:lnTo>
                  <a:pt x="0" y="2012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52FC870C-9AF3-C462-BAFA-86D28039426C}"/>
              </a:ext>
            </a:extLst>
          </p:cNvPr>
          <p:cNvSpPr txBox="1"/>
          <p:nvPr/>
        </p:nvSpPr>
        <p:spPr>
          <a:xfrm>
            <a:off x="3771899" y="716915"/>
            <a:ext cx="10208119" cy="850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s-MX" sz="4600" dirty="0">
                <a:latin typeface="Now Bold" panose="020B0604020202020204" charset="0"/>
              </a:rPr>
              <a:t>Protocolos de comunicación </a:t>
            </a:r>
            <a:r>
              <a:rPr lang="es-MX" sz="4600" dirty="0" err="1">
                <a:latin typeface="Now Bold" panose="020B0604020202020204" charset="0"/>
              </a:rPr>
              <a:t>IoT</a:t>
            </a:r>
            <a:endParaRPr lang="en-US" sz="4600" dirty="0">
              <a:latin typeface="Now Bold" panose="020B0604020202020204" charset="0"/>
              <a:ea typeface="Now"/>
              <a:cs typeface="Now"/>
              <a:sym typeface="Now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EC41568-72CE-91FA-1230-2FCC585733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0" y="782140"/>
            <a:ext cx="1356830" cy="1368000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208F1A3F-9587-5163-6C50-4A3AFB5F5843}"/>
              </a:ext>
            </a:extLst>
          </p:cNvPr>
          <p:cNvSpPr txBox="1"/>
          <p:nvPr/>
        </p:nvSpPr>
        <p:spPr>
          <a:xfrm>
            <a:off x="7924800" y="1786362"/>
            <a:ext cx="1905000" cy="842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s-MX" sz="4400" dirty="0">
                <a:latin typeface="Now Bold" panose="020B0604020202020204" charset="0"/>
              </a:rPr>
              <a:t>MQTT</a:t>
            </a:r>
            <a:endParaRPr lang="en-US" sz="4400" dirty="0">
              <a:latin typeface="Now Bold" panose="020B0604020202020204" charset="0"/>
              <a:ea typeface="Now"/>
              <a:cs typeface="Now"/>
              <a:sym typeface="Now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6CF4DA1-218F-E62E-F11C-1511C9E700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20" t="2646" r="1615" b="2105"/>
          <a:stretch>
            <a:fillRect/>
          </a:stretch>
        </p:blipFill>
        <p:spPr>
          <a:xfrm>
            <a:off x="1981200" y="3152862"/>
            <a:ext cx="8458200" cy="5745192"/>
          </a:xfrm>
          <a:prstGeom prst="round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0B66C673-8D3C-78CF-3C94-FAFD03AA7F21}"/>
              </a:ext>
            </a:extLst>
          </p:cNvPr>
          <p:cNvSpPr txBox="1"/>
          <p:nvPr/>
        </p:nvSpPr>
        <p:spPr>
          <a:xfrm>
            <a:off x="10987570" y="3399802"/>
            <a:ext cx="5471630" cy="5172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3200" dirty="0">
                <a:latin typeface="Franklin Gothic Demi Cond" panose="020B0706030402020204" pitchFamily="34" charset="0"/>
              </a:rPr>
              <a:t>Diseñado como un sistema de mensajería de publicación/suscripción, es un protocolo extremadamente ligero e ideal para conectar dispositivos remotos y con un ancho de banda de red limitado</a:t>
            </a:r>
            <a:endParaRPr lang="es-ES" sz="2800" dirty="0">
              <a:latin typeface="Franklin Gothic Demi Cond" panose="020B07060304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rot="-5725674">
            <a:off x="-2751531" y="8362852"/>
            <a:ext cx="4547721" cy="4453494"/>
          </a:xfrm>
          <a:custGeom>
            <a:avLst/>
            <a:gdLst/>
            <a:ahLst/>
            <a:cxnLst/>
            <a:rect l="l" t="t" r="r" b="b"/>
            <a:pathLst>
              <a:path w="14639359" h="12643082">
                <a:moveTo>
                  <a:pt x="0" y="0"/>
                </a:moveTo>
                <a:lnTo>
                  <a:pt x="14639358" y="0"/>
                </a:lnTo>
                <a:lnTo>
                  <a:pt x="14639358" y="12643082"/>
                </a:lnTo>
                <a:lnTo>
                  <a:pt x="0" y="12643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" name="Freeform 10"/>
          <p:cNvSpPr/>
          <p:nvPr/>
        </p:nvSpPr>
        <p:spPr>
          <a:xfrm>
            <a:off x="16535400" y="-342900"/>
            <a:ext cx="2205056" cy="2709019"/>
          </a:xfrm>
          <a:custGeom>
            <a:avLst/>
            <a:gdLst/>
            <a:ahLst/>
            <a:cxnLst/>
            <a:rect l="l" t="t" r="r" b="b"/>
            <a:pathLst>
              <a:path w="3043256" h="3043256">
                <a:moveTo>
                  <a:pt x="0" y="0"/>
                </a:moveTo>
                <a:lnTo>
                  <a:pt x="3043256" y="0"/>
                </a:lnTo>
                <a:lnTo>
                  <a:pt x="3043256" y="3043255"/>
                </a:lnTo>
                <a:lnTo>
                  <a:pt x="0" y="3043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1" name="Freeform 2"/>
          <p:cNvSpPr/>
          <p:nvPr/>
        </p:nvSpPr>
        <p:spPr>
          <a:xfrm>
            <a:off x="17497425" y="8802848"/>
            <a:ext cx="895350" cy="1382018"/>
          </a:xfrm>
          <a:custGeom>
            <a:avLst/>
            <a:gdLst/>
            <a:ahLst/>
            <a:cxnLst/>
            <a:rect l="l" t="t" r="r" b="b"/>
            <a:pathLst>
              <a:path w="1811250" h="2012500">
                <a:moveTo>
                  <a:pt x="0" y="0"/>
                </a:moveTo>
                <a:lnTo>
                  <a:pt x="1811251" y="0"/>
                </a:lnTo>
                <a:lnTo>
                  <a:pt x="1811251" y="2012501"/>
                </a:lnTo>
                <a:lnTo>
                  <a:pt x="0" y="2012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2" name="Freeform 2"/>
          <p:cNvSpPr/>
          <p:nvPr/>
        </p:nvSpPr>
        <p:spPr>
          <a:xfrm>
            <a:off x="0" y="8605428"/>
            <a:ext cx="1524000" cy="1631379"/>
          </a:xfrm>
          <a:custGeom>
            <a:avLst/>
            <a:gdLst/>
            <a:ahLst/>
            <a:cxnLst/>
            <a:rect l="l" t="t" r="r" b="b"/>
            <a:pathLst>
              <a:path w="1811250" h="2012500">
                <a:moveTo>
                  <a:pt x="0" y="0"/>
                </a:moveTo>
                <a:lnTo>
                  <a:pt x="1811251" y="0"/>
                </a:lnTo>
                <a:lnTo>
                  <a:pt x="1811251" y="2012501"/>
                </a:lnTo>
                <a:lnTo>
                  <a:pt x="0" y="2012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B377E0D1-50B5-CF8B-186E-570A095B6F40}"/>
              </a:ext>
            </a:extLst>
          </p:cNvPr>
          <p:cNvSpPr txBox="1"/>
          <p:nvPr/>
        </p:nvSpPr>
        <p:spPr>
          <a:xfrm>
            <a:off x="3771899" y="716915"/>
            <a:ext cx="10208119" cy="850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s-MX" sz="4600" dirty="0">
                <a:latin typeface="Now Bold" panose="020B0604020202020204" charset="0"/>
              </a:rPr>
              <a:t>Protocolos de comunicación </a:t>
            </a:r>
            <a:r>
              <a:rPr lang="es-MX" sz="4600" dirty="0" err="1">
                <a:latin typeface="Now Bold" panose="020B0604020202020204" charset="0"/>
              </a:rPr>
              <a:t>IoT</a:t>
            </a:r>
            <a:endParaRPr lang="en-US" sz="4600" dirty="0">
              <a:latin typeface="Now Bold" panose="020B0604020202020204" charset="0"/>
              <a:ea typeface="Now"/>
              <a:cs typeface="Now"/>
              <a:sym typeface="Now"/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5DE86734-088D-05DF-4204-7E51C0E86439}"/>
              </a:ext>
            </a:extLst>
          </p:cNvPr>
          <p:cNvSpPr txBox="1"/>
          <p:nvPr/>
        </p:nvSpPr>
        <p:spPr>
          <a:xfrm>
            <a:off x="7010400" y="1786362"/>
            <a:ext cx="2971800" cy="842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s-MX" sz="4400" dirty="0">
                <a:latin typeface="Now Bold" panose="020B0604020202020204" charset="0"/>
              </a:rPr>
              <a:t>HTTP </a:t>
            </a:r>
            <a:r>
              <a:rPr lang="es-MX" sz="4400" dirty="0" err="1">
                <a:latin typeface="Now Bold" panose="020B0604020202020204" charset="0"/>
              </a:rPr>
              <a:t>Rest</a:t>
            </a:r>
            <a:endParaRPr lang="en-US" sz="4400" dirty="0">
              <a:latin typeface="Now Bold" panose="020B0604020202020204" charset="0"/>
              <a:ea typeface="Now"/>
              <a:cs typeface="Now"/>
              <a:sym typeface="Now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BE2A25D-697E-2496-84AC-6B8F9E735A0E}"/>
              </a:ext>
            </a:extLst>
          </p:cNvPr>
          <p:cNvSpPr txBox="1"/>
          <p:nvPr/>
        </p:nvSpPr>
        <p:spPr>
          <a:xfrm>
            <a:off x="10613595" y="2813538"/>
            <a:ext cx="6302805" cy="5911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3200" dirty="0">
                <a:latin typeface="Franklin Gothic Demi Cond" panose="020B0706030402020204" pitchFamily="34" charset="0"/>
              </a:rPr>
              <a:t>Utiliza el protocolo HTTP y principios </a:t>
            </a:r>
            <a:r>
              <a:rPr lang="es-ES" sz="3200" dirty="0" err="1">
                <a:latin typeface="Franklin Gothic Demi Cond" panose="020B0706030402020204" pitchFamily="34" charset="0"/>
              </a:rPr>
              <a:t>RESTful</a:t>
            </a:r>
            <a:r>
              <a:rPr lang="es-ES" sz="3200" dirty="0">
                <a:latin typeface="Franklin Gothic Demi Cond" panose="020B0706030402020204" pitchFamily="34" charset="0"/>
              </a:rPr>
              <a:t> para conectar dispositivos, sensores y actuadores con servidores o la nube, enviando datos estructurados. Conocido por su facilidad de implementación y compatibilidad, siendo ideal para enviar datos por lotes. </a:t>
            </a:r>
            <a:endParaRPr lang="es-ES" sz="2800" dirty="0">
              <a:latin typeface="Franklin Gothic Demi Cond" panose="020B07060304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AA92C00-286D-3B1B-2884-0512F55B69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3" t="9860" r="6356" b="9654"/>
          <a:stretch>
            <a:fillRect/>
          </a:stretch>
        </p:blipFill>
        <p:spPr>
          <a:xfrm>
            <a:off x="2353981" y="6603153"/>
            <a:ext cx="7711804" cy="3024291"/>
          </a:xfrm>
          <a:prstGeom prst="round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2CA488A-4B9F-CE35-6E09-211DFF71A5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08"/>
          <a:stretch>
            <a:fillRect/>
          </a:stretch>
        </p:blipFill>
        <p:spPr>
          <a:xfrm>
            <a:off x="3200400" y="2950121"/>
            <a:ext cx="5943600" cy="3331810"/>
          </a:xfrm>
          <a:prstGeom prst="round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6C4CA02-37EC-4A98-84B5-896C88FA4C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87600" y="782140"/>
            <a:ext cx="1356830" cy="136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/>
          <p:cNvSpPr/>
          <p:nvPr/>
        </p:nvSpPr>
        <p:spPr>
          <a:xfrm rot="8038605">
            <a:off x="-303072" y="-123827"/>
            <a:ext cx="1108085" cy="1110756"/>
          </a:xfrm>
          <a:custGeom>
            <a:avLst/>
            <a:gdLst/>
            <a:ahLst/>
            <a:cxnLst/>
            <a:rect l="l" t="t" r="r" b="b"/>
            <a:pathLst>
              <a:path w="1742554" h="1742554">
                <a:moveTo>
                  <a:pt x="0" y="0"/>
                </a:moveTo>
                <a:lnTo>
                  <a:pt x="1742555" y="0"/>
                </a:lnTo>
                <a:lnTo>
                  <a:pt x="1742555" y="1742555"/>
                </a:lnTo>
                <a:lnTo>
                  <a:pt x="0" y="17425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8" name="Freeform 18"/>
          <p:cNvSpPr/>
          <p:nvPr/>
        </p:nvSpPr>
        <p:spPr>
          <a:xfrm>
            <a:off x="17526000" y="-303433"/>
            <a:ext cx="1321003" cy="1230687"/>
          </a:xfrm>
          <a:custGeom>
            <a:avLst/>
            <a:gdLst/>
            <a:ahLst/>
            <a:cxnLst/>
            <a:rect l="l" t="t" r="r" b="b"/>
            <a:pathLst>
              <a:path w="2463898" h="2463898">
                <a:moveTo>
                  <a:pt x="0" y="0"/>
                </a:moveTo>
                <a:lnTo>
                  <a:pt x="2463898" y="0"/>
                </a:lnTo>
                <a:lnTo>
                  <a:pt x="2463898" y="2463897"/>
                </a:lnTo>
                <a:lnTo>
                  <a:pt x="0" y="24638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0D04AFF4-2E5F-5586-0606-12A295F8AE1F}"/>
              </a:ext>
            </a:extLst>
          </p:cNvPr>
          <p:cNvSpPr txBox="1"/>
          <p:nvPr/>
        </p:nvSpPr>
        <p:spPr>
          <a:xfrm>
            <a:off x="3771899" y="716915"/>
            <a:ext cx="10208119" cy="850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s-MX" sz="4600" dirty="0">
                <a:latin typeface="Now Bold" panose="020B0604020202020204" charset="0"/>
              </a:rPr>
              <a:t>Protocolos de comunicación </a:t>
            </a:r>
            <a:r>
              <a:rPr lang="es-MX" sz="4600" dirty="0" err="1">
                <a:latin typeface="Now Bold" panose="020B0604020202020204" charset="0"/>
              </a:rPr>
              <a:t>IoT</a:t>
            </a:r>
            <a:endParaRPr lang="en-US" sz="4600" dirty="0">
              <a:latin typeface="Now Bold" panose="020B0604020202020204" charset="0"/>
              <a:ea typeface="Now"/>
              <a:cs typeface="Now"/>
              <a:sym typeface="Now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F0D77863-C8EB-B8A1-D6EB-2F75B51E0260}"/>
              </a:ext>
            </a:extLst>
          </p:cNvPr>
          <p:cNvSpPr txBox="1"/>
          <p:nvPr/>
        </p:nvSpPr>
        <p:spPr>
          <a:xfrm>
            <a:off x="7010399" y="1786362"/>
            <a:ext cx="3733801" cy="842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4400" dirty="0" err="1">
                <a:latin typeface="Now Bold" panose="020B0604020202020204" charset="0"/>
                <a:ea typeface="Now"/>
                <a:cs typeface="Now"/>
                <a:sym typeface="Now"/>
              </a:rPr>
              <a:t>WebSockets</a:t>
            </a:r>
            <a:endParaRPr lang="en-US" sz="4400" dirty="0">
              <a:latin typeface="Now Bold" panose="020B0604020202020204" charset="0"/>
              <a:ea typeface="Now"/>
              <a:cs typeface="Now"/>
              <a:sym typeface="Now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125137-5AFC-08D7-D1FF-352CB5C66E5D}"/>
              </a:ext>
            </a:extLst>
          </p:cNvPr>
          <p:cNvSpPr txBox="1"/>
          <p:nvPr/>
        </p:nvSpPr>
        <p:spPr>
          <a:xfrm>
            <a:off x="7041488" y="3048571"/>
            <a:ext cx="10484512" cy="2956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3200" dirty="0">
                <a:latin typeface="Franklin Gothic Demi Cond" panose="020B0706030402020204" pitchFamily="34" charset="0"/>
              </a:rPr>
              <a:t> Un </a:t>
            </a:r>
            <a:r>
              <a:rPr lang="es-ES" sz="3200" dirty="0" err="1">
                <a:latin typeface="Franklin Gothic Demi Cond" panose="020B0706030402020204" pitchFamily="34" charset="0"/>
              </a:rPr>
              <a:t>WebSocket</a:t>
            </a:r>
            <a:r>
              <a:rPr lang="es-ES" sz="3200" dirty="0">
                <a:latin typeface="Franklin Gothic Demi Cond" panose="020B0706030402020204" pitchFamily="34" charset="0"/>
              </a:rPr>
              <a:t> es una conexión persistente entre un cliente y un servidor permitiendo la comunicación bidireccional entre ambas partes mediante una conexión TCP. Esto significa que cliente y servidor pueden comunicarse en cualquier momento.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DF8218B-E770-F8CE-0BE9-C74A52BA2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0" y="782140"/>
            <a:ext cx="1356830" cy="1368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3A42B1E-1865-B1EF-C0C6-E812BF62E1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055" t="11758" b="3016"/>
          <a:stretch>
            <a:fillRect/>
          </a:stretch>
        </p:blipFill>
        <p:spPr>
          <a:xfrm>
            <a:off x="2015698" y="3431700"/>
            <a:ext cx="3512402" cy="5943600"/>
          </a:xfrm>
          <a:prstGeom prst="round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B93C845-1108-84D2-F937-D3FB9DC251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95" t="4873" r="8399" b="7607"/>
          <a:stretch>
            <a:fillRect/>
          </a:stretch>
        </p:blipFill>
        <p:spPr>
          <a:xfrm>
            <a:off x="8976564" y="6403500"/>
            <a:ext cx="6796836" cy="3312000"/>
          </a:xfrm>
          <a:prstGeom prst="round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10415872">
            <a:off x="16526260" y="-1097673"/>
            <a:ext cx="3033717" cy="2727740"/>
          </a:xfrm>
          <a:custGeom>
            <a:avLst/>
            <a:gdLst/>
            <a:ahLst/>
            <a:cxnLst/>
            <a:rect l="l" t="t" r="r" b="b"/>
            <a:pathLst>
              <a:path w="5277584" h="5277584">
                <a:moveTo>
                  <a:pt x="0" y="0"/>
                </a:moveTo>
                <a:lnTo>
                  <a:pt x="5277584" y="0"/>
                </a:lnTo>
                <a:lnTo>
                  <a:pt x="5277584" y="5277583"/>
                </a:lnTo>
                <a:lnTo>
                  <a:pt x="0" y="5277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4D1836D7-BE78-35B8-4A2B-436B45E0DA4E}"/>
              </a:ext>
            </a:extLst>
          </p:cNvPr>
          <p:cNvSpPr txBox="1"/>
          <p:nvPr/>
        </p:nvSpPr>
        <p:spPr>
          <a:xfrm>
            <a:off x="5044982" y="495300"/>
            <a:ext cx="8198036" cy="857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s-ES" sz="4800" dirty="0">
                <a:latin typeface="Now Bold" panose="020B0604020202020204" charset="0"/>
              </a:rPr>
              <a:t>Integración de AR con </a:t>
            </a:r>
            <a:r>
              <a:rPr lang="es-ES" sz="4800" dirty="0" err="1">
                <a:latin typeface="Now Bold" panose="020B0604020202020204" charset="0"/>
              </a:rPr>
              <a:t>IoT</a:t>
            </a:r>
            <a:endParaRPr lang="en-US" sz="4800" dirty="0">
              <a:latin typeface="Now Bold" panose="020B0604020202020204" charset="0"/>
              <a:ea typeface="Now"/>
              <a:cs typeface="Now"/>
              <a:sym typeface="Now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27F7523-FE22-7E2F-8AAF-27A1837CB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0" y="2824777"/>
            <a:ext cx="8077200" cy="4846320"/>
          </a:xfrm>
          <a:prstGeom prst="roundRect">
            <a:avLst/>
          </a:prstGeom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42B2BF7C-BAFF-0A56-FB9D-41ADCC26F9F8}"/>
              </a:ext>
            </a:extLst>
          </p:cNvPr>
          <p:cNvSpPr txBox="1"/>
          <p:nvPr/>
        </p:nvSpPr>
        <p:spPr>
          <a:xfrm>
            <a:off x="995745" y="2324100"/>
            <a:ext cx="7767255" cy="5747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3600" dirty="0">
                <a:latin typeface="Now Bold" panose="020B0604020202020204" charset="0"/>
                <a:ea typeface="Now"/>
                <a:cs typeface="Now"/>
                <a:sym typeface="Now"/>
              </a:rPr>
              <a:t>Esta integración combina la capacidad de visualizar datos digitales en el mundo real (AR) con la recopilación de información en tiempo real de sensores y dispositivos conectados (</a:t>
            </a:r>
            <a:r>
              <a:rPr lang="es-ES" sz="3600" dirty="0" err="1">
                <a:latin typeface="Now Bold" panose="020B0604020202020204" charset="0"/>
                <a:ea typeface="Now"/>
                <a:cs typeface="Now"/>
                <a:sym typeface="Now"/>
              </a:rPr>
              <a:t>IoT</a:t>
            </a:r>
            <a:r>
              <a:rPr lang="es-ES" sz="3600" dirty="0">
                <a:latin typeface="Now Bold" panose="020B0604020202020204" charset="0"/>
                <a:ea typeface="Now"/>
                <a:cs typeface="Now"/>
                <a:sym typeface="Now"/>
              </a:rPr>
              <a:t>)</a:t>
            </a:r>
            <a:endParaRPr lang="en-US" sz="3600" dirty="0">
              <a:latin typeface="Now Bold" panose="020B0604020202020204" charset="0"/>
              <a:ea typeface="Now"/>
              <a:cs typeface="Now"/>
              <a:sym typeface="Now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12D5394-D1BC-074E-C098-7000054F4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8267700"/>
            <a:ext cx="1776805" cy="177680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594E32A-899B-3A86-73D4-B565222A5F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8496297"/>
            <a:ext cx="1356830" cy="136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7377498" y="8724900"/>
            <a:ext cx="1363803" cy="1276350"/>
          </a:xfrm>
          <a:custGeom>
            <a:avLst/>
            <a:gdLst/>
            <a:ahLst/>
            <a:cxnLst/>
            <a:rect l="l" t="t" r="r" b="b"/>
            <a:pathLst>
              <a:path w="6601579" h="6601579">
                <a:moveTo>
                  <a:pt x="0" y="0"/>
                </a:moveTo>
                <a:lnTo>
                  <a:pt x="6601579" y="0"/>
                </a:lnTo>
                <a:lnTo>
                  <a:pt x="6601579" y="6601579"/>
                </a:lnTo>
                <a:lnTo>
                  <a:pt x="0" y="6601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7" name="Freeform 7"/>
          <p:cNvSpPr/>
          <p:nvPr/>
        </p:nvSpPr>
        <p:spPr>
          <a:xfrm rot="10415872">
            <a:off x="-439846" y="-354830"/>
            <a:ext cx="879691" cy="1142557"/>
          </a:xfrm>
          <a:custGeom>
            <a:avLst/>
            <a:gdLst/>
            <a:ahLst/>
            <a:cxnLst/>
            <a:rect l="l" t="t" r="r" b="b"/>
            <a:pathLst>
              <a:path w="3323266" h="3323266">
                <a:moveTo>
                  <a:pt x="0" y="0"/>
                </a:moveTo>
                <a:lnTo>
                  <a:pt x="3323266" y="0"/>
                </a:lnTo>
                <a:lnTo>
                  <a:pt x="3323266" y="3323266"/>
                </a:lnTo>
                <a:lnTo>
                  <a:pt x="0" y="3323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A779140-6DCF-8851-91D4-251819E652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73" t="27259" r="5306" b="17841"/>
          <a:stretch>
            <a:fillRect/>
          </a:stretch>
        </p:blipFill>
        <p:spPr>
          <a:xfrm>
            <a:off x="1341474" y="6316280"/>
            <a:ext cx="5943600" cy="3061466"/>
          </a:xfrm>
          <a:prstGeom prst="round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8D1E3D1-DA84-98DE-6952-E408C27B61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439987"/>
            <a:ext cx="5943600" cy="3110484"/>
          </a:xfrm>
          <a:prstGeom prst="round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081DE8D-D942-1B67-2CD5-B0C8F98412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53" r="19895"/>
          <a:stretch>
            <a:fillRect/>
          </a:stretch>
        </p:blipFill>
        <p:spPr>
          <a:xfrm>
            <a:off x="7543800" y="2488349"/>
            <a:ext cx="2743200" cy="299235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C651B7BF-4B29-514C-BD1E-7A0C61B4A2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1" t="11251" r="16249" b="11250"/>
          <a:stretch>
            <a:fillRect/>
          </a:stretch>
        </p:blipFill>
        <p:spPr>
          <a:xfrm>
            <a:off x="13593726" y="4542751"/>
            <a:ext cx="3352800" cy="3849511"/>
          </a:xfrm>
          <a:prstGeom prst="roundRect">
            <a:avLst/>
          </a:prstGeom>
        </p:spPr>
      </p:pic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DD1CD8F-E52C-056C-73AB-C25FA2F0770D}"/>
              </a:ext>
            </a:extLst>
          </p:cNvPr>
          <p:cNvCxnSpPr>
            <a:cxnSpLocks/>
          </p:cNvCxnSpPr>
          <p:nvPr/>
        </p:nvCxnSpPr>
        <p:spPr>
          <a:xfrm>
            <a:off x="10415155" y="3953569"/>
            <a:ext cx="2819400" cy="1125580"/>
          </a:xfrm>
          <a:prstGeom prst="straightConnector1">
            <a:avLst/>
          </a:prstGeom>
          <a:ln w="1016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784B1F4-23F3-7742-D0D4-3053CB5BEEA7}"/>
              </a:ext>
            </a:extLst>
          </p:cNvPr>
          <p:cNvSpPr txBox="1"/>
          <p:nvPr/>
        </p:nvSpPr>
        <p:spPr>
          <a:xfrm rot="1320000">
            <a:off x="10586527" y="4597526"/>
            <a:ext cx="2094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latin typeface="Franklin Gothic Demi Cond" panose="020B0706030402020204" pitchFamily="34" charset="0"/>
              </a:rPr>
              <a:t>HTTP REST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ADE2307-5D11-B196-E758-21FC75943E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63400" y="2587970"/>
            <a:ext cx="4408178" cy="1717330"/>
          </a:xfrm>
          <a:prstGeom prst="round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CF2349F-1A61-6B50-53D7-17C5CABDA545}"/>
              </a:ext>
            </a:extLst>
          </p:cNvPr>
          <p:cNvCxnSpPr>
            <a:cxnSpLocks/>
          </p:cNvCxnSpPr>
          <p:nvPr/>
        </p:nvCxnSpPr>
        <p:spPr>
          <a:xfrm flipH="1">
            <a:off x="7639735" y="7270561"/>
            <a:ext cx="5466665" cy="920939"/>
          </a:xfrm>
          <a:prstGeom prst="straightConnector1">
            <a:avLst/>
          </a:prstGeom>
          <a:ln w="1016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0E66AD4-652A-7EE7-3F2E-24A7B21D5AD3}"/>
              </a:ext>
            </a:extLst>
          </p:cNvPr>
          <p:cNvSpPr txBox="1"/>
          <p:nvPr/>
        </p:nvSpPr>
        <p:spPr>
          <a:xfrm rot="20989138">
            <a:off x="9639670" y="7786210"/>
            <a:ext cx="2369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 err="1">
                <a:latin typeface="Franklin Gothic Demi Cond" panose="020B0706030402020204" pitchFamily="34" charset="0"/>
              </a:rPr>
              <a:t>WebSockets</a:t>
            </a:r>
            <a:endParaRPr lang="es-ES" sz="3600" dirty="0">
              <a:latin typeface="Franklin Gothic Demi Cond" panose="020B0706030402020204" pitchFamily="34" charset="0"/>
            </a:endParaRPr>
          </a:p>
        </p:txBody>
      </p:sp>
      <p:sp>
        <p:nvSpPr>
          <p:cNvPr id="40" name="TextBox 5">
            <a:extLst>
              <a:ext uri="{FF2B5EF4-FFF2-40B4-BE49-F238E27FC236}">
                <a16:creationId xmlns:a16="http://schemas.microsoft.com/office/drawing/2014/main" id="{A0089A6F-46BF-C854-0835-3EDCF022648B}"/>
              </a:ext>
            </a:extLst>
          </p:cNvPr>
          <p:cNvSpPr txBox="1"/>
          <p:nvPr/>
        </p:nvSpPr>
        <p:spPr>
          <a:xfrm>
            <a:off x="1910503" y="339891"/>
            <a:ext cx="14777297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s-ES" sz="4600" dirty="0">
                <a:latin typeface="Now Bold" panose="020B0604020202020204" charset="0"/>
              </a:rPr>
              <a:t>Comunicación de una app AR con un servidor </a:t>
            </a:r>
            <a:r>
              <a:rPr lang="es-ES" sz="4600" dirty="0" err="1">
                <a:latin typeface="Now Bold" panose="020B0604020202020204" charset="0"/>
              </a:rPr>
              <a:t>IoT</a:t>
            </a:r>
            <a:r>
              <a:rPr lang="es-ES" sz="4600" dirty="0">
                <a:latin typeface="Now Bold" panose="020B0604020202020204" charset="0"/>
              </a:rPr>
              <a:t> para obtener datos, empleando </a:t>
            </a:r>
            <a:r>
              <a:rPr lang="es-ES" sz="4600" dirty="0" err="1">
                <a:latin typeface="Now Bold" panose="020B0604020202020204" charset="0"/>
              </a:rPr>
              <a:t>Firebase</a:t>
            </a:r>
            <a:endParaRPr lang="en-US" sz="4600" dirty="0">
              <a:latin typeface="Now Bold" panose="020B0604020202020204" charset="0"/>
              <a:ea typeface="Now"/>
              <a:cs typeface="Now"/>
              <a:sym typeface="N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9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2074</TotalTime>
  <Words>407</Words>
  <Application>Microsoft Office PowerPoint</Application>
  <PresentationFormat>Personalizado</PresentationFormat>
  <Paragraphs>60</Paragraphs>
  <Slides>11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Franklin Gothic Demi Cond</vt:lpstr>
      <vt:lpstr>Arial</vt:lpstr>
      <vt:lpstr>Now Bold</vt:lpstr>
      <vt:lpstr>Wingdings</vt:lpstr>
      <vt:lpstr>Now</vt:lpstr>
      <vt:lpstr>Calibri</vt:lpstr>
      <vt:lpstr>Tw Cen MT</vt:lpstr>
      <vt:lpstr>Circuito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Presentación versátil tecnológica y desarrollo fondo negro formas llamativas degradados</dc:title>
  <cp:lastModifiedBy>Eduardo Josué Ortíz Orellana</cp:lastModifiedBy>
  <cp:revision>46</cp:revision>
  <dcterms:created xsi:type="dcterms:W3CDTF">2006-08-16T00:00:00Z</dcterms:created>
  <dcterms:modified xsi:type="dcterms:W3CDTF">2026-04-20T22:33:57Z</dcterms:modified>
  <dc:identifier>DAHFWZfHBJ8</dc:identifier>
</cp:coreProperties>
</file>