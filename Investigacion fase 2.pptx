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5" r:id="rId10"/>
    <p:sldId id="264" r:id="rId11"/>
    <p:sldId id="278" r:id="rId12"/>
    <p:sldId id="283" r:id="rId13"/>
    <p:sldId id="284" r:id="rId14"/>
    <p:sldId id="285" r:id="rId15"/>
    <p:sldId id="286" r:id="rId16"/>
    <p:sldId id="281" r:id="rId17"/>
    <p:sldId id="287" r:id="rId18"/>
    <p:sldId id="288" r:id="rId19"/>
    <p:sldId id="289" r:id="rId20"/>
    <p:sldId id="280" r:id="rId21"/>
    <p:sldId id="279" r:id="rId22"/>
    <p:sldId id="282" r:id="rId23"/>
  </p:sldIdLst>
  <p:sldSz cx="18288000" cy="10287000"/>
  <p:notesSz cx="6858000" cy="9144000"/>
  <p:embeddedFontLst>
    <p:embeddedFont>
      <p:font typeface="Now" panose="020B0604020202020204" charset="0"/>
      <p:regular r:id="rId25"/>
    </p:embeddedFont>
    <p:embeddedFont>
      <p:font typeface="Now Bold"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94622" autoAdjust="0"/>
  </p:normalViewPr>
  <p:slideViewPr>
    <p:cSldViewPr>
      <p:cViewPr>
        <p:scale>
          <a:sx n="39" d="100"/>
          <a:sy n="39" d="100"/>
        </p:scale>
        <p:origin x="936" y="8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A66A9B-469D-41E6-81BF-965863134EE4}" type="datetimeFigureOut">
              <a:rPr lang="en-US" smtClean="0"/>
              <a:t>4/15/2026</a:t>
            </a:fld>
            <a:endParaRPr lang="en-U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A24CD4-1CE5-42B5-A468-34227200B882}" type="slidenum">
              <a:rPr lang="en-US" smtClean="0"/>
              <a:t>‹Nº›</a:t>
            </a:fld>
            <a:endParaRPr lang="en-US"/>
          </a:p>
        </p:txBody>
      </p:sp>
    </p:spTree>
    <p:extLst>
      <p:ext uri="{BB962C8B-B14F-4D97-AF65-F5344CB8AC3E}">
        <p14:creationId xmlns:p14="http://schemas.microsoft.com/office/powerpoint/2010/main" val="123379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419"/>
          </a:p>
        </p:txBody>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64A24CD4-1CE5-42B5-A468-34227200B882}" type="slidenum">
              <a:rPr lang="en-US" smtClean="0"/>
              <a:t>1</a:t>
            </a:fld>
            <a:endParaRPr lang="en-US"/>
          </a:p>
        </p:txBody>
      </p:sp>
    </p:spTree>
    <p:extLst>
      <p:ext uri="{BB962C8B-B14F-4D97-AF65-F5344CB8AC3E}">
        <p14:creationId xmlns:p14="http://schemas.microsoft.com/office/powerpoint/2010/main" val="20258135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419"/>
          </a:p>
        </p:txBody>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64A24CD4-1CE5-42B5-A468-34227200B882}" type="slidenum">
              <a:rPr lang="en-US" smtClean="0"/>
              <a:t>7</a:t>
            </a:fld>
            <a:endParaRPr lang="en-US"/>
          </a:p>
        </p:txBody>
      </p:sp>
    </p:spTree>
    <p:extLst>
      <p:ext uri="{BB962C8B-B14F-4D97-AF65-F5344CB8AC3E}">
        <p14:creationId xmlns:p14="http://schemas.microsoft.com/office/powerpoint/2010/main" val="42444492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sv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5.sv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sv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5.sv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sv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5.sv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sv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5.sv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sv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5.sv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sv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5.sv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sv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5.svg"/></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sv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5.svg"/></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sv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5.svg"/></Relationships>
</file>

<file path=ppt/slides/_rels/slide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sv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5.svg"/></Relationships>
</file>

<file path=ppt/slides/_rels/slide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sv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5.svg"/></Relationships>
</file>

<file path=ppt/slides/_rels/slide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sv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1191970">
            <a:off x="-6564316" y="-718708"/>
            <a:ext cx="13236843" cy="11389755"/>
          </a:xfrm>
          <a:custGeom>
            <a:avLst/>
            <a:gdLst/>
            <a:ahLst/>
            <a:cxnLst/>
            <a:rect l="l" t="t" r="r" b="b"/>
            <a:pathLst>
              <a:path w="14639359" h="12643082">
                <a:moveTo>
                  <a:pt x="0" y="0"/>
                </a:moveTo>
                <a:lnTo>
                  <a:pt x="14639359" y="0"/>
                </a:lnTo>
                <a:lnTo>
                  <a:pt x="14639359" y="12643082"/>
                </a:lnTo>
                <a:lnTo>
                  <a:pt x="0" y="1264308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419"/>
          </a:p>
        </p:txBody>
      </p:sp>
      <p:sp>
        <p:nvSpPr>
          <p:cNvPr id="3" name="TextBox 3"/>
          <p:cNvSpPr txBox="1"/>
          <p:nvPr/>
        </p:nvSpPr>
        <p:spPr>
          <a:xfrm>
            <a:off x="6172200" y="647775"/>
            <a:ext cx="10042016" cy="2735044"/>
          </a:xfrm>
          <a:prstGeom prst="rect">
            <a:avLst/>
          </a:prstGeom>
        </p:spPr>
        <p:txBody>
          <a:bodyPr wrap="square" lIns="0" tIns="0" rIns="0" bIns="0" rtlCol="0" anchor="t">
            <a:spAutoFit/>
          </a:bodyPr>
          <a:lstStyle/>
          <a:p>
            <a:pPr algn="l">
              <a:lnSpc>
                <a:spcPts val="10532"/>
              </a:lnSpc>
            </a:pPr>
            <a:r>
              <a:rPr lang="es-SV" sz="9843" b="1" spc="442" dirty="0">
                <a:solidFill>
                  <a:srgbClr val="FFFFFF"/>
                </a:solidFill>
                <a:latin typeface="Now Bold"/>
                <a:ea typeface="Now Bold"/>
                <a:cs typeface="Now Bold"/>
                <a:sym typeface="Now Bold"/>
              </a:rPr>
              <a:t>Investigación Aplicada 2</a:t>
            </a:r>
            <a:endParaRPr lang="en-US" sz="9843" b="1" spc="442" dirty="0">
              <a:solidFill>
                <a:srgbClr val="FFFFFF"/>
              </a:solidFill>
              <a:latin typeface="Now Bold"/>
              <a:ea typeface="Now Bold"/>
              <a:cs typeface="Now Bold"/>
              <a:sym typeface="Now Bold"/>
            </a:endParaRPr>
          </a:p>
        </p:txBody>
      </p:sp>
      <p:sp>
        <p:nvSpPr>
          <p:cNvPr id="4" name="Freeform 4"/>
          <p:cNvSpPr/>
          <p:nvPr/>
        </p:nvSpPr>
        <p:spPr>
          <a:xfrm>
            <a:off x="15529742" y="8343900"/>
            <a:ext cx="1817135" cy="1752599"/>
          </a:xfrm>
          <a:custGeom>
            <a:avLst/>
            <a:gdLst/>
            <a:ahLst/>
            <a:cxnLst/>
            <a:rect l="l" t="t" r="r" b="b"/>
            <a:pathLst>
              <a:path w="1817135" h="1817135">
                <a:moveTo>
                  <a:pt x="0" y="0"/>
                </a:moveTo>
                <a:lnTo>
                  <a:pt x="1817135" y="0"/>
                </a:lnTo>
                <a:lnTo>
                  <a:pt x="1817135" y="1817135"/>
                </a:lnTo>
                <a:lnTo>
                  <a:pt x="0" y="181713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sp>
        <p:nvSpPr>
          <p:cNvPr id="5" name="TextBox 5"/>
          <p:cNvSpPr txBox="1"/>
          <p:nvPr/>
        </p:nvSpPr>
        <p:spPr>
          <a:xfrm>
            <a:off x="8123134" y="4287818"/>
            <a:ext cx="10161322" cy="3590727"/>
          </a:xfrm>
          <a:prstGeom prst="rect">
            <a:avLst/>
          </a:prstGeom>
        </p:spPr>
        <p:txBody>
          <a:bodyPr wrap="square" lIns="0" tIns="0" rIns="0" bIns="0" rtlCol="0" anchor="t">
            <a:spAutoFit/>
          </a:bodyPr>
          <a:lstStyle/>
          <a:p>
            <a:pPr>
              <a:lnSpc>
                <a:spcPts val="7000"/>
              </a:lnSpc>
            </a:pPr>
            <a:r>
              <a:rPr lang="es-SV" sz="5000" dirty="0">
                <a:solidFill>
                  <a:srgbClr val="FFFFFF"/>
                </a:solidFill>
                <a:latin typeface="Now Bold" panose="020B0604020202020204" charset="0"/>
                <a:ea typeface="Now"/>
                <a:cs typeface="Now"/>
                <a:sym typeface="Now"/>
              </a:rPr>
              <a:t>Tema:</a:t>
            </a:r>
            <a:r>
              <a:rPr lang="es-SV" sz="3000" dirty="0">
                <a:solidFill>
                  <a:schemeClr val="bg1"/>
                </a:solidFill>
                <a:latin typeface="Now Bold" panose="020B0604020202020204" charset="0"/>
                <a:ea typeface="Now"/>
                <a:cs typeface="Now"/>
                <a:sym typeface="Now"/>
              </a:rPr>
              <a:t> </a:t>
            </a:r>
            <a:r>
              <a:rPr lang="es-SV" sz="4000" dirty="0">
                <a:solidFill>
                  <a:schemeClr val="bg1"/>
                </a:solidFill>
                <a:latin typeface="Now Bold" panose="020B0604020202020204" charset="0"/>
                <a:ea typeface="Now"/>
                <a:cs typeface="Now"/>
                <a:sym typeface="Now"/>
              </a:rPr>
              <a:t>D</a:t>
            </a:r>
            <a:r>
              <a:rPr lang="es-MX" sz="4000" dirty="0">
                <a:solidFill>
                  <a:schemeClr val="bg1"/>
                </a:solidFill>
                <a:latin typeface="Now Bold" panose="020B0604020202020204" charset="0"/>
              </a:rPr>
              <a:t>esarrollo de Aplicaciones Multiplataforma para </a:t>
            </a:r>
            <a:r>
              <a:rPr lang="es-MX" sz="4000" dirty="0">
                <a:solidFill>
                  <a:srgbClr val="FF0000"/>
                </a:solidFill>
                <a:latin typeface="Now Bold" panose="020B0604020202020204" charset="0"/>
              </a:rPr>
              <a:t>IoT</a:t>
            </a:r>
            <a:r>
              <a:rPr lang="es-MX" sz="4000" dirty="0">
                <a:solidFill>
                  <a:schemeClr val="bg1"/>
                </a:solidFill>
                <a:latin typeface="Now Bold" panose="020B0604020202020204" charset="0"/>
              </a:rPr>
              <a:t> con Realidad Aumentada </a:t>
            </a:r>
            <a:r>
              <a:rPr lang="es-MX" sz="4000" dirty="0">
                <a:solidFill>
                  <a:srgbClr val="FF0000"/>
                </a:solidFill>
                <a:latin typeface="Now Bold" panose="020B0604020202020204" charset="0"/>
              </a:rPr>
              <a:t>(AR) </a:t>
            </a:r>
            <a:r>
              <a:rPr lang="es-MX" sz="4000" dirty="0">
                <a:solidFill>
                  <a:schemeClr val="bg1"/>
                </a:solidFill>
                <a:latin typeface="Now Bold" panose="020B0604020202020204" charset="0"/>
              </a:rPr>
              <a:t>en la Monitorización de Dispositivos Inteligentes.</a:t>
            </a:r>
            <a:endParaRPr lang="en-US" sz="4000" dirty="0">
              <a:solidFill>
                <a:schemeClr val="bg1"/>
              </a:solidFill>
              <a:latin typeface="Now Bold" panose="020B0604020202020204" charset="0"/>
              <a:ea typeface="Now"/>
              <a:cs typeface="Now"/>
              <a:sym typeface="Now"/>
            </a:endParaRPr>
          </a:p>
        </p:txBody>
      </p:sp>
      <p:sp>
        <p:nvSpPr>
          <p:cNvPr id="6" name="AutoShape 6"/>
          <p:cNvSpPr/>
          <p:nvPr/>
        </p:nvSpPr>
        <p:spPr>
          <a:xfrm>
            <a:off x="16014405" y="9105900"/>
            <a:ext cx="762000" cy="0"/>
          </a:xfrm>
          <a:prstGeom prst="line">
            <a:avLst/>
          </a:prstGeom>
          <a:ln w="47625" cap="flat">
            <a:solidFill>
              <a:srgbClr val="000000"/>
            </a:solidFill>
            <a:prstDash val="solid"/>
            <a:headEnd type="none" w="sm" len="sm"/>
            <a:tailEnd type="arrow" w="med" len="sm"/>
          </a:ln>
        </p:spPr>
        <p:txBody>
          <a:bodyPr/>
          <a:lstStyle/>
          <a:p>
            <a:endParaRPr lang="es-419"/>
          </a:p>
        </p:txBody>
      </p:sp>
      <p:sp>
        <p:nvSpPr>
          <p:cNvPr id="8" name="Freeform 6"/>
          <p:cNvSpPr/>
          <p:nvPr/>
        </p:nvSpPr>
        <p:spPr>
          <a:xfrm>
            <a:off x="16535400" y="-434189"/>
            <a:ext cx="2133600" cy="2758290"/>
          </a:xfrm>
          <a:custGeom>
            <a:avLst/>
            <a:gdLst/>
            <a:ahLst/>
            <a:cxnLst/>
            <a:rect l="l" t="t" r="r" b="b"/>
            <a:pathLst>
              <a:path w="6601579" h="6601579">
                <a:moveTo>
                  <a:pt x="0" y="0"/>
                </a:moveTo>
                <a:lnTo>
                  <a:pt x="6601580" y="0"/>
                </a:lnTo>
                <a:lnTo>
                  <a:pt x="6601580" y="6601579"/>
                </a:lnTo>
                <a:lnTo>
                  <a:pt x="0" y="660157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419"/>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3072555">
            <a:off x="16555730" y="2195760"/>
            <a:ext cx="9497408" cy="7145335"/>
          </a:xfrm>
          <a:custGeom>
            <a:avLst/>
            <a:gdLst/>
            <a:ahLst/>
            <a:cxnLst/>
            <a:rect l="l" t="t" r="r" b="b"/>
            <a:pathLst>
              <a:path w="14639359" h="12643082">
                <a:moveTo>
                  <a:pt x="0" y="0"/>
                </a:moveTo>
                <a:lnTo>
                  <a:pt x="14639359" y="0"/>
                </a:lnTo>
                <a:lnTo>
                  <a:pt x="14639359" y="12643083"/>
                </a:lnTo>
                <a:lnTo>
                  <a:pt x="0" y="1264308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419"/>
          </a:p>
        </p:txBody>
      </p:sp>
      <p:sp>
        <p:nvSpPr>
          <p:cNvPr id="4" name="Freeform 4"/>
          <p:cNvSpPr/>
          <p:nvPr/>
        </p:nvSpPr>
        <p:spPr>
          <a:xfrm rot="10415872">
            <a:off x="16047444" y="-242455"/>
            <a:ext cx="3096966" cy="3192491"/>
          </a:xfrm>
          <a:custGeom>
            <a:avLst/>
            <a:gdLst/>
            <a:ahLst/>
            <a:cxnLst/>
            <a:rect l="l" t="t" r="r" b="b"/>
            <a:pathLst>
              <a:path w="5277584" h="5277584">
                <a:moveTo>
                  <a:pt x="0" y="0"/>
                </a:moveTo>
                <a:lnTo>
                  <a:pt x="5277584" y="0"/>
                </a:lnTo>
                <a:lnTo>
                  <a:pt x="5277584" y="5277583"/>
                </a:lnTo>
                <a:lnTo>
                  <a:pt x="0" y="527758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419"/>
          </a:p>
        </p:txBody>
      </p:sp>
      <p:sp>
        <p:nvSpPr>
          <p:cNvPr id="5" name="Freeform 5"/>
          <p:cNvSpPr/>
          <p:nvPr/>
        </p:nvSpPr>
        <p:spPr>
          <a:xfrm>
            <a:off x="15879109" y="7535792"/>
            <a:ext cx="2514600" cy="2751208"/>
          </a:xfrm>
          <a:custGeom>
            <a:avLst/>
            <a:gdLst/>
            <a:ahLst/>
            <a:cxnLst/>
            <a:rect l="l" t="t" r="r" b="b"/>
            <a:pathLst>
              <a:path w="4774256" h="4774256">
                <a:moveTo>
                  <a:pt x="0" y="0"/>
                </a:moveTo>
                <a:lnTo>
                  <a:pt x="4774256" y="0"/>
                </a:lnTo>
                <a:lnTo>
                  <a:pt x="4774256" y="4774256"/>
                </a:lnTo>
                <a:lnTo>
                  <a:pt x="0" y="4774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sp>
        <p:nvSpPr>
          <p:cNvPr id="6" name="TextBox 6"/>
          <p:cNvSpPr txBox="1"/>
          <p:nvPr/>
        </p:nvSpPr>
        <p:spPr>
          <a:xfrm>
            <a:off x="152400" y="342900"/>
            <a:ext cx="16154400" cy="10510570"/>
          </a:xfrm>
          <a:prstGeom prst="rect">
            <a:avLst/>
          </a:prstGeom>
        </p:spPr>
        <p:txBody>
          <a:bodyPr wrap="square" lIns="0" tIns="0" rIns="0" bIns="0" rtlCol="0" anchor="t">
            <a:spAutoFit/>
          </a:bodyPr>
          <a:lstStyle/>
          <a:p>
            <a:pPr lvl="0"/>
            <a:r>
              <a:rPr lang="es-419" sz="2500" dirty="0">
                <a:solidFill>
                  <a:srgbClr val="FFC000"/>
                </a:solidFill>
              </a:rPr>
              <a:t>Fundamentos de Realidad Aumentada </a:t>
            </a:r>
            <a:r>
              <a:rPr lang="es-419" sz="2500" dirty="0">
                <a:solidFill>
                  <a:srgbClr val="FF0000"/>
                </a:solidFill>
              </a:rPr>
              <a:t>(AR)</a:t>
            </a:r>
            <a:r>
              <a:rPr lang="es-419" sz="2500" dirty="0">
                <a:solidFill>
                  <a:schemeClr val="bg1"/>
                </a:solidFill>
              </a:rPr>
              <a:t> </a:t>
            </a:r>
            <a:r>
              <a:rPr lang="es-419" sz="2500" dirty="0">
                <a:solidFill>
                  <a:srgbClr val="FFC000"/>
                </a:solidFill>
              </a:rPr>
              <a:t>en Aplicaciones Multiplataforma.</a:t>
            </a:r>
          </a:p>
          <a:p>
            <a:r>
              <a:rPr lang="es-SV" sz="2500" dirty="0">
                <a:solidFill>
                  <a:schemeClr val="bg1"/>
                </a:solidFill>
              </a:rPr>
              <a:t>la fusión de datos físicos y visuales. El IoT recolecta datos en tiempo real (sensores) y la Realidad Aumentada (AR) los proyecta digitalmente sobre el objeto real, eliminando la necesidad de pantallas externas o manuales físicos. Para Multiplataforma </a:t>
            </a:r>
            <a:endParaRPr lang="en-US" sz="2500" dirty="0">
              <a:solidFill>
                <a:schemeClr val="bg1"/>
              </a:solidFill>
            </a:endParaRPr>
          </a:p>
          <a:p>
            <a:r>
              <a:rPr lang="en-US" sz="2500" dirty="0">
                <a:solidFill>
                  <a:schemeClr val="bg1"/>
                </a:solidFill>
              </a:rPr>
              <a:t>·</a:t>
            </a:r>
            <a:r>
              <a:rPr lang="es-SV" sz="2500" dirty="0">
                <a:solidFill>
                  <a:schemeClr val="bg1"/>
                </a:solidFill>
              </a:rPr>
              <a:t> Eficiencia: Un solo código para Android e iOS.</a:t>
            </a:r>
            <a:endParaRPr lang="en-US" sz="2500" dirty="0">
              <a:solidFill>
                <a:schemeClr val="bg1"/>
              </a:solidFill>
            </a:endParaRPr>
          </a:p>
          <a:p>
            <a:r>
              <a:rPr lang="en-US" sz="2500" dirty="0">
                <a:solidFill>
                  <a:schemeClr val="bg1"/>
                </a:solidFill>
              </a:rPr>
              <a:t>·</a:t>
            </a:r>
            <a:r>
              <a:rPr lang="es-SV" sz="2500" dirty="0">
                <a:solidFill>
                  <a:schemeClr val="bg1"/>
                </a:solidFill>
              </a:rPr>
              <a:t> Seguimiento (Tracking): Cómo la app "ve" el mundo (usando códigos QR o reconociendo superficies mediante SLAM).</a:t>
            </a:r>
            <a:endParaRPr lang="en-US" sz="2500" dirty="0">
              <a:solidFill>
                <a:schemeClr val="bg1"/>
              </a:solidFill>
            </a:endParaRPr>
          </a:p>
          <a:p>
            <a:r>
              <a:rPr lang="en-US" sz="2500" dirty="0">
                <a:solidFill>
                  <a:schemeClr val="bg1"/>
                </a:solidFill>
              </a:rPr>
              <a:t>·</a:t>
            </a:r>
            <a:r>
              <a:rPr lang="es-SV" sz="2500" dirty="0">
                <a:solidFill>
                  <a:schemeClr val="bg1"/>
                </a:solidFill>
              </a:rPr>
              <a:t> Registro: El proceso de alinear la información digital (ej. una gráfica de voltaje) exactamente sobre el sensor físico.</a:t>
            </a:r>
            <a:endParaRPr lang="en-US" sz="2500" dirty="0">
              <a:solidFill>
                <a:schemeClr val="bg1"/>
              </a:solidFill>
            </a:endParaRPr>
          </a:p>
          <a:p>
            <a:r>
              <a:rPr lang="en-US" sz="2800" dirty="0">
                <a:solidFill>
                  <a:schemeClr val="bg1"/>
                </a:solidFill>
              </a:rPr>
              <a:t>·</a:t>
            </a:r>
            <a:r>
              <a:rPr lang="es-SV" sz="2500" dirty="0">
                <a:solidFill>
                  <a:schemeClr val="bg1"/>
                </a:solidFill>
              </a:rPr>
              <a:t> Visualización: El renderizado de los datos en tiempo real para que el usuario tome decisiones rápidas.</a:t>
            </a:r>
            <a:endParaRPr lang="en-US" sz="2500" dirty="0">
              <a:solidFill>
                <a:schemeClr val="bg1"/>
              </a:solidFill>
            </a:endParaRPr>
          </a:p>
          <a:p>
            <a:r>
              <a:rPr lang="es-419" sz="2800" dirty="0">
                <a:solidFill>
                  <a:schemeClr val="bg1"/>
                </a:solidFill>
              </a:rPr>
              <a:t>·</a:t>
            </a:r>
            <a:r>
              <a:rPr lang="es-SV" sz="2800" dirty="0">
                <a:solidFill>
                  <a:schemeClr val="bg1"/>
                </a:solidFill>
              </a:rPr>
              <a:t> </a:t>
            </a:r>
            <a:r>
              <a:rPr lang="es-SV" sz="2500" dirty="0">
                <a:solidFill>
                  <a:schemeClr val="bg1"/>
                </a:solidFill>
              </a:rPr>
              <a:t>Herramientas: Uso de frameworks como </a:t>
            </a:r>
            <a:r>
              <a:rPr lang="es-SV" sz="2500" dirty="0" err="1">
                <a:solidFill>
                  <a:schemeClr val="bg1"/>
                </a:solidFill>
              </a:rPr>
              <a:t>Unity</a:t>
            </a:r>
            <a:r>
              <a:rPr lang="es-SV" sz="2500" dirty="0">
                <a:solidFill>
                  <a:schemeClr val="bg1"/>
                </a:solidFill>
              </a:rPr>
              <a:t> (C#) con AR </a:t>
            </a:r>
            <a:r>
              <a:rPr lang="es-SV" sz="2500" dirty="0" err="1">
                <a:solidFill>
                  <a:schemeClr val="bg1"/>
                </a:solidFill>
              </a:rPr>
              <a:t>Foundation</a:t>
            </a:r>
            <a:r>
              <a:rPr lang="es-SV" sz="2500" dirty="0">
                <a:solidFill>
                  <a:schemeClr val="bg1"/>
                </a:solidFill>
              </a:rPr>
              <a:t> o React </a:t>
            </a:r>
            <a:r>
              <a:rPr lang="es-SV" sz="2500" dirty="0" err="1">
                <a:solidFill>
                  <a:schemeClr val="bg1"/>
                </a:solidFill>
              </a:rPr>
              <a:t>Native</a:t>
            </a:r>
            <a:r>
              <a:rPr lang="es-SV" sz="2500" dirty="0">
                <a:solidFill>
                  <a:schemeClr val="bg1"/>
                </a:solidFill>
              </a:rPr>
              <a:t> (JS), lo que permite integrar sensores y cámaras de forma nativa en cualquier dispositivo.</a:t>
            </a:r>
            <a:endParaRPr lang="es-419" sz="2500" dirty="0">
              <a:solidFill>
                <a:schemeClr val="bg1"/>
              </a:solidFill>
            </a:endParaRPr>
          </a:p>
          <a:p>
            <a:pPr lvl="0"/>
            <a:endParaRPr lang="en-US" sz="2500" dirty="0">
              <a:solidFill>
                <a:schemeClr val="bg1"/>
              </a:solidFill>
            </a:endParaRPr>
          </a:p>
          <a:p>
            <a:r>
              <a:rPr lang="es-419" sz="2500" dirty="0">
                <a:solidFill>
                  <a:schemeClr val="bg1"/>
                </a:solidFill>
              </a:rPr>
              <a:t>• ¿Qué es la </a:t>
            </a:r>
            <a:r>
              <a:rPr lang="es-419" sz="2500" dirty="0">
                <a:solidFill>
                  <a:srgbClr val="FF0000"/>
                </a:solidFill>
              </a:rPr>
              <a:t>Realidad Aumentada </a:t>
            </a:r>
            <a:r>
              <a:rPr lang="es-419" sz="2500" dirty="0">
                <a:solidFill>
                  <a:schemeClr val="bg1"/>
                </a:solidFill>
              </a:rPr>
              <a:t>y cómo se implementa en </a:t>
            </a:r>
            <a:r>
              <a:rPr lang="es-419" sz="2500" dirty="0">
                <a:solidFill>
                  <a:srgbClr val="FF0000"/>
                </a:solidFill>
              </a:rPr>
              <a:t>Aplicaciones Móviles</a:t>
            </a:r>
            <a:r>
              <a:rPr lang="es-419" sz="2500" dirty="0">
                <a:solidFill>
                  <a:schemeClr val="bg1"/>
                </a:solidFill>
              </a:rPr>
              <a:t>? </a:t>
            </a:r>
          </a:p>
          <a:p>
            <a:r>
              <a:rPr lang="es-419" sz="2500" dirty="0">
                <a:solidFill>
                  <a:schemeClr val="bg1"/>
                </a:solidFill>
              </a:rPr>
              <a:t>En la Realidad Aumentada tenemos: </a:t>
            </a:r>
            <a:r>
              <a:rPr lang="es-SV" sz="2500" dirty="0">
                <a:solidFill>
                  <a:schemeClr val="bg1"/>
                </a:solidFill>
              </a:rPr>
              <a:t>la AR combina elementos digitales con el entorno físico en tiempo real.</a:t>
            </a:r>
          </a:p>
          <a:p>
            <a:r>
              <a:rPr lang="es-SV" sz="2500" dirty="0">
                <a:solidFill>
                  <a:schemeClr val="bg1"/>
                </a:solidFill>
              </a:rPr>
              <a:t>Para que esto funcione en un celular, el sistema debe cumplir tres requisitos:</a:t>
            </a:r>
            <a:endParaRPr lang="en-US" sz="2500" dirty="0">
              <a:solidFill>
                <a:schemeClr val="bg1"/>
              </a:solidFill>
            </a:endParaRPr>
          </a:p>
          <a:p>
            <a:pPr lvl="0"/>
            <a:r>
              <a:rPr lang="es-SV" sz="2500" dirty="0">
                <a:solidFill>
                  <a:schemeClr val="bg1"/>
                </a:solidFill>
              </a:rPr>
              <a:t>Combinar lo real y lo virtual: Superponer gráficos 3D o 2D sobre la alimentación de la cámara.</a:t>
            </a:r>
            <a:endParaRPr lang="en-US" sz="2500" dirty="0">
              <a:solidFill>
                <a:schemeClr val="bg1"/>
              </a:solidFill>
            </a:endParaRPr>
          </a:p>
          <a:p>
            <a:pPr lvl="0"/>
            <a:r>
              <a:rPr lang="es-SV" sz="2500" dirty="0">
                <a:solidFill>
                  <a:schemeClr val="bg1"/>
                </a:solidFill>
              </a:rPr>
              <a:t>Interactividad en tiempo real: Si mueves el teléfono, el objeto virtual debe reaccionar al movimiento.</a:t>
            </a:r>
            <a:endParaRPr lang="en-US" sz="2500" dirty="0">
              <a:solidFill>
                <a:schemeClr val="bg1"/>
              </a:solidFill>
            </a:endParaRPr>
          </a:p>
          <a:p>
            <a:pPr lvl="0"/>
            <a:r>
              <a:rPr lang="es-SV" sz="2500" dirty="0">
                <a:solidFill>
                  <a:schemeClr val="bg1"/>
                </a:solidFill>
              </a:rPr>
              <a:t>Registro en 3D: El objeto debe parecer "anclado" al suelo o a una pared, no simplemente flotando en la pantalla.</a:t>
            </a:r>
            <a:endParaRPr lang="en-US" sz="2500" dirty="0">
              <a:solidFill>
                <a:schemeClr val="bg1"/>
              </a:solidFill>
            </a:endParaRPr>
          </a:p>
          <a:p>
            <a:endParaRPr lang="en-US" sz="2500" dirty="0">
              <a:solidFill>
                <a:schemeClr val="bg1"/>
              </a:solidFill>
            </a:endParaRPr>
          </a:p>
          <a:p>
            <a:pPr lvl="0"/>
            <a:r>
              <a:rPr lang="es-SV" sz="2200" dirty="0">
                <a:solidFill>
                  <a:srgbClr val="FF0000"/>
                </a:solidFill>
              </a:rPr>
              <a:t>Para implementar AR, el framework (como </a:t>
            </a:r>
            <a:r>
              <a:rPr lang="es-SV" sz="2200" dirty="0" err="1">
                <a:solidFill>
                  <a:srgbClr val="FF0000"/>
                </a:solidFill>
              </a:rPr>
              <a:t>ARCore</a:t>
            </a:r>
            <a:r>
              <a:rPr lang="es-SV" sz="2200" dirty="0">
                <a:solidFill>
                  <a:srgbClr val="FF0000"/>
                </a:solidFill>
              </a:rPr>
              <a:t> para Android o </a:t>
            </a:r>
            <a:r>
              <a:rPr lang="es-SV" sz="2200" dirty="0" err="1">
                <a:solidFill>
                  <a:srgbClr val="FF0000"/>
                </a:solidFill>
              </a:rPr>
              <a:t>ARKit</a:t>
            </a:r>
            <a:r>
              <a:rPr lang="es-SV" sz="2200" dirty="0">
                <a:solidFill>
                  <a:srgbClr val="FF0000"/>
                </a:solidFill>
              </a:rPr>
              <a:t> para iOS) : </a:t>
            </a:r>
            <a:r>
              <a:rPr lang="es-SV" sz="2500" dirty="0">
                <a:solidFill>
                  <a:schemeClr val="bg1"/>
                </a:solidFill>
              </a:rPr>
              <a:t>SLAM (</a:t>
            </a:r>
            <a:r>
              <a:rPr lang="es-SV" sz="2500" dirty="0" err="1">
                <a:solidFill>
                  <a:schemeClr val="bg1"/>
                </a:solidFill>
              </a:rPr>
              <a:t>Simultaneous</a:t>
            </a:r>
            <a:r>
              <a:rPr lang="es-SV" sz="2500" dirty="0">
                <a:solidFill>
                  <a:schemeClr val="bg1"/>
                </a:solidFill>
              </a:rPr>
              <a:t> </a:t>
            </a:r>
            <a:r>
              <a:rPr lang="es-SV" sz="2500" dirty="0" err="1">
                <a:solidFill>
                  <a:schemeClr val="bg1"/>
                </a:solidFill>
              </a:rPr>
              <a:t>Localization</a:t>
            </a:r>
            <a:r>
              <a:rPr lang="es-SV" sz="2500" dirty="0">
                <a:solidFill>
                  <a:schemeClr val="bg1"/>
                </a:solidFill>
              </a:rPr>
              <a:t> and </a:t>
            </a:r>
            <a:r>
              <a:rPr lang="es-SV" sz="2500" dirty="0" err="1">
                <a:solidFill>
                  <a:schemeClr val="bg1"/>
                </a:solidFill>
              </a:rPr>
              <a:t>Mapping</a:t>
            </a:r>
            <a:r>
              <a:rPr lang="es-SV" sz="2500" dirty="0">
                <a:solidFill>
                  <a:schemeClr val="bg1"/>
                </a:solidFill>
              </a:rPr>
              <a:t>): Es el algoritmo que permite al teléfono entender dónde está y qué hay a su alrededor al mismo tiempo.</a:t>
            </a:r>
            <a:endParaRPr lang="en-US" sz="2500" dirty="0">
              <a:solidFill>
                <a:schemeClr val="bg1"/>
              </a:solidFill>
            </a:endParaRPr>
          </a:p>
          <a:p>
            <a:pPr lvl="0"/>
            <a:r>
              <a:rPr lang="es-SV" sz="2500" dirty="0">
                <a:solidFill>
                  <a:schemeClr val="bg1"/>
                </a:solidFill>
              </a:rPr>
              <a:t>Seguimiento Ambiental (</a:t>
            </a:r>
            <a:r>
              <a:rPr lang="es-SV" sz="2500" dirty="0" err="1">
                <a:solidFill>
                  <a:schemeClr val="bg1"/>
                </a:solidFill>
              </a:rPr>
              <a:t>Environmental</a:t>
            </a:r>
            <a:r>
              <a:rPr lang="es-SV" sz="2500" dirty="0">
                <a:solidFill>
                  <a:schemeClr val="bg1"/>
                </a:solidFill>
              </a:rPr>
              <a:t> </a:t>
            </a:r>
            <a:r>
              <a:rPr lang="es-SV" sz="2500" dirty="0" err="1">
                <a:solidFill>
                  <a:schemeClr val="bg1"/>
                </a:solidFill>
              </a:rPr>
              <a:t>Understanding</a:t>
            </a:r>
            <a:r>
              <a:rPr lang="es-SV" sz="2500" dirty="0">
                <a:solidFill>
                  <a:schemeClr val="bg1"/>
                </a:solidFill>
              </a:rPr>
              <a:t>): El móvil busca "puntos de característica" (esquinas de mesas, texturas en el suelo) para detectar superficies planas.</a:t>
            </a:r>
            <a:endParaRPr lang="en-US" sz="2500" dirty="0">
              <a:solidFill>
                <a:schemeClr val="bg1"/>
              </a:solidFill>
            </a:endParaRPr>
          </a:p>
          <a:p>
            <a:pPr lvl="0"/>
            <a:r>
              <a:rPr lang="es-SV" sz="2500" dirty="0">
                <a:solidFill>
                  <a:schemeClr val="bg1"/>
                </a:solidFill>
              </a:rPr>
              <a:t>Estimación de Luz: La app analiza la iluminación real para que las sombras del objeto virtual coincidan con las del mundo físico, dándole realismo.</a:t>
            </a:r>
            <a:endParaRPr lang="en-US" sz="2500" dirty="0">
              <a:solidFill>
                <a:schemeClr val="bg1"/>
              </a:solidFill>
            </a:endParaRPr>
          </a:p>
          <a:p>
            <a:pPr algn="l">
              <a:lnSpc>
                <a:spcPts val="8400"/>
              </a:lnSpc>
            </a:pPr>
            <a:endParaRPr lang="en-US" sz="6000" b="1" dirty="0">
              <a:solidFill>
                <a:srgbClr val="FFFFFF"/>
              </a:solidFill>
              <a:latin typeface="Now Bold"/>
              <a:ea typeface="Now Bold"/>
              <a:cs typeface="Now Bold"/>
              <a:sym typeface="Now 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457200" y="1703180"/>
            <a:ext cx="8395093" cy="475515"/>
          </a:xfrm>
          <a:prstGeom prst="rect">
            <a:avLst/>
          </a:prstGeom>
        </p:spPr>
        <p:txBody>
          <a:bodyPr lIns="0" tIns="0" rIns="0" bIns="0" rtlCol="0" anchor="t">
            <a:spAutoFit/>
          </a:bodyPr>
          <a:lstStyle/>
          <a:p>
            <a:pPr algn="l">
              <a:lnSpc>
                <a:spcPts val="3959"/>
              </a:lnSpc>
            </a:pPr>
            <a:r>
              <a:rPr lang="en-US" sz="2400" dirty="0">
                <a:solidFill>
                  <a:srgbClr val="FFFFFF"/>
                </a:solidFill>
                <a:latin typeface="Now"/>
                <a:ea typeface="Now"/>
                <a:cs typeface="Now"/>
                <a:sym typeface="Now"/>
              </a:rPr>
              <a:t> </a:t>
            </a:r>
          </a:p>
        </p:txBody>
      </p:sp>
      <p:sp>
        <p:nvSpPr>
          <p:cNvPr id="3" name="TextBox 3"/>
          <p:cNvSpPr txBox="1"/>
          <p:nvPr/>
        </p:nvSpPr>
        <p:spPr>
          <a:xfrm>
            <a:off x="73662" y="0"/>
            <a:ext cx="15849600" cy="861774"/>
          </a:xfrm>
          <a:prstGeom prst="rect">
            <a:avLst/>
          </a:prstGeom>
        </p:spPr>
        <p:txBody>
          <a:bodyPr wrap="square" lIns="0" tIns="0" rIns="0" bIns="0" rtlCol="0" anchor="t">
            <a:spAutoFit/>
          </a:bodyPr>
          <a:lstStyle/>
          <a:p>
            <a:pPr lvl="0"/>
            <a:endParaRPr lang="en-US" sz="2800" dirty="0">
              <a:solidFill>
                <a:schemeClr val="bg1"/>
              </a:solidFill>
            </a:endParaRPr>
          </a:p>
          <a:p>
            <a:r>
              <a:rPr lang="es-419" sz="2800" dirty="0">
                <a:solidFill>
                  <a:schemeClr val="bg1"/>
                </a:solidFill>
              </a:rPr>
              <a:t>• ¿</a:t>
            </a:r>
            <a:r>
              <a:rPr lang="es-419" sz="2600" dirty="0">
                <a:solidFill>
                  <a:schemeClr val="bg1"/>
                </a:solidFill>
                <a:latin typeface="+mj-lt"/>
                <a:cs typeface="Cascadia Code" panose="020B0609020000020004" pitchFamily="49" charset="0"/>
              </a:rPr>
              <a:t>Comparación de Frameworks multiplataforma que soportan </a:t>
            </a:r>
            <a:r>
              <a:rPr lang="es-419" sz="2600" dirty="0">
                <a:solidFill>
                  <a:srgbClr val="FF0000"/>
                </a:solidFill>
                <a:latin typeface="+mj-lt"/>
                <a:cs typeface="Cascadia Code" panose="020B0609020000020004" pitchFamily="49" charset="0"/>
              </a:rPr>
              <a:t>AR</a:t>
            </a:r>
            <a:r>
              <a:rPr lang="es-419" sz="2600" dirty="0">
                <a:solidFill>
                  <a:schemeClr val="bg1"/>
                </a:solidFill>
                <a:latin typeface="+mj-lt"/>
                <a:cs typeface="Cascadia Code" panose="020B0609020000020004" pitchFamily="49" charset="0"/>
              </a:rPr>
              <a:t>: </a:t>
            </a:r>
            <a:r>
              <a:rPr lang="es-419" sz="2600" dirty="0">
                <a:solidFill>
                  <a:srgbClr val="FFC000"/>
                </a:solidFill>
                <a:latin typeface="+mj-lt"/>
                <a:cs typeface="Cascadia Code" panose="020B0609020000020004" pitchFamily="49" charset="0"/>
              </a:rPr>
              <a:t>ARCore (Android), ARKit (iOS), Vuforia y WebXR</a:t>
            </a:r>
            <a:r>
              <a:rPr lang="es-419" sz="2800" dirty="0">
                <a:solidFill>
                  <a:srgbClr val="FFC000"/>
                </a:solidFill>
              </a:rPr>
              <a:t>?</a:t>
            </a:r>
            <a:endParaRPr lang="en-US" sz="2600" b="1" dirty="0">
              <a:solidFill>
                <a:srgbClr val="FFC000"/>
              </a:solidFill>
              <a:latin typeface="+mj-lt"/>
              <a:ea typeface="Now Bold"/>
              <a:cs typeface="Cascadia Code" panose="020B0609020000020004" pitchFamily="49" charset="0"/>
              <a:sym typeface="Now Bold"/>
            </a:endParaRPr>
          </a:p>
        </p:txBody>
      </p:sp>
      <p:sp>
        <p:nvSpPr>
          <p:cNvPr id="4" name="Freeform 4"/>
          <p:cNvSpPr/>
          <p:nvPr/>
        </p:nvSpPr>
        <p:spPr>
          <a:xfrm rot="-7613816">
            <a:off x="9645129" y="10896964"/>
            <a:ext cx="12732378" cy="12203313"/>
          </a:xfrm>
          <a:custGeom>
            <a:avLst/>
            <a:gdLst/>
            <a:ahLst/>
            <a:cxnLst/>
            <a:rect l="l" t="t" r="r" b="b"/>
            <a:pathLst>
              <a:path w="14639359" h="12643082">
                <a:moveTo>
                  <a:pt x="0" y="0"/>
                </a:moveTo>
                <a:lnTo>
                  <a:pt x="14639358" y="0"/>
                </a:lnTo>
                <a:lnTo>
                  <a:pt x="14639358" y="12643082"/>
                </a:lnTo>
                <a:lnTo>
                  <a:pt x="0" y="126430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419"/>
          </a:p>
        </p:txBody>
      </p:sp>
      <p:sp>
        <p:nvSpPr>
          <p:cNvPr id="5" name="Freeform 5"/>
          <p:cNvSpPr/>
          <p:nvPr/>
        </p:nvSpPr>
        <p:spPr>
          <a:xfrm rot="10415872">
            <a:off x="-322326" y="9204510"/>
            <a:ext cx="1243484" cy="1500191"/>
          </a:xfrm>
          <a:custGeom>
            <a:avLst/>
            <a:gdLst/>
            <a:ahLst/>
            <a:cxnLst/>
            <a:rect l="l" t="t" r="r" b="b"/>
            <a:pathLst>
              <a:path w="3212938" h="3212938">
                <a:moveTo>
                  <a:pt x="0" y="0"/>
                </a:moveTo>
                <a:lnTo>
                  <a:pt x="3212939" y="0"/>
                </a:lnTo>
                <a:lnTo>
                  <a:pt x="3212939" y="3212938"/>
                </a:lnTo>
                <a:lnTo>
                  <a:pt x="0" y="321293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419"/>
          </a:p>
        </p:txBody>
      </p:sp>
      <p:sp>
        <p:nvSpPr>
          <p:cNvPr id="6" name="Freeform 6"/>
          <p:cNvSpPr/>
          <p:nvPr/>
        </p:nvSpPr>
        <p:spPr>
          <a:xfrm>
            <a:off x="16815046" y="-238116"/>
            <a:ext cx="1676400" cy="2199780"/>
          </a:xfrm>
          <a:custGeom>
            <a:avLst/>
            <a:gdLst/>
            <a:ahLst/>
            <a:cxnLst/>
            <a:rect l="l" t="t" r="r" b="b"/>
            <a:pathLst>
              <a:path w="6601579" h="6601579">
                <a:moveTo>
                  <a:pt x="0" y="0"/>
                </a:moveTo>
                <a:lnTo>
                  <a:pt x="6601580" y="0"/>
                </a:lnTo>
                <a:lnTo>
                  <a:pt x="6601580" y="6601579"/>
                </a:lnTo>
                <a:lnTo>
                  <a:pt x="0" y="660157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sp>
        <p:nvSpPr>
          <p:cNvPr id="7" name="Rectángulo 6"/>
          <p:cNvSpPr/>
          <p:nvPr/>
        </p:nvSpPr>
        <p:spPr>
          <a:xfrm>
            <a:off x="33670" y="4782600"/>
            <a:ext cx="13773150" cy="1169551"/>
          </a:xfrm>
          <a:prstGeom prst="rect">
            <a:avLst/>
          </a:prstGeom>
        </p:spPr>
        <p:txBody>
          <a:bodyPr wrap="square">
            <a:spAutoFit/>
          </a:bodyPr>
          <a:lstStyle/>
          <a:p>
            <a:pPr>
              <a:lnSpc>
                <a:spcPts val="8400"/>
              </a:lnSpc>
            </a:pPr>
            <a:r>
              <a:rPr lang="es-SV" sz="2500" dirty="0">
                <a:solidFill>
                  <a:schemeClr val="bg1"/>
                </a:solidFill>
              </a:rPr>
              <a:t>• ¿Implementación de </a:t>
            </a:r>
            <a:r>
              <a:rPr lang="es-SV" sz="2500" dirty="0">
                <a:solidFill>
                  <a:srgbClr val="FF0000"/>
                </a:solidFill>
              </a:rPr>
              <a:t>AR</a:t>
            </a:r>
            <a:r>
              <a:rPr lang="es-SV" sz="2500" dirty="0">
                <a:solidFill>
                  <a:schemeClr val="bg1"/>
                </a:solidFill>
              </a:rPr>
              <a:t> en </a:t>
            </a:r>
            <a:r>
              <a:rPr lang="es-SV" sz="2500" dirty="0">
                <a:solidFill>
                  <a:srgbClr val="FF0000"/>
                </a:solidFill>
              </a:rPr>
              <a:t>React Native </a:t>
            </a:r>
            <a:r>
              <a:rPr lang="es-SV" sz="2500" dirty="0">
                <a:solidFill>
                  <a:srgbClr val="FFC000"/>
                </a:solidFill>
              </a:rPr>
              <a:t>(react-native-arkit, ViroReact) y Flutter (ar_flutter_plugin)?</a:t>
            </a:r>
            <a:endParaRPr lang="en-US" sz="2500" dirty="0">
              <a:solidFill>
                <a:srgbClr val="FFC000"/>
              </a:solidFill>
            </a:endParaRPr>
          </a:p>
        </p:txBody>
      </p:sp>
      <p:sp>
        <p:nvSpPr>
          <p:cNvPr id="8" name="TextBox 6"/>
          <p:cNvSpPr txBox="1"/>
          <p:nvPr/>
        </p:nvSpPr>
        <p:spPr>
          <a:xfrm>
            <a:off x="38100" y="5913638"/>
            <a:ext cx="17564100" cy="4231928"/>
          </a:xfrm>
          <a:prstGeom prst="rect">
            <a:avLst/>
          </a:prstGeom>
        </p:spPr>
        <p:txBody>
          <a:bodyPr wrap="square" lIns="0" tIns="0" rIns="0" bIns="0" rtlCol="0" anchor="t">
            <a:spAutoFit/>
          </a:bodyPr>
          <a:lstStyle/>
          <a:p>
            <a:pPr marL="259080" lvl="1">
              <a:lnSpc>
                <a:spcPts val="5472"/>
              </a:lnSpc>
            </a:pPr>
            <a:r>
              <a:rPr lang="es-419" sz="3000" b="1" dirty="0">
                <a:solidFill>
                  <a:srgbClr val="FFC000"/>
                </a:solidFill>
              </a:rPr>
              <a:t>ARKit</a:t>
            </a:r>
            <a:r>
              <a:rPr lang="es-419" sz="3000" dirty="0">
                <a:solidFill>
                  <a:schemeClr val="bg1"/>
                </a:solidFill>
              </a:rPr>
              <a:t> es un </a:t>
            </a:r>
            <a:r>
              <a:rPr lang="es-419" sz="3000" dirty="0">
                <a:solidFill>
                  <a:srgbClr val="FFC000"/>
                </a:solidFill>
              </a:rPr>
              <a:t>framework </a:t>
            </a:r>
            <a:r>
              <a:rPr lang="es-419" sz="3000" dirty="0">
                <a:solidFill>
                  <a:schemeClr val="bg1"/>
                </a:solidFill>
              </a:rPr>
              <a:t>de realidad aumentada desarrollado por Apple para iOS. Permite combinar objetos digitales con el mundo real usando la cámara del dispositivo, detectando superficies, movimiento y luz para colocar elementos virtuales de forma estable. Se usa en iPhone y iPad para apps de juegos, educación, diseño e industria. Su implementación se realiza en </a:t>
            </a:r>
            <a:r>
              <a:rPr lang="es-419" sz="3000" dirty="0" err="1">
                <a:solidFill>
                  <a:schemeClr val="bg1"/>
                </a:solidFill>
              </a:rPr>
              <a:t>Xcode</a:t>
            </a:r>
            <a:r>
              <a:rPr lang="es-419" sz="3000" dirty="0">
                <a:solidFill>
                  <a:schemeClr val="bg1"/>
                </a:solidFill>
              </a:rPr>
              <a:t> usando Swift, importando </a:t>
            </a:r>
            <a:r>
              <a:rPr lang="es-419" sz="3000" dirty="0">
                <a:solidFill>
                  <a:srgbClr val="FFC000"/>
                </a:solidFill>
              </a:rPr>
              <a:t>ARKit</a:t>
            </a:r>
            <a:r>
              <a:rPr lang="es-419" sz="3000" dirty="0">
                <a:solidFill>
                  <a:schemeClr val="bg1"/>
                </a:solidFill>
              </a:rPr>
              <a:t>, creando una configuración como </a:t>
            </a:r>
            <a:r>
              <a:rPr lang="es-419" sz="3000" dirty="0" err="1">
                <a:solidFill>
                  <a:srgbClr val="FFC000"/>
                </a:solidFill>
              </a:rPr>
              <a:t>ARWorldTrackingConfiguration</a:t>
            </a:r>
            <a:r>
              <a:rPr lang="es-419" sz="3000" dirty="0">
                <a:solidFill>
                  <a:schemeClr val="bg1"/>
                </a:solidFill>
              </a:rPr>
              <a:t> y ejecutando una sesión </a:t>
            </a:r>
            <a:r>
              <a:rPr lang="es-419" sz="3000" dirty="0">
                <a:solidFill>
                  <a:srgbClr val="FFC000"/>
                </a:solidFill>
              </a:rPr>
              <a:t>AR</a:t>
            </a:r>
            <a:r>
              <a:rPr lang="es-419" sz="3000" dirty="0">
                <a:solidFill>
                  <a:schemeClr val="bg1"/>
                </a:solidFill>
              </a:rPr>
              <a:t> con la cámara.</a:t>
            </a:r>
            <a:endParaRPr lang="en-US" sz="3000" dirty="0">
              <a:solidFill>
                <a:schemeClr val="bg1"/>
              </a:solidFill>
            </a:endParaRPr>
          </a:p>
          <a:p>
            <a:pPr marL="259080" lvl="1" algn="l">
              <a:lnSpc>
                <a:spcPts val="5472"/>
              </a:lnSpc>
            </a:pPr>
            <a:endParaRPr lang="en-US" sz="2400" dirty="0">
              <a:solidFill>
                <a:srgbClr val="FFFFFF"/>
              </a:solidFill>
              <a:latin typeface="Now"/>
              <a:ea typeface="Now"/>
              <a:cs typeface="Now"/>
              <a:sym typeface="Now"/>
            </a:endParaRPr>
          </a:p>
        </p:txBody>
      </p:sp>
      <p:graphicFrame>
        <p:nvGraphicFramePr>
          <p:cNvPr id="9" name="Tabla 8"/>
          <p:cNvGraphicFramePr>
            <a:graphicFrameLocks noGrp="1"/>
          </p:cNvGraphicFramePr>
          <p:nvPr>
            <p:extLst>
              <p:ext uri="{D42A27DB-BD31-4B8C-83A1-F6EECF244321}">
                <p14:modId xmlns:p14="http://schemas.microsoft.com/office/powerpoint/2010/main" val="759682255"/>
              </p:ext>
            </p:extLst>
          </p:nvPr>
        </p:nvGraphicFramePr>
        <p:xfrm>
          <a:off x="299416" y="1012933"/>
          <a:ext cx="16083584" cy="4071250"/>
        </p:xfrm>
        <a:graphic>
          <a:graphicData uri="http://schemas.openxmlformats.org/drawingml/2006/table">
            <a:tbl>
              <a:tblPr firstRow="1" firstCol="1" bandRow="1">
                <a:tableStyleId>{5C22544A-7EE6-4342-B048-85BDC9FD1C3A}</a:tableStyleId>
              </a:tblPr>
              <a:tblGrid>
                <a:gridCol w="2690119">
                  <a:extLst>
                    <a:ext uri="{9D8B030D-6E8A-4147-A177-3AD203B41FA5}">
                      <a16:colId xmlns:a16="http://schemas.microsoft.com/office/drawing/2014/main" val="1887822543"/>
                    </a:ext>
                  </a:extLst>
                </a:gridCol>
                <a:gridCol w="3331636">
                  <a:extLst>
                    <a:ext uri="{9D8B030D-6E8A-4147-A177-3AD203B41FA5}">
                      <a16:colId xmlns:a16="http://schemas.microsoft.com/office/drawing/2014/main" val="557561244"/>
                    </a:ext>
                  </a:extLst>
                </a:gridCol>
                <a:gridCol w="5398194">
                  <a:extLst>
                    <a:ext uri="{9D8B030D-6E8A-4147-A177-3AD203B41FA5}">
                      <a16:colId xmlns:a16="http://schemas.microsoft.com/office/drawing/2014/main" val="1357795370"/>
                    </a:ext>
                  </a:extLst>
                </a:gridCol>
                <a:gridCol w="4663635">
                  <a:extLst>
                    <a:ext uri="{9D8B030D-6E8A-4147-A177-3AD203B41FA5}">
                      <a16:colId xmlns:a16="http://schemas.microsoft.com/office/drawing/2014/main" val="1491436045"/>
                    </a:ext>
                  </a:extLst>
                </a:gridCol>
              </a:tblGrid>
              <a:tr h="814250">
                <a:tc>
                  <a:txBody>
                    <a:bodyPr/>
                    <a:lstStyle/>
                    <a:p>
                      <a:pPr algn="ctr">
                        <a:lnSpc>
                          <a:spcPct val="107000"/>
                        </a:lnSpc>
                        <a:spcAft>
                          <a:spcPts val="0"/>
                        </a:spcAft>
                      </a:pPr>
                      <a:r>
                        <a:rPr lang="en-US" sz="1200">
                          <a:effectLst/>
                        </a:rPr>
                        <a:t>Framework</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114300" marT="152400" marB="152400" anchor="ctr"/>
                </a:tc>
                <a:tc>
                  <a:txBody>
                    <a:bodyPr/>
                    <a:lstStyle/>
                    <a:p>
                      <a:pPr algn="ctr">
                        <a:lnSpc>
                          <a:spcPct val="107000"/>
                        </a:lnSpc>
                        <a:spcAft>
                          <a:spcPts val="0"/>
                        </a:spcAft>
                      </a:pPr>
                      <a:r>
                        <a:rPr lang="en-US" sz="1200">
                          <a:effectLst/>
                        </a:rPr>
                        <a:t>Plataforma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114300" marT="152400" marB="152400" anchor="ctr"/>
                </a:tc>
                <a:tc>
                  <a:txBody>
                    <a:bodyPr/>
                    <a:lstStyle/>
                    <a:p>
                      <a:pPr algn="ctr">
                        <a:lnSpc>
                          <a:spcPct val="107000"/>
                        </a:lnSpc>
                        <a:spcAft>
                          <a:spcPts val="0"/>
                        </a:spcAft>
                      </a:pPr>
                      <a:r>
                        <a:rPr lang="en-US" sz="1200">
                          <a:effectLst/>
                        </a:rPr>
                        <a:t>Fortaleza Principal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114300" marT="152400" marB="152400" anchor="ctr"/>
                </a:tc>
                <a:tc>
                  <a:txBody>
                    <a:bodyPr/>
                    <a:lstStyle/>
                    <a:p>
                      <a:pPr algn="ctr">
                        <a:lnSpc>
                          <a:spcPct val="107000"/>
                        </a:lnSpc>
                        <a:spcAft>
                          <a:spcPts val="0"/>
                        </a:spcAft>
                      </a:pPr>
                      <a:r>
                        <a:rPr lang="en-US" sz="1200" dirty="0">
                          <a:effectLst/>
                        </a:rPr>
                        <a:t>Ideal para: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152400" marB="152400" anchor="ctr"/>
                </a:tc>
                <a:extLst>
                  <a:ext uri="{0D108BD9-81ED-4DB2-BD59-A6C34878D82A}">
                    <a16:rowId xmlns:a16="http://schemas.microsoft.com/office/drawing/2014/main" val="4030240089"/>
                  </a:ext>
                </a:extLst>
              </a:tr>
              <a:tr h="814250">
                <a:tc>
                  <a:txBody>
                    <a:bodyPr/>
                    <a:lstStyle/>
                    <a:p>
                      <a:pPr algn="ctr">
                        <a:lnSpc>
                          <a:spcPct val="107000"/>
                        </a:lnSpc>
                        <a:spcAft>
                          <a:spcPts val="0"/>
                        </a:spcAft>
                      </a:pPr>
                      <a:r>
                        <a:rPr lang="en-US" sz="1200">
                          <a:effectLst/>
                        </a:rPr>
                        <a:t>ARKit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114300" marT="152400" marB="152400" anchor="ctr"/>
                </a:tc>
                <a:tc>
                  <a:txBody>
                    <a:bodyPr/>
                    <a:lstStyle/>
                    <a:p>
                      <a:pPr algn="ctr">
                        <a:lnSpc>
                          <a:spcPct val="107000"/>
                        </a:lnSpc>
                        <a:spcAft>
                          <a:spcPts val="0"/>
                        </a:spcAft>
                      </a:pPr>
                      <a:r>
                        <a:rPr lang="en-US" sz="1200">
                          <a:effectLst/>
                        </a:rPr>
                        <a:t>Solo iOS (Apple)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114300" marT="152400" marB="152400" anchor="ctr"/>
                </a:tc>
                <a:tc>
                  <a:txBody>
                    <a:bodyPr/>
                    <a:lstStyle/>
                    <a:p>
                      <a:pPr algn="ctr">
                        <a:lnSpc>
                          <a:spcPct val="107000"/>
                        </a:lnSpc>
                        <a:spcAft>
                          <a:spcPts val="0"/>
                        </a:spcAft>
                      </a:pPr>
                      <a:r>
                        <a:rPr lang="es-SV" sz="1200">
                          <a:effectLst/>
                        </a:rPr>
                        <a:t>Máxima optimización y uso de LiDAR para profundidad precisa.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114300" marT="152400" marB="152400" anchor="ctr"/>
                </a:tc>
                <a:tc>
                  <a:txBody>
                    <a:bodyPr/>
                    <a:lstStyle/>
                    <a:p>
                      <a:pPr algn="ctr">
                        <a:lnSpc>
                          <a:spcPct val="107000"/>
                        </a:lnSpc>
                        <a:spcAft>
                          <a:spcPts val="0"/>
                        </a:spcAft>
                      </a:pPr>
                      <a:r>
                        <a:rPr lang="es-SV" sz="1200" dirty="0">
                          <a:effectLst/>
                        </a:rPr>
                        <a:t>Apps de alta fidelidad exclusivas para iPhone/iPad.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152400" marB="152400" anchor="ctr"/>
                </a:tc>
                <a:extLst>
                  <a:ext uri="{0D108BD9-81ED-4DB2-BD59-A6C34878D82A}">
                    <a16:rowId xmlns:a16="http://schemas.microsoft.com/office/drawing/2014/main" val="2595121621"/>
                  </a:ext>
                </a:extLst>
              </a:tr>
              <a:tr h="814250">
                <a:tc>
                  <a:txBody>
                    <a:bodyPr/>
                    <a:lstStyle/>
                    <a:p>
                      <a:pPr algn="ctr">
                        <a:lnSpc>
                          <a:spcPct val="107000"/>
                        </a:lnSpc>
                        <a:spcAft>
                          <a:spcPts val="0"/>
                        </a:spcAft>
                      </a:pPr>
                      <a:r>
                        <a:rPr lang="en-US" sz="1200">
                          <a:effectLst/>
                        </a:rPr>
                        <a:t>ARCore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114300" marT="152400" marB="152400" anchor="ctr"/>
                </a:tc>
                <a:tc>
                  <a:txBody>
                    <a:bodyPr/>
                    <a:lstStyle/>
                    <a:p>
                      <a:pPr algn="ctr">
                        <a:lnSpc>
                          <a:spcPct val="107000"/>
                        </a:lnSpc>
                        <a:spcAft>
                          <a:spcPts val="0"/>
                        </a:spcAft>
                      </a:pPr>
                      <a:r>
                        <a:rPr lang="en-US" sz="1200">
                          <a:effectLst/>
                        </a:rPr>
                        <a:t>Android (y algunos iOS)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114300" marT="152400" marB="152400" anchor="ctr"/>
                </a:tc>
                <a:tc>
                  <a:txBody>
                    <a:bodyPr/>
                    <a:lstStyle/>
                    <a:p>
                      <a:pPr algn="ctr">
                        <a:lnSpc>
                          <a:spcPct val="107000"/>
                        </a:lnSpc>
                        <a:spcAft>
                          <a:spcPts val="0"/>
                        </a:spcAft>
                      </a:pPr>
                      <a:r>
                        <a:rPr lang="es-SV" sz="1200">
                          <a:effectLst/>
                        </a:rPr>
                        <a:t>Gran alcance de dispositivos y excelentes Cloud Anchors (AR persistente).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114300" marT="152400" marB="152400" anchor="ctr"/>
                </a:tc>
                <a:tc>
                  <a:txBody>
                    <a:bodyPr/>
                    <a:lstStyle/>
                    <a:p>
                      <a:pPr algn="ctr">
                        <a:lnSpc>
                          <a:spcPct val="107000"/>
                        </a:lnSpc>
                        <a:spcAft>
                          <a:spcPts val="0"/>
                        </a:spcAft>
                      </a:pPr>
                      <a:r>
                        <a:rPr lang="es-SV" sz="1200" dirty="0">
                          <a:effectLst/>
                        </a:rPr>
                        <a:t>Apps masivas para el ecosistema Android.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152400" marB="152400" anchor="ctr"/>
                </a:tc>
                <a:extLst>
                  <a:ext uri="{0D108BD9-81ED-4DB2-BD59-A6C34878D82A}">
                    <a16:rowId xmlns:a16="http://schemas.microsoft.com/office/drawing/2014/main" val="2432851612"/>
                  </a:ext>
                </a:extLst>
              </a:tr>
              <a:tr h="814250">
                <a:tc>
                  <a:txBody>
                    <a:bodyPr/>
                    <a:lstStyle/>
                    <a:p>
                      <a:pPr algn="ctr">
                        <a:lnSpc>
                          <a:spcPct val="107000"/>
                        </a:lnSpc>
                        <a:spcAft>
                          <a:spcPts val="0"/>
                        </a:spcAft>
                      </a:pPr>
                      <a:r>
                        <a:rPr lang="en-US" sz="1200">
                          <a:effectLst/>
                        </a:rPr>
                        <a:t>Vuforia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114300" marT="152400" marB="152400" anchor="ctr"/>
                </a:tc>
                <a:tc>
                  <a:txBody>
                    <a:bodyPr/>
                    <a:lstStyle/>
                    <a:p>
                      <a:pPr algn="ctr">
                        <a:lnSpc>
                          <a:spcPct val="107000"/>
                        </a:lnSpc>
                        <a:spcAft>
                          <a:spcPts val="0"/>
                        </a:spcAft>
                      </a:pPr>
                      <a:r>
                        <a:rPr lang="en-US" sz="1200">
                          <a:effectLst/>
                        </a:rPr>
                        <a:t>Multiplataforma (iOS, Android, Windows)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114300" marT="152400" marB="152400" anchor="ctr"/>
                </a:tc>
                <a:tc>
                  <a:txBody>
                    <a:bodyPr/>
                    <a:lstStyle/>
                    <a:p>
                      <a:pPr algn="ctr">
                        <a:lnSpc>
                          <a:spcPct val="107000"/>
                        </a:lnSpc>
                        <a:spcAft>
                          <a:spcPts val="0"/>
                        </a:spcAft>
                      </a:pPr>
                      <a:r>
                        <a:rPr lang="es-SV" sz="1200">
                          <a:effectLst/>
                        </a:rPr>
                        <a:t>El mejor reconocimiento de objetos 3D y modelos industriales.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114300" marT="152400" marB="152400" anchor="ctr"/>
                </a:tc>
                <a:tc>
                  <a:txBody>
                    <a:bodyPr/>
                    <a:lstStyle/>
                    <a:p>
                      <a:pPr algn="ctr">
                        <a:lnSpc>
                          <a:spcPct val="107000"/>
                        </a:lnSpc>
                        <a:spcAft>
                          <a:spcPts val="0"/>
                        </a:spcAft>
                      </a:pPr>
                      <a:r>
                        <a:rPr lang="es-SV" sz="1200">
                          <a:effectLst/>
                        </a:rPr>
                        <a:t>Entornos industriales, manuales de reparación y marketing.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152400" marB="152400" anchor="ctr"/>
                </a:tc>
                <a:extLst>
                  <a:ext uri="{0D108BD9-81ED-4DB2-BD59-A6C34878D82A}">
                    <a16:rowId xmlns:a16="http://schemas.microsoft.com/office/drawing/2014/main" val="3931994467"/>
                  </a:ext>
                </a:extLst>
              </a:tr>
              <a:tr h="814250">
                <a:tc>
                  <a:txBody>
                    <a:bodyPr/>
                    <a:lstStyle/>
                    <a:p>
                      <a:pPr algn="ctr">
                        <a:lnSpc>
                          <a:spcPct val="107000"/>
                        </a:lnSpc>
                        <a:spcAft>
                          <a:spcPts val="0"/>
                        </a:spcAft>
                      </a:pPr>
                      <a:r>
                        <a:rPr lang="en-US" sz="1200">
                          <a:effectLst/>
                        </a:rPr>
                        <a:t>WebXR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114300" marT="152400" marB="152400" anchor="ctr"/>
                </a:tc>
                <a:tc>
                  <a:txBody>
                    <a:bodyPr/>
                    <a:lstStyle/>
                    <a:p>
                      <a:pPr algn="ctr">
                        <a:lnSpc>
                          <a:spcPct val="107000"/>
                        </a:lnSpc>
                        <a:spcAft>
                          <a:spcPts val="0"/>
                        </a:spcAft>
                      </a:pPr>
                      <a:r>
                        <a:rPr lang="en-US" sz="1200">
                          <a:effectLst/>
                        </a:rPr>
                        <a:t>Navegadores Web (Chrome, Safari)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114300" marT="152400" marB="152400" anchor="ctr"/>
                </a:tc>
                <a:tc>
                  <a:txBody>
                    <a:bodyPr/>
                    <a:lstStyle/>
                    <a:p>
                      <a:pPr algn="ctr">
                        <a:lnSpc>
                          <a:spcPct val="107000"/>
                        </a:lnSpc>
                        <a:spcAft>
                          <a:spcPts val="0"/>
                        </a:spcAft>
                      </a:pPr>
                      <a:r>
                        <a:rPr lang="es-SV" sz="1200">
                          <a:effectLst/>
                        </a:rPr>
                        <a:t>Sin instalación. Funciona mediante un enlace o código QR.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0" marR="114300" marT="152400" marB="152400" anchor="ctr"/>
                </a:tc>
                <a:tc>
                  <a:txBody>
                    <a:bodyPr/>
                    <a:lstStyle/>
                    <a:p>
                      <a:pPr algn="ctr">
                        <a:lnSpc>
                          <a:spcPct val="107000"/>
                        </a:lnSpc>
                        <a:spcAft>
                          <a:spcPts val="0"/>
                        </a:spcAft>
                      </a:pPr>
                      <a:r>
                        <a:rPr lang="es-SV" sz="1200" dirty="0">
                          <a:effectLst/>
                        </a:rPr>
                        <a:t>Visualización rápida de datos IoT, e-</a:t>
                      </a:r>
                      <a:r>
                        <a:rPr lang="es-SV" sz="1200" dirty="0" err="1">
                          <a:effectLst/>
                        </a:rPr>
                        <a:t>commerce</a:t>
                      </a:r>
                      <a:r>
                        <a:rPr lang="es-SV" sz="1200" dirty="0">
                          <a:effectLst/>
                        </a:rPr>
                        <a:t> y educación.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152400" marB="152400" anchor="ctr"/>
                </a:tc>
                <a:extLst>
                  <a:ext uri="{0D108BD9-81ED-4DB2-BD59-A6C34878D82A}">
                    <a16:rowId xmlns:a16="http://schemas.microsoft.com/office/drawing/2014/main" val="538349401"/>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9028477">
            <a:off x="12305383" y="-5931156"/>
            <a:ext cx="11966162" cy="8251384"/>
          </a:xfrm>
          <a:custGeom>
            <a:avLst/>
            <a:gdLst/>
            <a:ahLst/>
            <a:cxnLst/>
            <a:rect l="l" t="t" r="r" b="b"/>
            <a:pathLst>
              <a:path w="14639359" h="12643082">
                <a:moveTo>
                  <a:pt x="0" y="0"/>
                </a:moveTo>
                <a:lnTo>
                  <a:pt x="14639358" y="0"/>
                </a:lnTo>
                <a:lnTo>
                  <a:pt x="14639358" y="12643083"/>
                </a:lnTo>
                <a:lnTo>
                  <a:pt x="0" y="1264308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419"/>
          </a:p>
        </p:txBody>
      </p:sp>
      <p:sp>
        <p:nvSpPr>
          <p:cNvPr id="8" name="Freeform 8"/>
          <p:cNvSpPr/>
          <p:nvPr/>
        </p:nvSpPr>
        <p:spPr>
          <a:xfrm rot="-5725674">
            <a:off x="-4753693" y="9145190"/>
            <a:ext cx="14639359" cy="12643082"/>
          </a:xfrm>
          <a:custGeom>
            <a:avLst/>
            <a:gdLst/>
            <a:ahLst/>
            <a:cxnLst/>
            <a:rect l="l" t="t" r="r" b="b"/>
            <a:pathLst>
              <a:path w="14639359" h="12643082">
                <a:moveTo>
                  <a:pt x="0" y="0"/>
                </a:moveTo>
                <a:lnTo>
                  <a:pt x="14639359" y="0"/>
                </a:lnTo>
                <a:lnTo>
                  <a:pt x="14639359" y="12643083"/>
                </a:lnTo>
                <a:lnTo>
                  <a:pt x="0" y="1264308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419"/>
          </a:p>
        </p:txBody>
      </p:sp>
      <p:sp>
        <p:nvSpPr>
          <p:cNvPr id="9" name="Freeform 9"/>
          <p:cNvSpPr/>
          <p:nvPr/>
        </p:nvSpPr>
        <p:spPr>
          <a:xfrm rot="10415872">
            <a:off x="16918119" y="1836488"/>
            <a:ext cx="1731124" cy="1494408"/>
          </a:xfrm>
          <a:custGeom>
            <a:avLst/>
            <a:gdLst/>
            <a:ahLst/>
            <a:cxnLst/>
            <a:rect l="l" t="t" r="r" b="b"/>
            <a:pathLst>
              <a:path w="3212938" h="3212938">
                <a:moveTo>
                  <a:pt x="0" y="0"/>
                </a:moveTo>
                <a:lnTo>
                  <a:pt x="3212939" y="0"/>
                </a:lnTo>
                <a:lnTo>
                  <a:pt x="3212939" y="3212938"/>
                </a:lnTo>
                <a:lnTo>
                  <a:pt x="0" y="321293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419"/>
          </a:p>
        </p:txBody>
      </p:sp>
      <p:sp>
        <p:nvSpPr>
          <p:cNvPr id="10" name="Freeform 10"/>
          <p:cNvSpPr/>
          <p:nvPr/>
        </p:nvSpPr>
        <p:spPr>
          <a:xfrm>
            <a:off x="-152400" y="8801100"/>
            <a:ext cx="2148142" cy="2559058"/>
          </a:xfrm>
          <a:custGeom>
            <a:avLst/>
            <a:gdLst/>
            <a:ahLst/>
            <a:cxnLst/>
            <a:rect l="l" t="t" r="r" b="b"/>
            <a:pathLst>
              <a:path w="3043256" h="3043256">
                <a:moveTo>
                  <a:pt x="0" y="0"/>
                </a:moveTo>
                <a:lnTo>
                  <a:pt x="3043256" y="0"/>
                </a:lnTo>
                <a:lnTo>
                  <a:pt x="3043256" y="3043255"/>
                </a:lnTo>
                <a:lnTo>
                  <a:pt x="0" y="304325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sp>
        <p:nvSpPr>
          <p:cNvPr id="14" name="TextBox 8"/>
          <p:cNvSpPr txBox="1"/>
          <p:nvPr/>
        </p:nvSpPr>
        <p:spPr>
          <a:xfrm>
            <a:off x="-228600" y="0"/>
            <a:ext cx="13735536" cy="897553"/>
          </a:xfrm>
          <a:prstGeom prst="rect">
            <a:avLst/>
          </a:prstGeom>
        </p:spPr>
        <p:txBody>
          <a:bodyPr wrap="square" lIns="0" tIns="0" rIns="0" bIns="0" rtlCol="0" anchor="t">
            <a:spAutoFit/>
          </a:bodyPr>
          <a:lstStyle/>
          <a:p>
            <a:pPr algn="ctr">
              <a:lnSpc>
                <a:spcPts val="8400"/>
              </a:lnSpc>
            </a:pPr>
            <a:r>
              <a:rPr lang="es-419" sz="2400" dirty="0">
                <a:solidFill>
                  <a:schemeClr val="bg1"/>
                </a:solidFill>
              </a:rPr>
              <a:t>• ¿Casos de uso en la industria: Ejemplos de apps que usan </a:t>
            </a:r>
            <a:r>
              <a:rPr lang="es-419" sz="2400" dirty="0">
                <a:solidFill>
                  <a:srgbClr val="FF0000"/>
                </a:solidFill>
              </a:rPr>
              <a:t>AR</a:t>
            </a:r>
            <a:r>
              <a:rPr lang="es-419" sz="2400" dirty="0">
                <a:solidFill>
                  <a:schemeClr val="bg1"/>
                </a:solidFill>
              </a:rPr>
              <a:t> para visualizar información de sensores </a:t>
            </a:r>
            <a:r>
              <a:rPr lang="es-419" sz="2400" dirty="0">
                <a:solidFill>
                  <a:srgbClr val="FFC000"/>
                </a:solidFill>
              </a:rPr>
              <a:t>IoT</a:t>
            </a:r>
            <a:r>
              <a:rPr lang="es-419" sz="2400" dirty="0">
                <a:solidFill>
                  <a:schemeClr val="bg1"/>
                </a:solidFill>
              </a:rPr>
              <a:t>? </a:t>
            </a:r>
            <a:endParaRPr lang="en-US" sz="2400" b="1" dirty="0">
              <a:solidFill>
                <a:schemeClr val="bg1"/>
              </a:solidFill>
              <a:latin typeface="Now Bold"/>
              <a:ea typeface="Now Bold"/>
              <a:cs typeface="Now Bold"/>
              <a:sym typeface="Now Bold"/>
            </a:endParaRPr>
          </a:p>
        </p:txBody>
      </p:sp>
      <p:sp>
        <p:nvSpPr>
          <p:cNvPr id="15" name="TextBox 10"/>
          <p:cNvSpPr txBox="1"/>
          <p:nvPr/>
        </p:nvSpPr>
        <p:spPr>
          <a:xfrm>
            <a:off x="152400" y="1562100"/>
            <a:ext cx="16932137" cy="5463034"/>
          </a:xfrm>
          <a:prstGeom prst="rect">
            <a:avLst/>
          </a:prstGeom>
        </p:spPr>
        <p:txBody>
          <a:bodyPr wrap="square" lIns="0" tIns="0" rIns="0" bIns="0" rtlCol="0" anchor="t">
            <a:spAutoFit/>
          </a:bodyPr>
          <a:lstStyle/>
          <a:p>
            <a:r>
              <a:rPr lang="es-419" sz="3000" dirty="0">
                <a:solidFill>
                  <a:srgbClr val="FF0000"/>
                </a:solidFill>
              </a:rPr>
              <a:t>Aplicación</a:t>
            </a:r>
          </a:p>
          <a:p>
            <a:endParaRPr lang="en-US" sz="3000" dirty="0">
              <a:solidFill>
                <a:srgbClr val="FF0000"/>
              </a:solidFill>
            </a:endParaRPr>
          </a:p>
          <a:p>
            <a:r>
              <a:rPr lang="es-419" sz="3000" dirty="0" err="1">
                <a:solidFill>
                  <a:srgbClr val="00B050"/>
                </a:solidFill>
              </a:rPr>
              <a:t>MindSphere</a:t>
            </a:r>
            <a:endParaRPr lang="es-419" sz="3000" dirty="0">
              <a:solidFill>
                <a:srgbClr val="00B050"/>
              </a:solidFill>
            </a:endParaRPr>
          </a:p>
          <a:p>
            <a:endParaRPr lang="en-US" sz="3000" dirty="0">
              <a:solidFill>
                <a:srgbClr val="00B050"/>
              </a:solidFill>
            </a:endParaRPr>
          </a:p>
          <a:p>
            <a:r>
              <a:rPr lang="es-419" sz="3000" dirty="0">
                <a:solidFill>
                  <a:schemeClr val="bg1"/>
                </a:solidFill>
              </a:rPr>
              <a:t>Siemens desarrolló la plataforma </a:t>
            </a:r>
            <a:r>
              <a:rPr lang="es-419" sz="3000" dirty="0" err="1">
                <a:solidFill>
                  <a:schemeClr val="bg1"/>
                </a:solidFill>
              </a:rPr>
              <a:t>MindSphere</a:t>
            </a:r>
            <a:r>
              <a:rPr lang="es-419" sz="3000" dirty="0">
                <a:solidFill>
                  <a:schemeClr val="bg1"/>
                </a:solidFill>
              </a:rPr>
              <a:t>, actualmente conocida como </a:t>
            </a:r>
            <a:r>
              <a:rPr lang="es-419" sz="3000" dirty="0" err="1">
                <a:solidFill>
                  <a:schemeClr val="bg1"/>
                </a:solidFill>
              </a:rPr>
              <a:t>Insights</a:t>
            </a:r>
            <a:r>
              <a:rPr lang="es-419" sz="3000" dirty="0">
                <a:solidFill>
                  <a:schemeClr val="bg1"/>
                </a:solidFill>
              </a:rPr>
              <a:t> </a:t>
            </a:r>
            <a:r>
              <a:rPr lang="es-419" sz="3000" dirty="0" err="1">
                <a:solidFill>
                  <a:schemeClr val="bg1"/>
                </a:solidFill>
              </a:rPr>
              <a:t>Hub</a:t>
            </a:r>
            <a:r>
              <a:rPr lang="es-419" sz="3000" dirty="0">
                <a:solidFill>
                  <a:schemeClr val="bg1"/>
                </a:solidFill>
              </a:rPr>
              <a:t>, como una solución de Internet de las Cosas (IoT) industrial que permite conectar máquinas, sensores y sistemas de producción para recopilar y analizar datos en tiempo real. Esta plataforma no es una aplicación de realidad aumentada por sí sola, pero actúa como base para integrar soluciones AR dentro del entorno industrial, ya que proporciona los datos necesarios provenientes de sensores instalados en equipos industriales. Estos sensores registran variables como temperatura, vibración, consumo energético, presión, velocidad de producción y posibles fallas en los sistemas.</a:t>
            </a:r>
            <a:endParaRPr lang="en-US" sz="3000" dirty="0">
              <a:solidFill>
                <a:schemeClr val="bg1"/>
              </a:solidFill>
            </a:endParaRPr>
          </a:p>
          <a:p>
            <a:pPr algn="ctr">
              <a:lnSpc>
                <a:spcPts val="2970"/>
              </a:lnSpc>
            </a:pPr>
            <a:r>
              <a:rPr lang="en-US" sz="1800" dirty="0">
                <a:solidFill>
                  <a:srgbClr val="FFFFFF"/>
                </a:solidFill>
                <a:latin typeface="Now"/>
                <a:ea typeface="Now"/>
                <a:cs typeface="Now"/>
                <a:sym typeface="Now"/>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7373600" y="190500"/>
            <a:ext cx="895350" cy="1382018"/>
          </a:xfrm>
          <a:custGeom>
            <a:avLst/>
            <a:gdLst/>
            <a:ahLst/>
            <a:cxnLst/>
            <a:rect l="l" t="t" r="r" b="b"/>
            <a:pathLst>
              <a:path w="1811250" h="2012500">
                <a:moveTo>
                  <a:pt x="0" y="0"/>
                </a:moveTo>
                <a:lnTo>
                  <a:pt x="1811251" y="0"/>
                </a:lnTo>
                <a:lnTo>
                  <a:pt x="1811251" y="2012501"/>
                </a:lnTo>
                <a:lnTo>
                  <a:pt x="0" y="201250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419"/>
          </a:p>
        </p:txBody>
      </p:sp>
      <p:sp>
        <p:nvSpPr>
          <p:cNvPr id="3" name="Freeform 3"/>
          <p:cNvSpPr/>
          <p:nvPr/>
        </p:nvSpPr>
        <p:spPr>
          <a:xfrm>
            <a:off x="-228600" y="9067316"/>
            <a:ext cx="1361578" cy="1142032"/>
          </a:xfrm>
          <a:custGeom>
            <a:avLst/>
            <a:gdLst/>
            <a:ahLst/>
            <a:cxnLst/>
            <a:rect l="l" t="t" r="r" b="b"/>
            <a:pathLst>
              <a:path w="2107552" h="1820159">
                <a:moveTo>
                  <a:pt x="0" y="0"/>
                </a:moveTo>
                <a:lnTo>
                  <a:pt x="2107552" y="0"/>
                </a:lnTo>
                <a:lnTo>
                  <a:pt x="2107552" y="1820159"/>
                </a:lnTo>
                <a:lnTo>
                  <a:pt x="0" y="182015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419"/>
          </a:p>
        </p:txBody>
      </p:sp>
      <p:sp>
        <p:nvSpPr>
          <p:cNvPr id="4" name="Freeform 4"/>
          <p:cNvSpPr/>
          <p:nvPr/>
        </p:nvSpPr>
        <p:spPr>
          <a:xfrm>
            <a:off x="17526000" y="8895382"/>
            <a:ext cx="914400" cy="1446832"/>
          </a:xfrm>
          <a:custGeom>
            <a:avLst/>
            <a:gdLst/>
            <a:ahLst/>
            <a:cxnLst/>
            <a:rect l="l" t="t" r="r" b="b"/>
            <a:pathLst>
              <a:path w="1852993" h="1908513">
                <a:moveTo>
                  <a:pt x="0" y="0"/>
                </a:moveTo>
                <a:lnTo>
                  <a:pt x="1852993" y="0"/>
                </a:lnTo>
                <a:lnTo>
                  <a:pt x="1852993" y="1908513"/>
                </a:lnTo>
                <a:lnTo>
                  <a:pt x="0" y="190851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sp>
        <p:nvSpPr>
          <p:cNvPr id="12" name="TextBox 2"/>
          <p:cNvSpPr txBox="1"/>
          <p:nvPr/>
        </p:nvSpPr>
        <p:spPr>
          <a:xfrm>
            <a:off x="187901" y="824716"/>
            <a:ext cx="17938174" cy="5834931"/>
          </a:xfrm>
          <a:prstGeom prst="rect">
            <a:avLst/>
          </a:prstGeom>
        </p:spPr>
        <p:txBody>
          <a:bodyPr wrap="square" lIns="0" tIns="0" rIns="0" bIns="0" rtlCol="0" anchor="t">
            <a:spAutoFit/>
          </a:bodyPr>
          <a:lstStyle/>
          <a:p>
            <a:pPr algn="ctr">
              <a:lnSpc>
                <a:spcPts val="6465"/>
              </a:lnSpc>
            </a:pPr>
            <a:r>
              <a:rPr lang="es-419" sz="3300" dirty="0">
                <a:solidFill>
                  <a:srgbClr val="FFC000"/>
                </a:solidFill>
              </a:rPr>
              <a:t>¿Aplicaciones</a:t>
            </a:r>
            <a:r>
              <a:rPr lang="es-419" sz="3300" dirty="0">
                <a:solidFill>
                  <a:srgbClr val="FF0000"/>
                </a:solidFill>
              </a:rPr>
              <a:t> IoT </a:t>
            </a:r>
            <a:r>
              <a:rPr lang="es-419" sz="3300" dirty="0">
                <a:solidFill>
                  <a:srgbClr val="FFC000"/>
                </a:solidFill>
              </a:rPr>
              <a:t>en el </a:t>
            </a:r>
            <a:r>
              <a:rPr lang="es-419" sz="3300" dirty="0">
                <a:solidFill>
                  <a:srgbClr val="FF0000"/>
                </a:solidFill>
              </a:rPr>
              <a:t>Desarrollo Multiplataforma?</a:t>
            </a:r>
          </a:p>
          <a:p>
            <a:pPr algn="ctr">
              <a:lnSpc>
                <a:spcPts val="6465"/>
              </a:lnSpc>
            </a:pPr>
            <a:r>
              <a:rPr lang="es-SV" sz="3000" dirty="0">
                <a:solidFill>
                  <a:schemeClr val="bg1"/>
                </a:solidFill>
              </a:rPr>
              <a:t>El Internet de las Cosas </a:t>
            </a:r>
            <a:r>
              <a:rPr lang="es-SV" sz="3000" dirty="0">
                <a:solidFill>
                  <a:srgbClr val="FF0000"/>
                </a:solidFill>
              </a:rPr>
              <a:t>(IoT) </a:t>
            </a:r>
            <a:r>
              <a:rPr lang="es-SV" sz="3000" dirty="0">
                <a:solidFill>
                  <a:schemeClr val="bg1"/>
                </a:solidFill>
              </a:rPr>
              <a:t>se refiere a la red de objetos físicos ("cosas") que llevan incorporados sensores, software y otras tecnologías con el fin de conectar e intercambiar datos con otros dispositivos y sistemas a través de Internet.</a:t>
            </a:r>
            <a:endParaRPr lang="en-US" sz="3000" dirty="0">
              <a:solidFill>
                <a:schemeClr val="bg1"/>
              </a:solidFill>
            </a:endParaRPr>
          </a:p>
          <a:p>
            <a:pPr algn="ctr">
              <a:lnSpc>
                <a:spcPts val="6465"/>
              </a:lnSpc>
            </a:pPr>
            <a:endParaRPr lang="es-419" sz="2400" dirty="0">
              <a:solidFill>
                <a:srgbClr val="FF0000"/>
              </a:solidFill>
            </a:endParaRPr>
          </a:p>
          <a:p>
            <a:pPr algn="ctr">
              <a:lnSpc>
                <a:spcPts val="6465"/>
              </a:lnSpc>
            </a:pPr>
            <a:r>
              <a:rPr lang="es-419" sz="2400" dirty="0">
                <a:solidFill>
                  <a:srgbClr val="FF0000"/>
                </a:solidFill>
              </a:rPr>
              <a:t> </a:t>
            </a:r>
            <a:endParaRPr lang="en-US" sz="2400" dirty="0">
              <a:solidFill>
                <a:srgbClr val="FF0000"/>
              </a:solidFill>
            </a:endParaRPr>
          </a:p>
          <a:p>
            <a:pPr algn="l">
              <a:lnSpc>
                <a:spcPts val="6465"/>
              </a:lnSpc>
            </a:pPr>
            <a:endParaRPr lang="en-US" sz="6099" b="1" dirty="0">
              <a:solidFill>
                <a:srgbClr val="FFFFFF"/>
              </a:solidFill>
              <a:latin typeface="Now Bold"/>
              <a:ea typeface="Now Bold"/>
              <a:cs typeface="Now Bold"/>
              <a:sym typeface="Now Bold"/>
            </a:endParaRPr>
          </a:p>
        </p:txBody>
      </p:sp>
      <p:sp>
        <p:nvSpPr>
          <p:cNvPr id="13" name="TextBox 6"/>
          <p:cNvSpPr txBox="1"/>
          <p:nvPr/>
        </p:nvSpPr>
        <p:spPr>
          <a:xfrm>
            <a:off x="519519" y="5353179"/>
            <a:ext cx="17606556" cy="2103140"/>
          </a:xfrm>
          <a:prstGeom prst="rect">
            <a:avLst/>
          </a:prstGeom>
        </p:spPr>
        <p:txBody>
          <a:bodyPr wrap="square" lIns="0" tIns="0" rIns="0" bIns="0" rtlCol="0" anchor="t">
            <a:spAutoFit/>
          </a:bodyPr>
          <a:lstStyle/>
          <a:p>
            <a:pPr>
              <a:lnSpc>
                <a:spcPts val="4124"/>
              </a:lnSpc>
            </a:pPr>
            <a:r>
              <a:rPr lang="es-419" sz="3000" dirty="0">
                <a:solidFill>
                  <a:srgbClr val="FFC000"/>
                </a:solidFill>
              </a:rPr>
              <a:t>•Introducción a Internet de las Cosas (IoT) y su integración con apps móviles.</a:t>
            </a:r>
          </a:p>
          <a:p>
            <a:pPr>
              <a:lnSpc>
                <a:spcPts val="4124"/>
              </a:lnSpc>
            </a:pPr>
            <a:r>
              <a:rPr lang="es-MX" sz="3000" dirty="0">
                <a:solidFill>
                  <a:schemeClr val="bg1"/>
                </a:solidFill>
              </a:rPr>
              <a:t>La Importancia de las </a:t>
            </a:r>
            <a:r>
              <a:rPr lang="es-MX" sz="3000" dirty="0">
                <a:solidFill>
                  <a:srgbClr val="FF0000"/>
                </a:solidFill>
              </a:rPr>
              <a:t>Apps Móviles </a:t>
            </a:r>
            <a:r>
              <a:rPr lang="es-MX" sz="3000" dirty="0">
                <a:solidFill>
                  <a:schemeClr val="bg1"/>
                </a:solidFill>
              </a:rPr>
              <a:t>en </a:t>
            </a:r>
            <a:r>
              <a:rPr lang="es-MX" sz="3000" dirty="0">
                <a:solidFill>
                  <a:srgbClr val="FF0000"/>
                </a:solidFill>
              </a:rPr>
              <a:t>IoT</a:t>
            </a:r>
            <a:r>
              <a:rPr lang="es-MX" sz="3000" dirty="0">
                <a:solidFill>
                  <a:schemeClr val="bg1"/>
                </a:solidFill>
              </a:rPr>
              <a:t> Son la interfaz principal entre usuario y dispositivos. Permiten: Ver datos en tiempo real Control remoto de dispositivos Configuración de equipos Recibir notificaciones Desarrollo multiplataforma </a:t>
            </a:r>
            <a:r>
              <a:rPr lang="es-MX" sz="3000" dirty="0">
                <a:solidFill>
                  <a:srgbClr val="FF0000"/>
                </a:solidFill>
              </a:rPr>
              <a:t>(Flutter/</a:t>
            </a:r>
            <a:r>
              <a:rPr lang="es-MX" sz="3000" dirty="0" err="1">
                <a:solidFill>
                  <a:srgbClr val="FF0000"/>
                </a:solidFill>
              </a:rPr>
              <a:t>React</a:t>
            </a:r>
            <a:r>
              <a:rPr lang="es-MX" sz="3000" dirty="0">
                <a:solidFill>
                  <a:srgbClr val="FF0000"/>
                </a:solidFill>
              </a:rPr>
              <a:t> Native</a:t>
            </a:r>
            <a:r>
              <a:rPr lang="es-MX" sz="3000" dirty="0">
                <a:solidFill>
                  <a:schemeClr val="bg1"/>
                </a:solidFill>
              </a:rPr>
              <a:t>) reduce costos y tiempo.</a:t>
            </a:r>
            <a:r>
              <a:rPr lang="es-419" sz="3000" dirty="0">
                <a:solidFill>
                  <a:schemeClr val="bg1"/>
                </a:solidFill>
              </a:rPr>
              <a:t> </a:t>
            </a:r>
            <a:endParaRPr lang="en-US" sz="3000"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4" name="Freeform 4"/>
          <p:cNvSpPr/>
          <p:nvPr/>
        </p:nvSpPr>
        <p:spPr>
          <a:xfrm>
            <a:off x="16002000" y="8267700"/>
            <a:ext cx="2971800" cy="2322310"/>
          </a:xfrm>
          <a:custGeom>
            <a:avLst/>
            <a:gdLst/>
            <a:ahLst/>
            <a:cxnLst/>
            <a:rect l="l" t="t" r="r" b="b"/>
            <a:pathLst>
              <a:path w="11939065" h="11939065">
                <a:moveTo>
                  <a:pt x="0" y="0"/>
                </a:moveTo>
                <a:lnTo>
                  <a:pt x="11939064" y="0"/>
                </a:lnTo>
                <a:lnTo>
                  <a:pt x="11939064" y="11939064"/>
                </a:lnTo>
                <a:lnTo>
                  <a:pt x="0" y="1193906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419"/>
          </a:p>
        </p:txBody>
      </p:sp>
      <p:sp>
        <p:nvSpPr>
          <p:cNvPr id="14" name="TextBox 2"/>
          <p:cNvSpPr txBox="1"/>
          <p:nvPr/>
        </p:nvSpPr>
        <p:spPr>
          <a:xfrm>
            <a:off x="285750" y="190499"/>
            <a:ext cx="17697450" cy="6873677"/>
          </a:xfrm>
          <a:prstGeom prst="rect">
            <a:avLst/>
          </a:prstGeom>
        </p:spPr>
        <p:txBody>
          <a:bodyPr wrap="square" lIns="0" tIns="0" rIns="0" bIns="0" rtlCol="0" anchor="t">
            <a:spAutoFit/>
          </a:bodyPr>
          <a:lstStyle/>
          <a:p>
            <a:pPr>
              <a:lnSpc>
                <a:spcPts val="6660"/>
              </a:lnSpc>
            </a:pPr>
            <a:r>
              <a:rPr lang="es-419" sz="2200" dirty="0">
                <a:solidFill>
                  <a:schemeClr val="bg1"/>
                </a:solidFill>
              </a:rPr>
              <a:t> </a:t>
            </a:r>
            <a:r>
              <a:rPr lang="es-419" sz="4000" dirty="0">
                <a:solidFill>
                  <a:schemeClr val="bg1"/>
                </a:solidFill>
              </a:rPr>
              <a:t>• ¿Protocolos de Comunicación </a:t>
            </a:r>
            <a:r>
              <a:rPr lang="es-419" sz="4000" dirty="0">
                <a:solidFill>
                  <a:srgbClr val="FF0000"/>
                </a:solidFill>
              </a:rPr>
              <a:t>IoT:</a:t>
            </a:r>
            <a:r>
              <a:rPr lang="es-419" sz="4000" dirty="0">
                <a:solidFill>
                  <a:schemeClr val="bg1"/>
                </a:solidFill>
              </a:rPr>
              <a:t> </a:t>
            </a:r>
            <a:r>
              <a:rPr lang="es-419" sz="4000" dirty="0">
                <a:solidFill>
                  <a:srgbClr val="FFC000"/>
                </a:solidFill>
              </a:rPr>
              <a:t>MQTT, HTTP REST, WebSockets?</a:t>
            </a:r>
          </a:p>
          <a:p>
            <a:pPr marL="457200" indent="-457200">
              <a:lnSpc>
                <a:spcPts val="6660"/>
              </a:lnSpc>
              <a:buAutoNum type="alphaUcPeriod"/>
            </a:pPr>
            <a:r>
              <a:rPr lang="es-MX" sz="3000" spc="120" dirty="0">
                <a:solidFill>
                  <a:srgbClr val="FF0000"/>
                </a:solidFill>
                <a:latin typeface="Now Bold"/>
                <a:ea typeface="Now Bold"/>
                <a:cs typeface="Now Bold"/>
                <a:sym typeface="Now Bold"/>
              </a:rPr>
              <a:t>MQTT</a:t>
            </a:r>
            <a:r>
              <a:rPr lang="es-MX" sz="3000" b="1" spc="120" dirty="0">
                <a:solidFill>
                  <a:srgbClr val="FF0000"/>
                </a:solidFill>
                <a:latin typeface="Now Bold"/>
                <a:ea typeface="Now Bold"/>
                <a:cs typeface="Now Bold"/>
                <a:sym typeface="Now Bold"/>
              </a:rPr>
              <a:t> </a:t>
            </a:r>
          </a:p>
          <a:p>
            <a:pPr>
              <a:lnSpc>
                <a:spcPts val="6660"/>
              </a:lnSpc>
            </a:pPr>
            <a:r>
              <a:rPr lang="es-MX" sz="3000" b="1" spc="120" dirty="0">
                <a:solidFill>
                  <a:schemeClr val="bg1"/>
                </a:solidFill>
                <a:latin typeface="Now Bold"/>
                <a:ea typeface="Now Bold"/>
                <a:cs typeface="Now Bold"/>
                <a:sym typeface="Now Bold"/>
              </a:rPr>
              <a:t>Modelo publicación/suscripción con un bróker Bajo consumo de datos. Ideal para dispositivos con poca batería</a:t>
            </a:r>
          </a:p>
          <a:p>
            <a:pPr>
              <a:lnSpc>
                <a:spcPts val="6660"/>
              </a:lnSpc>
            </a:pPr>
            <a:r>
              <a:rPr lang="es-MX" sz="3000" spc="120" dirty="0">
                <a:solidFill>
                  <a:srgbClr val="FF0000"/>
                </a:solidFill>
                <a:latin typeface="Now Bold"/>
                <a:ea typeface="Now Bold"/>
                <a:cs typeface="Now Bold"/>
                <a:sym typeface="Now Bold"/>
              </a:rPr>
              <a:t>B. HTTP REST </a:t>
            </a:r>
          </a:p>
          <a:p>
            <a:pPr>
              <a:lnSpc>
                <a:spcPts val="6660"/>
              </a:lnSpc>
            </a:pPr>
            <a:r>
              <a:rPr lang="es-MX" sz="3000" b="1" spc="120" dirty="0">
                <a:solidFill>
                  <a:schemeClr val="bg1"/>
                </a:solidFill>
                <a:latin typeface="Now Bold"/>
                <a:ea typeface="Now Bold"/>
                <a:cs typeface="Now Bold"/>
                <a:sym typeface="Now Bold"/>
              </a:rPr>
              <a:t>Modelo petición/respuesta Fácil de implementar No es tiempo real</a:t>
            </a:r>
          </a:p>
          <a:p>
            <a:pPr>
              <a:lnSpc>
                <a:spcPts val="6660"/>
              </a:lnSpc>
            </a:pPr>
            <a:r>
              <a:rPr lang="es-MX" sz="3000" b="1" spc="120" dirty="0">
                <a:solidFill>
                  <a:srgbClr val="FF0000"/>
                </a:solidFill>
                <a:latin typeface="Now Bold"/>
                <a:ea typeface="Now Bold"/>
                <a:cs typeface="Now Bold"/>
                <a:sym typeface="Now Bold"/>
              </a:rPr>
              <a:t>C</a:t>
            </a:r>
            <a:r>
              <a:rPr lang="es-MX" sz="3000" spc="120" dirty="0">
                <a:solidFill>
                  <a:srgbClr val="FF0000"/>
                </a:solidFill>
                <a:latin typeface="Now Bold"/>
                <a:ea typeface="Now Bold"/>
                <a:cs typeface="Now Bold"/>
                <a:sym typeface="Now Bold"/>
              </a:rPr>
              <a:t>. WebSockets</a:t>
            </a:r>
          </a:p>
          <a:p>
            <a:pPr>
              <a:lnSpc>
                <a:spcPts val="6660"/>
              </a:lnSpc>
            </a:pPr>
            <a:r>
              <a:rPr lang="es-MX" sz="3000" b="1" spc="120" dirty="0">
                <a:solidFill>
                  <a:schemeClr val="bg1"/>
                </a:solidFill>
                <a:latin typeface="Now Bold"/>
                <a:ea typeface="Now Bold"/>
                <a:cs typeface="Now Bold"/>
                <a:sym typeface="Now Bold"/>
              </a:rPr>
              <a:t>Comunicación bidireccional continua Datos en tiempo real con baja latencia.</a:t>
            </a:r>
            <a:endParaRPr lang="en-US" sz="3000" b="1" spc="120" dirty="0">
              <a:solidFill>
                <a:schemeClr val="bg1"/>
              </a:solidFill>
              <a:latin typeface="Now Bold"/>
              <a:ea typeface="Now Bold"/>
              <a:cs typeface="Now Bold"/>
              <a:sym typeface="Now Bold"/>
            </a:endParaRPr>
          </a:p>
        </p:txBody>
      </p:sp>
      <p:sp>
        <p:nvSpPr>
          <p:cNvPr id="5" name="Freeform 3"/>
          <p:cNvSpPr/>
          <p:nvPr/>
        </p:nvSpPr>
        <p:spPr>
          <a:xfrm>
            <a:off x="16954131" y="0"/>
            <a:ext cx="1361578" cy="1142032"/>
          </a:xfrm>
          <a:custGeom>
            <a:avLst/>
            <a:gdLst/>
            <a:ahLst/>
            <a:cxnLst/>
            <a:rect l="l" t="t" r="r" b="b"/>
            <a:pathLst>
              <a:path w="2107552" h="1820159">
                <a:moveTo>
                  <a:pt x="0" y="0"/>
                </a:moveTo>
                <a:lnTo>
                  <a:pt x="2107552" y="0"/>
                </a:lnTo>
                <a:lnTo>
                  <a:pt x="2107552" y="1820159"/>
                </a:lnTo>
                <a:lnTo>
                  <a:pt x="0" y="182015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419"/>
          </a:p>
        </p:txBody>
      </p:sp>
      <p:sp>
        <p:nvSpPr>
          <p:cNvPr id="6" name="Freeform 2"/>
          <p:cNvSpPr/>
          <p:nvPr/>
        </p:nvSpPr>
        <p:spPr>
          <a:xfrm>
            <a:off x="-20782" y="8929227"/>
            <a:ext cx="895350" cy="1382018"/>
          </a:xfrm>
          <a:custGeom>
            <a:avLst/>
            <a:gdLst/>
            <a:ahLst/>
            <a:cxnLst/>
            <a:rect l="l" t="t" r="r" b="b"/>
            <a:pathLst>
              <a:path w="1811250" h="2012500">
                <a:moveTo>
                  <a:pt x="0" y="0"/>
                </a:moveTo>
                <a:lnTo>
                  <a:pt x="1811251" y="0"/>
                </a:lnTo>
                <a:lnTo>
                  <a:pt x="1811251" y="2012501"/>
                </a:lnTo>
                <a:lnTo>
                  <a:pt x="0" y="20125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Freeform 9"/>
          <p:cNvSpPr/>
          <p:nvPr/>
        </p:nvSpPr>
        <p:spPr>
          <a:xfrm rot="-5725674">
            <a:off x="-2751531" y="8362852"/>
            <a:ext cx="4547721" cy="4453494"/>
          </a:xfrm>
          <a:custGeom>
            <a:avLst/>
            <a:gdLst/>
            <a:ahLst/>
            <a:cxnLst/>
            <a:rect l="l" t="t" r="r" b="b"/>
            <a:pathLst>
              <a:path w="14639359" h="12643082">
                <a:moveTo>
                  <a:pt x="0" y="0"/>
                </a:moveTo>
                <a:lnTo>
                  <a:pt x="14639358" y="0"/>
                </a:lnTo>
                <a:lnTo>
                  <a:pt x="14639358" y="12643082"/>
                </a:lnTo>
                <a:lnTo>
                  <a:pt x="0" y="1264308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419"/>
          </a:p>
        </p:txBody>
      </p:sp>
      <p:sp>
        <p:nvSpPr>
          <p:cNvPr id="10" name="Freeform 10"/>
          <p:cNvSpPr/>
          <p:nvPr/>
        </p:nvSpPr>
        <p:spPr>
          <a:xfrm>
            <a:off x="16535400" y="-342900"/>
            <a:ext cx="2205056" cy="2709019"/>
          </a:xfrm>
          <a:custGeom>
            <a:avLst/>
            <a:gdLst/>
            <a:ahLst/>
            <a:cxnLst/>
            <a:rect l="l" t="t" r="r" b="b"/>
            <a:pathLst>
              <a:path w="3043256" h="3043256">
                <a:moveTo>
                  <a:pt x="0" y="0"/>
                </a:moveTo>
                <a:lnTo>
                  <a:pt x="3043256" y="0"/>
                </a:lnTo>
                <a:lnTo>
                  <a:pt x="3043256" y="3043255"/>
                </a:lnTo>
                <a:lnTo>
                  <a:pt x="0" y="304325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sp>
        <p:nvSpPr>
          <p:cNvPr id="11" name="Freeform 2"/>
          <p:cNvSpPr/>
          <p:nvPr/>
        </p:nvSpPr>
        <p:spPr>
          <a:xfrm>
            <a:off x="17497425" y="8802848"/>
            <a:ext cx="895350" cy="1382018"/>
          </a:xfrm>
          <a:custGeom>
            <a:avLst/>
            <a:gdLst/>
            <a:ahLst/>
            <a:cxnLst/>
            <a:rect l="l" t="t" r="r" b="b"/>
            <a:pathLst>
              <a:path w="1811250" h="2012500">
                <a:moveTo>
                  <a:pt x="0" y="0"/>
                </a:moveTo>
                <a:lnTo>
                  <a:pt x="1811251" y="0"/>
                </a:lnTo>
                <a:lnTo>
                  <a:pt x="1811251" y="2012501"/>
                </a:lnTo>
                <a:lnTo>
                  <a:pt x="0" y="201250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419"/>
          </a:p>
        </p:txBody>
      </p:sp>
      <p:sp>
        <p:nvSpPr>
          <p:cNvPr id="12" name="Freeform 2"/>
          <p:cNvSpPr/>
          <p:nvPr/>
        </p:nvSpPr>
        <p:spPr>
          <a:xfrm>
            <a:off x="0" y="8605428"/>
            <a:ext cx="1524000" cy="1631379"/>
          </a:xfrm>
          <a:custGeom>
            <a:avLst/>
            <a:gdLst/>
            <a:ahLst/>
            <a:cxnLst/>
            <a:rect l="l" t="t" r="r" b="b"/>
            <a:pathLst>
              <a:path w="1811250" h="2012500">
                <a:moveTo>
                  <a:pt x="0" y="0"/>
                </a:moveTo>
                <a:lnTo>
                  <a:pt x="1811251" y="0"/>
                </a:lnTo>
                <a:lnTo>
                  <a:pt x="1811251" y="2012501"/>
                </a:lnTo>
                <a:lnTo>
                  <a:pt x="0" y="201250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419"/>
          </a:p>
        </p:txBody>
      </p:sp>
      <p:sp>
        <p:nvSpPr>
          <p:cNvPr id="13" name="TextBox 2"/>
          <p:cNvSpPr txBox="1"/>
          <p:nvPr/>
        </p:nvSpPr>
        <p:spPr>
          <a:xfrm>
            <a:off x="228599" y="114220"/>
            <a:ext cx="16306801" cy="8566448"/>
          </a:xfrm>
          <a:prstGeom prst="rect">
            <a:avLst/>
          </a:prstGeom>
        </p:spPr>
        <p:txBody>
          <a:bodyPr wrap="square" lIns="0" tIns="0" rIns="0" bIns="0" rtlCol="0" anchor="t">
            <a:spAutoFit/>
          </a:bodyPr>
          <a:lstStyle/>
          <a:p>
            <a:pPr>
              <a:lnSpc>
                <a:spcPts val="6422"/>
              </a:lnSpc>
            </a:pPr>
            <a:r>
              <a:rPr lang="es-419" sz="2500" dirty="0">
                <a:solidFill>
                  <a:schemeClr val="bg1"/>
                </a:solidFill>
              </a:rPr>
              <a:t>• Uso de Bluetooth </a:t>
            </a:r>
            <a:r>
              <a:rPr lang="es-419" sz="2500" dirty="0">
                <a:solidFill>
                  <a:srgbClr val="FF0000"/>
                </a:solidFill>
              </a:rPr>
              <a:t>Low Energy </a:t>
            </a:r>
            <a:r>
              <a:rPr lang="es-419" sz="2500" dirty="0">
                <a:solidFill>
                  <a:srgbClr val="FFC000"/>
                </a:solidFill>
              </a:rPr>
              <a:t>(BLE) </a:t>
            </a:r>
            <a:r>
              <a:rPr lang="es-419" sz="2500" dirty="0">
                <a:solidFill>
                  <a:schemeClr val="bg1"/>
                </a:solidFill>
              </a:rPr>
              <a:t>para conectar dispositivos </a:t>
            </a:r>
            <a:r>
              <a:rPr lang="es-419" sz="2500" dirty="0">
                <a:solidFill>
                  <a:srgbClr val="FF0000"/>
                </a:solidFill>
              </a:rPr>
              <a:t>IoT </a:t>
            </a:r>
            <a:r>
              <a:rPr lang="es-419" sz="2500" dirty="0">
                <a:solidFill>
                  <a:schemeClr val="bg1"/>
                </a:solidFill>
              </a:rPr>
              <a:t>con una </a:t>
            </a:r>
            <a:r>
              <a:rPr lang="es-419" sz="2500" dirty="0">
                <a:solidFill>
                  <a:srgbClr val="FFC000"/>
                </a:solidFill>
              </a:rPr>
              <a:t>app móvil</a:t>
            </a:r>
            <a:r>
              <a:rPr lang="es-419" sz="2500" dirty="0">
                <a:solidFill>
                  <a:schemeClr val="bg1"/>
                </a:solidFill>
              </a:rPr>
              <a:t>.</a:t>
            </a:r>
          </a:p>
          <a:p>
            <a:r>
              <a:rPr lang="es-419" sz="3000" dirty="0">
                <a:solidFill>
                  <a:srgbClr val="FFC000"/>
                </a:solidFill>
              </a:rPr>
              <a:t>Bluetooth </a:t>
            </a:r>
            <a:r>
              <a:rPr lang="es-419" sz="3000" dirty="0" err="1">
                <a:solidFill>
                  <a:srgbClr val="FFC000"/>
                </a:solidFill>
              </a:rPr>
              <a:t>Low</a:t>
            </a:r>
            <a:r>
              <a:rPr lang="es-419" sz="3000" dirty="0">
                <a:solidFill>
                  <a:srgbClr val="FFC000"/>
                </a:solidFill>
              </a:rPr>
              <a:t> </a:t>
            </a:r>
            <a:r>
              <a:rPr lang="es-419" sz="3000" dirty="0" err="1">
                <a:solidFill>
                  <a:srgbClr val="FFC000"/>
                </a:solidFill>
              </a:rPr>
              <a:t>Energy</a:t>
            </a:r>
            <a:r>
              <a:rPr lang="es-419" sz="3000" dirty="0">
                <a:solidFill>
                  <a:srgbClr val="FFC000"/>
                </a:solidFill>
              </a:rPr>
              <a:t> (BLE) </a:t>
            </a:r>
            <a:r>
              <a:rPr lang="es-419" sz="3000" dirty="0">
                <a:solidFill>
                  <a:schemeClr val="bg1"/>
                </a:solidFill>
              </a:rPr>
              <a:t>es una tecnología de comunicación inalámbrica diseñada para dispositivos que requieren bajo consumo de energía y transmisión de datos en distancias cortas, lo que la convierte en una de las tecnologías más utilizadas en sistemas de Internet de las Cosas </a:t>
            </a:r>
            <a:r>
              <a:rPr lang="es-419" sz="3000" dirty="0">
                <a:solidFill>
                  <a:srgbClr val="FFC000"/>
                </a:solidFill>
              </a:rPr>
              <a:t>(IoT). BLE </a:t>
            </a:r>
            <a:r>
              <a:rPr lang="es-419" sz="3000" dirty="0">
                <a:solidFill>
                  <a:schemeClr val="bg1"/>
                </a:solidFill>
              </a:rPr>
              <a:t>fue introducido en la especificación Bluetooth 4.0 y se utiliza ampliamente para conectar sensores, dispositivos portátiles, electrodomésticos inteligentes y sistemas industriales con aplicaciones móviles. </a:t>
            </a:r>
          </a:p>
          <a:p>
            <a:r>
              <a:rPr lang="es-419" sz="3000" dirty="0">
                <a:solidFill>
                  <a:schemeClr val="bg1"/>
                </a:solidFill>
              </a:rPr>
              <a:t>En una arquitectura típica </a:t>
            </a:r>
            <a:r>
              <a:rPr lang="es-419" sz="3000" dirty="0">
                <a:solidFill>
                  <a:srgbClr val="FF0000"/>
                </a:solidFill>
              </a:rPr>
              <a:t>IoT</a:t>
            </a:r>
            <a:r>
              <a:rPr lang="es-419" sz="3000" dirty="0">
                <a:solidFill>
                  <a:schemeClr val="bg1"/>
                </a:solidFill>
              </a:rPr>
              <a:t> con </a:t>
            </a:r>
            <a:r>
              <a:rPr lang="es-419" sz="3000" dirty="0">
                <a:solidFill>
                  <a:srgbClr val="FF0000"/>
                </a:solidFill>
              </a:rPr>
              <a:t>BLE</a:t>
            </a:r>
            <a:r>
              <a:rPr lang="es-419" sz="3000" dirty="0">
                <a:solidFill>
                  <a:schemeClr val="bg1"/>
                </a:solidFill>
              </a:rPr>
              <a:t>:</a:t>
            </a:r>
          </a:p>
          <a:p>
            <a:endParaRPr lang="en-US" sz="3000" dirty="0">
              <a:solidFill>
                <a:schemeClr val="bg1"/>
              </a:solidFill>
            </a:endParaRPr>
          </a:p>
          <a:p>
            <a:pPr lvl="0"/>
            <a:r>
              <a:rPr lang="es-419" sz="3000" dirty="0">
                <a:solidFill>
                  <a:srgbClr val="FFC000"/>
                </a:solidFill>
              </a:rPr>
              <a:t>Dispositivo IoT (</a:t>
            </a:r>
            <a:r>
              <a:rPr lang="es-419" sz="3000" dirty="0" err="1">
                <a:solidFill>
                  <a:srgbClr val="FFC000"/>
                </a:solidFill>
              </a:rPr>
              <a:t>peripheral</a:t>
            </a:r>
            <a:r>
              <a:rPr lang="es-419" sz="3000" dirty="0">
                <a:solidFill>
                  <a:srgbClr val="FFC000"/>
                </a:solidFill>
              </a:rPr>
              <a:t>)</a:t>
            </a:r>
            <a:br>
              <a:rPr lang="es-419" sz="3000" dirty="0">
                <a:solidFill>
                  <a:schemeClr val="bg1"/>
                </a:solidFill>
              </a:rPr>
            </a:br>
            <a:r>
              <a:rPr lang="es-419" sz="3000" dirty="0">
                <a:solidFill>
                  <a:schemeClr val="bg1"/>
                </a:solidFill>
              </a:rPr>
              <a:t>Sensores o actuadores que recopilan información (temperatura, humedad, ritmo cardíaco, etc.). </a:t>
            </a:r>
            <a:endParaRPr lang="en-US" sz="3000" dirty="0">
              <a:solidFill>
                <a:schemeClr val="bg1"/>
              </a:solidFill>
            </a:endParaRPr>
          </a:p>
          <a:p>
            <a:pPr lvl="0"/>
            <a:r>
              <a:rPr lang="es-419" sz="3000" dirty="0">
                <a:solidFill>
                  <a:schemeClr val="bg1"/>
                </a:solidFill>
              </a:rPr>
              <a:t>Aplicación móvil (central)</a:t>
            </a:r>
            <a:br>
              <a:rPr lang="es-419" sz="3000" dirty="0">
                <a:solidFill>
                  <a:schemeClr val="bg1"/>
                </a:solidFill>
              </a:rPr>
            </a:br>
            <a:r>
              <a:rPr lang="es-419" sz="3000" dirty="0">
                <a:solidFill>
                  <a:schemeClr val="bg1"/>
                </a:solidFill>
              </a:rPr>
              <a:t>Un </a:t>
            </a:r>
            <a:r>
              <a:rPr lang="es-419" sz="3000" dirty="0" err="1">
                <a:solidFill>
                  <a:schemeClr val="bg1"/>
                </a:solidFill>
              </a:rPr>
              <a:t>smartphone</a:t>
            </a:r>
            <a:r>
              <a:rPr lang="es-419" sz="3000" dirty="0">
                <a:solidFill>
                  <a:schemeClr val="bg1"/>
                </a:solidFill>
              </a:rPr>
              <a:t> detecta el dispositivo mediante paquetes de publicidad (advertising packets). </a:t>
            </a:r>
            <a:endParaRPr lang="en-US" sz="3000" dirty="0">
              <a:solidFill>
                <a:schemeClr val="bg1"/>
              </a:solidFill>
            </a:endParaRPr>
          </a:p>
          <a:p>
            <a:pPr lvl="0"/>
            <a:r>
              <a:rPr lang="es-419" sz="3000" dirty="0">
                <a:solidFill>
                  <a:schemeClr val="bg1"/>
                </a:solidFill>
              </a:rPr>
              <a:t>Proceso de conexión </a:t>
            </a:r>
            <a:endParaRPr lang="en-US" sz="3000" dirty="0">
              <a:solidFill>
                <a:schemeClr val="bg1"/>
              </a:solidFill>
            </a:endParaRPr>
          </a:p>
          <a:p>
            <a:pPr lvl="0"/>
            <a:r>
              <a:rPr lang="es-419" sz="3000" dirty="0">
                <a:solidFill>
                  <a:schemeClr val="bg1"/>
                </a:solidFill>
              </a:rPr>
              <a:t>El dispositivo BLE transmite un identificador (UUID). La app móvil escanea dispositivos cercanos. </a:t>
            </a:r>
            <a:endParaRPr lang="en-US" sz="3000" dirty="0">
              <a:solidFill>
                <a:schemeClr val="bg1"/>
              </a:solidFill>
            </a:endParaRPr>
          </a:p>
          <a:p>
            <a:pPr lvl="0"/>
            <a:r>
              <a:rPr lang="es-419" sz="3000" dirty="0">
                <a:solidFill>
                  <a:schemeClr val="bg1"/>
                </a:solidFill>
              </a:rPr>
              <a:t>Se establece emparejamiento (</a:t>
            </a:r>
            <a:r>
              <a:rPr lang="es-419" sz="3000" dirty="0" err="1">
                <a:solidFill>
                  <a:schemeClr val="bg1"/>
                </a:solidFill>
              </a:rPr>
              <a:t>pairing</a:t>
            </a:r>
            <a:r>
              <a:rPr lang="es-419" sz="3000" dirty="0">
                <a:solidFill>
                  <a:schemeClr val="bg1"/>
                </a:solidFill>
              </a:rPr>
              <a:t>). </a:t>
            </a:r>
            <a:endParaRPr lang="en-US" sz="3000" dirty="0">
              <a:solidFill>
                <a:schemeClr val="bg1"/>
              </a:solidFill>
            </a:endParaRPr>
          </a:p>
          <a:p>
            <a:r>
              <a:rPr lang="es-419" sz="3000" dirty="0">
                <a:solidFill>
                  <a:schemeClr val="bg1"/>
                </a:solidFill>
              </a:rPr>
              <a:t>Se envían y reciben datos mediante servicios y características GATT</a:t>
            </a:r>
            <a:endParaRPr lang="en-US" sz="3000" dirty="0">
              <a:solidFill>
                <a:schemeClr val="bg1"/>
              </a:solidFill>
            </a:endParaRPr>
          </a:p>
          <a:p>
            <a:pPr algn="l">
              <a:lnSpc>
                <a:spcPts val="6422"/>
              </a:lnSpc>
            </a:pPr>
            <a:endParaRPr lang="en-US" sz="5785" b="1" spc="115" dirty="0">
              <a:solidFill>
                <a:srgbClr val="FFFFFF"/>
              </a:solidFill>
              <a:latin typeface="Now Bold"/>
              <a:ea typeface="Now Bold"/>
              <a:cs typeface="Now Bold"/>
              <a:sym typeface="Now 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Freeform 3"/>
          <p:cNvSpPr/>
          <p:nvPr/>
        </p:nvSpPr>
        <p:spPr>
          <a:xfrm rot="8223845">
            <a:off x="16289962" y="1638812"/>
            <a:ext cx="11362597" cy="9788578"/>
          </a:xfrm>
          <a:custGeom>
            <a:avLst/>
            <a:gdLst/>
            <a:ahLst/>
            <a:cxnLst/>
            <a:rect l="l" t="t" r="r" b="b"/>
            <a:pathLst>
              <a:path w="14639359" h="12643082">
                <a:moveTo>
                  <a:pt x="0" y="0"/>
                </a:moveTo>
                <a:lnTo>
                  <a:pt x="14639359" y="0"/>
                </a:lnTo>
                <a:lnTo>
                  <a:pt x="14639359" y="12643082"/>
                </a:lnTo>
                <a:lnTo>
                  <a:pt x="0" y="1264308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419"/>
          </a:p>
        </p:txBody>
      </p:sp>
      <p:sp>
        <p:nvSpPr>
          <p:cNvPr id="4" name="Freeform 4"/>
          <p:cNvSpPr/>
          <p:nvPr/>
        </p:nvSpPr>
        <p:spPr>
          <a:xfrm rot="10415872">
            <a:off x="16526260" y="-1097673"/>
            <a:ext cx="3033717" cy="2727740"/>
          </a:xfrm>
          <a:custGeom>
            <a:avLst/>
            <a:gdLst/>
            <a:ahLst/>
            <a:cxnLst/>
            <a:rect l="l" t="t" r="r" b="b"/>
            <a:pathLst>
              <a:path w="5277584" h="5277584">
                <a:moveTo>
                  <a:pt x="0" y="0"/>
                </a:moveTo>
                <a:lnTo>
                  <a:pt x="5277584" y="0"/>
                </a:lnTo>
                <a:lnTo>
                  <a:pt x="5277584" y="5277583"/>
                </a:lnTo>
                <a:lnTo>
                  <a:pt x="0" y="527758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419"/>
          </a:p>
        </p:txBody>
      </p:sp>
      <p:sp>
        <p:nvSpPr>
          <p:cNvPr id="6" name="TextBox 4"/>
          <p:cNvSpPr txBox="1"/>
          <p:nvPr/>
        </p:nvSpPr>
        <p:spPr>
          <a:xfrm>
            <a:off x="228600" y="-184439"/>
            <a:ext cx="11049000" cy="901272"/>
          </a:xfrm>
          <a:prstGeom prst="rect">
            <a:avLst/>
          </a:prstGeom>
        </p:spPr>
        <p:txBody>
          <a:bodyPr wrap="square" lIns="0" tIns="0" rIns="0" bIns="0" rtlCol="0" anchor="t">
            <a:spAutoFit/>
          </a:bodyPr>
          <a:lstStyle/>
          <a:p>
            <a:pPr>
              <a:lnSpc>
                <a:spcPts val="8400"/>
              </a:lnSpc>
            </a:pPr>
            <a:r>
              <a:rPr lang="es-419" sz="2500" dirty="0">
                <a:solidFill>
                  <a:schemeClr val="bg1"/>
                </a:solidFill>
              </a:rPr>
              <a:t>• Ejemplos de </a:t>
            </a:r>
            <a:r>
              <a:rPr lang="es-419" sz="2500" dirty="0">
                <a:solidFill>
                  <a:srgbClr val="FF0000"/>
                </a:solidFill>
              </a:rPr>
              <a:t>Aplicaciones Reales </a:t>
            </a:r>
            <a:r>
              <a:rPr lang="es-419" sz="2500" dirty="0">
                <a:solidFill>
                  <a:schemeClr val="bg1"/>
                </a:solidFill>
              </a:rPr>
              <a:t>donde una </a:t>
            </a:r>
            <a:r>
              <a:rPr lang="es-419" sz="2500" dirty="0">
                <a:solidFill>
                  <a:srgbClr val="FFC000"/>
                </a:solidFill>
              </a:rPr>
              <a:t>app móvil </a:t>
            </a:r>
            <a:r>
              <a:rPr lang="es-419" sz="2500" dirty="0">
                <a:solidFill>
                  <a:schemeClr val="bg1"/>
                </a:solidFill>
              </a:rPr>
              <a:t>se conecta a un </a:t>
            </a:r>
            <a:r>
              <a:rPr lang="es-419" sz="2500" dirty="0">
                <a:solidFill>
                  <a:srgbClr val="FFC000"/>
                </a:solidFill>
              </a:rPr>
              <a:t>Sistema IoT</a:t>
            </a:r>
            <a:endParaRPr lang="en-US" sz="2500" b="1" dirty="0">
              <a:solidFill>
                <a:srgbClr val="FFC000"/>
              </a:solidFill>
              <a:latin typeface="Now Bold"/>
              <a:ea typeface="Now Bold"/>
              <a:cs typeface="Now Bold"/>
              <a:sym typeface="Now Bold"/>
            </a:endParaRPr>
          </a:p>
        </p:txBody>
      </p:sp>
      <p:sp>
        <p:nvSpPr>
          <p:cNvPr id="7" name="TextBox 5"/>
          <p:cNvSpPr txBox="1"/>
          <p:nvPr/>
        </p:nvSpPr>
        <p:spPr>
          <a:xfrm>
            <a:off x="487615" y="1002407"/>
            <a:ext cx="12268200" cy="9284593"/>
          </a:xfrm>
          <a:prstGeom prst="rect">
            <a:avLst/>
          </a:prstGeom>
        </p:spPr>
        <p:txBody>
          <a:bodyPr wrap="square" lIns="0" tIns="0" rIns="0" bIns="0" rtlCol="0" anchor="t">
            <a:spAutoFit/>
          </a:bodyPr>
          <a:lstStyle/>
          <a:p>
            <a:r>
              <a:rPr lang="es-419" sz="3000" dirty="0">
                <a:solidFill>
                  <a:srgbClr val="FFC000"/>
                </a:solidFill>
              </a:rPr>
              <a:t>1. Salud y dispositivos médicos</a:t>
            </a:r>
            <a:endParaRPr lang="en-US" sz="3000" dirty="0">
              <a:solidFill>
                <a:srgbClr val="FFC000"/>
              </a:solidFill>
            </a:endParaRPr>
          </a:p>
          <a:p>
            <a:r>
              <a:rPr lang="es-419" sz="3000" dirty="0">
                <a:solidFill>
                  <a:schemeClr val="bg1"/>
                </a:solidFill>
              </a:rPr>
              <a:t>Ejemplos:</a:t>
            </a:r>
            <a:endParaRPr lang="en-US" sz="3000" dirty="0">
              <a:solidFill>
                <a:schemeClr val="bg1"/>
              </a:solidFill>
            </a:endParaRPr>
          </a:p>
          <a:p>
            <a:pPr lvl="0"/>
            <a:r>
              <a:rPr lang="es-419" sz="3000" dirty="0">
                <a:solidFill>
                  <a:schemeClr val="bg1"/>
                </a:solidFill>
              </a:rPr>
              <a:t>Monitores de glucosa </a:t>
            </a:r>
            <a:endParaRPr lang="en-US" sz="3000" dirty="0">
              <a:solidFill>
                <a:schemeClr val="bg1"/>
              </a:solidFill>
            </a:endParaRPr>
          </a:p>
          <a:p>
            <a:pPr lvl="0"/>
            <a:r>
              <a:rPr lang="es-419" sz="3000" dirty="0">
                <a:solidFill>
                  <a:schemeClr val="bg1"/>
                </a:solidFill>
              </a:rPr>
              <a:t>Pulseras de actividad </a:t>
            </a:r>
            <a:endParaRPr lang="en-US" sz="3000" dirty="0">
              <a:solidFill>
                <a:schemeClr val="bg1"/>
              </a:solidFill>
            </a:endParaRPr>
          </a:p>
          <a:p>
            <a:pPr lvl="0"/>
            <a:r>
              <a:rPr lang="es-419" sz="3000" dirty="0">
                <a:solidFill>
                  <a:schemeClr val="bg1"/>
                </a:solidFill>
              </a:rPr>
              <a:t>Sensores cardíacos </a:t>
            </a:r>
            <a:endParaRPr lang="en-US" sz="3000" dirty="0">
              <a:solidFill>
                <a:schemeClr val="bg1"/>
              </a:solidFill>
            </a:endParaRPr>
          </a:p>
          <a:p>
            <a:r>
              <a:rPr lang="es-419" sz="3000" dirty="0">
                <a:solidFill>
                  <a:schemeClr val="bg1"/>
                </a:solidFill>
              </a:rPr>
              <a:t>Funcionamiento:</a:t>
            </a:r>
            <a:endParaRPr lang="en-US" sz="3000" dirty="0">
              <a:solidFill>
                <a:schemeClr val="bg1"/>
              </a:solidFill>
            </a:endParaRPr>
          </a:p>
          <a:p>
            <a:pPr lvl="0"/>
            <a:r>
              <a:rPr lang="es-419" sz="3000" dirty="0">
                <a:solidFill>
                  <a:schemeClr val="bg1"/>
                </a:solidFill>
              </a:rPr>
              <a:t>El sensor mide los datos fisiológicos. </a:t>
            </a:r>
            <a:endParaRPr lang="en-US" sz="3000" dirty="0">
              <a:solidFill>
                <a:schemeClr val="bg1"/>
              </a:solidFill>
            </a:endParaRPr>
          </a:p>
          <a:p>
            <a:pPr lvl="0"/>
            <a:r>
              <a:rPr lang="es-419" sz="3000" dirty="0">
                <a:solidFill>
                  <a:schemeClr val="bg1"/>
                </a:solidFill>
              </a:rPr>
              <a:t>Los envía vía BLE a una app móvil. </a:t>
            </a:r>
            <a:endParaRPr lang="en-US" sz="3000" dirty="0">
              <a:solidFill>
                <a:schemeClr val="bg1"/>
              </a:solidFill>
            </a:endParaRPr>
          </a:p>
          <a:p>
            <a:pPr lvl="0"/>
            <a:r>
              <a:rPr lang="es-419" sz="3000" dirty="0">
                <a:solidFill>
                  <a:schemeClr val="bg1"/>
                </a:solidFill>
              </a:rPr>
              <a:t>La app visualiza los datos en tiempo real y los guarda en la nube.</a:t>
            </a:r>
            <a:endParaRPr lang="en-US" sz="3000" dirty="0">
              <a:solidFill>
                <a:schemeClr val="bg1"/>
              </a:solidFill>
            </a:endParaRPr>
          </a:p>
          <a:p>
            <a:r>
              <a:rPr lang="es-419" sz="3000" dirty="0">
                <a:solidFill>
                  <a:schemeClr val="bg1"/>
                </a:solidFill>
              </a:rPr>
              <a:t> </a:t>
            </a:r>
            <a:endParaRPr lang="en-US" sz="3000" dirty="0">
              <a:solidFill>
                <a:schemeClr val="bg1"/>
              </a:solidFill>
            </a:endParaRPr>
          </a:p>
          <a:p>
            <a:r>
              <a:rPr lang="es-419" sz="3000" dirty="0">
                <a:solidFill>
                  <a:srgbClr val="FFC000"/>
                </a:solidFill>
              </a:rPr>
              <a:t>2. Hogares inteligentes (Smart Home)</a:t>
            </a:r>
            <a:endParaRPr lang="en-US" sz="3000" dirty="0">
              <a:solidFill>
                <a:srgbClr val="FFC000"/>
              </a:solidFill>
            </a:endParaRPr>
          </a:p>
          <a:p>
            <a:r>
              <a:rPr lang="es-419" sz="3000" dirty="0">
                <a:solidFill>
                  <a:schemeClr val="bg1"/>
                </a:solidFill>
              </a:rPr>
              <a:t>Dispositivos comunes:</a:t>
            </a:r>
            <a:endParaRPr lang="en-US" sz="3000" dirty="0">
              <a:solidFill>
                <a:schemeClr val="bg1"/>
              </a:solidFill>
            </a:endParaRPr>
          </a:p>
          <a:p>
            <a:pPr lvl="0"/>
            <a:r>
              <a:rPr lang="es-419" sz="3000" dirty="0">
                <a:solidFill>
                  <a:schemeClr val="bg1"/>
                </a:solidFill>
              </a:rPr>
              <a:t>Cerraduras inteligentes </a:t>
            </a:r>
            <a:endParaRPr lang="en-US" sz="3000" dirty="0">
              <a:solidFill>
                <a:schemeClr val="bg1"/>
              </a:solidFill>
            </a:endParaRPr>
          </a:p>
          <a:p>
            <a:pPr lvl="0"/>
            <a:r>
              <a:rPr lang="es-419" sz="3000" dirty="0">
                <a:solidFill>
                  <a:schemeClr val="bg1"/>
                </a:solidFill>
              </a:rPr>
              <a:t>Termostatos </a:t>
            </a:r>
            <a:endParaRPr lang="en-US" sz="3000" dirty="0">
              <a:solidFill>
                <a:schemeClr val="bg1"/>
              </a:solidFill>
            </a:endParaRPr>
          </a:p>
          <a:p>
            <a:pPr lvl="0"/>
            <a:r>
              <a:rPr lang="es-419" sz="3000" dirty="0">
                <a:solidFill>
                  <a:schemeClr val="bg1"/>
                </a:solidFill>
              </a:rPr>
              <a:t>Luces inteligentes </a:t>
            </a:r>
            <a:endParaRPr lang="en-US" sz="3000" dirty="0">
              <a:solidFill>
                <a:schemeClr val="bg1"/>
              </a:solidFill>
            </a:endParaRPr>
          </a:p>
          <a:p>
            <a:r>
              <a:rPr lang="es-419" sz="3000" dirty="0">
                <a:solidFill>
                  <a:schemeClr val="bg1"/>
                </a:solidFill>
              </a:rPr>
              <a:t>La app móvil permite:</a:t>
            </a:r>
            <a:endParaRPr lang="en-US" sz="3000" dirty="0">
              <a:solidFill>
                <a:schemeClr val="bg1"/>
              </a:solidFill>
            </a:endParaRPr>
          </a:p>
          <a:p>
            <a:pPr lvl="0"/>
            <a:r>
              <a:rPr lang="es-419" sz="3000" dirty="0">
                <a:solidFill>
                  <a:schemeClr val="bg1"/>
                </a:solidFill>
              </a:rPr>
              <a:t>Encender o apagar dispositivos </a:t>
            </a:r>
            <a:endParaRPr lang="en-US" sz="3000" dirty="0">
              <a:solidFill>
                <a:schemeClr val="bg1"/>
              </a:solidFill>
            </a:endParaRPr>
          </a:p>
          <a:p>
            <a:pPr lvl="0"/>
            <a:r>
              <a:rPr lang="es-419" sz="3000" dirty="0">
                <a:solidFill>
                  <a:schemeClr val="bg1"/>
                </a:solidFill>
              </a:rPr>
              <a:t>Programar horarios </a:t>
            </a:r>
            <a:endParaRPr lang="en-US" sz="3000" dirty="0">
              <a:solidFill>
                <a:schemeClr val="bg1"/>
              </a:solidFill>
            </a:endParaRPr>
          </a:p>
          <a:p>
            <a:pPr lvl="0"/>
            <a:r>
              <a:rPr lang="es-419" sz="3000" dirty="0">
                <a:solidFill>
                  <a:schemeClr val="bg1"/>
                </a:solidFill>
              </a:rPr>
              <a:t>Supervisar el estado del sistema </a:t>
            </a:r>
            <a:endParaRPr lang="en-US" sz="3000" dirty="0">
              <a:solidFill>
                <a:schemeClr val="bg1"/>
              </a:solidFill>
            </a:endParaRPr>
          </a:p>
          <a:p>
            <a:pPr marL="518160" lvl="1" indent="-259080" algn="l">
              <a:lnSpc>
                <a:spcPts val="3959"/>
              </a:lnSpc>
              <a:buFont typeface="Arial"/>
              <a:buChar char="•"/>
            </a:pPr>
            <a:endParaRPr lang="en-US" sz="2400" dirty="0">
              <a:solidFill>
                <a:srgbClr val="FFFFFF"/>
              </a:solidFill>
              <a:latin typeface="Now"/>
              <a:ea typeface="Now"/>
              <a:cs typeface="Now"/>
              <a:sym typeface="Now"/>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231920" y="1013442"/>
            <a:ext cx="17827480" cy="4154984"/>
          </a:xfrm>
          <a:prstGeom prst="rect">
            <a:avLst/>
          </a:prstGeom>
        </p:spPr>
        <p:txBody>
          <a:bodyPr wrap="square" lIns="0" tIns="0" rIns="0" bIns="0" rtlCol="0" anchor="t">
            <a:spAutoFit/>
          </a:bodyPr>
          <a:lstStyle/>
          <a:p>
            <a:r>
              <a:rPr lang="es-419" sz="3000" dirty="0">
                <a:solidFill>
                  <a:schemeClr val="bg1"/>
                </a:solidFill>
              </a:rPr>
              <a:t>La integración de la </a:t>
            </a:r>
            <a:r>
              <a:rPr lang="es-419" sz="3000" dirty="0">
                <a:solidFill>
                  <a:srgbClr val="FF0000"/>
                </a:solidFill>
              </a:rPr>
              <a:t>Realidad Aumentada (AR) </a:t>
            </a:r>
            <a:r>
              <a:rPr lang="es-419" sz="3000" dirty="0">
                <a:solidFill>
                  <a:schemeClr val="bg1"/>
                </a:solidFill>
              </a:rPr>
              <a:t>con el Internet de las Cosas </a:t>
            </a:r>
            <a:r>
              <a:rPr lang="es-419" sz="3000" dirty="0">
                <a:solidFill>
                  <a:srgbClr val="FF0000"/>
                </a:solidFill>
              </a:rPr>
              <a:t>(IoT) </a:t>
            </a:r>
            <a:r>
              <a:rPr lang="es-419" sz="3000" dirty="0">
                <a:solidFill>
                  <a:schemeClr val="bg1"/>
                </a:solidFill>
              </a:rPr>
              <a:t>crea un ecosistema donde los datos digitales provenientes de sensores se superponen directamente sobre el mundo físico. Esta combinación permite que los usuarios no solo "vean" los objetos, sino que comprendan su estado interno y funcionamiento en tiempo real.</a:t>
            </a:r>
            <a:endParaRPr lang="en-US" sz="3000" dirty="0">
              <a:solidFill>
                <a:schemeClr val="bg1"/>
              </a:solidFill>
            </a:endParaRPr>
          </a:p>
          <a:p>
            <a:r>
              <a:rPr lang="es-SV" sz="3000" dirty="0">
                <a:solidFill>
                  <a:schemeClr val="bg1"/>
                </a:solidFill>
              </a:rPr>
              <a:t>El </a:t>
            </a:r>
            <a:r>
              <a:rPr lang="es-SV" sz="3000" dirty="0" err="1">
                <a:solidFill>
                  <a:srgbClr val="FF0000"/>
                </a:solidFill>
              </a:rPr>
              <a:t>IoT</a:t>
            </a:r>
            <a:r>
              <a:rPr lang="es-SV" sz="3000" dirty="0">
                <a:solidFill>
                  <a:schemeClr val="bg1"/>
                </a:solidFill>
              </a:rPr>
              <a:t> genera grandes volúmenes de datos que suelen ser difíciles de interpretar en crudo (listas de números o gráficos en una pantalla). La AR actúa como la </a:t>
            </a:r>
            <a:r>
              <a:rPr lang="es-SV" sz="3000" b="1" dirty="0">
                <a:solidFill>
                  <a:schemeClr val="bg1"/>
                </a:solidFill>
              </a:rPr>
              <a:t>interfaz humana</a:t>
            </a:r>
            <a:r>
              <a:rPr lang="es-SV" sz="3000" dirty="0">
                <a:solidFill>
                  <a:schemeClr val="bg1"/>
                </a:solidFill>
              </a:rPr>
              <a:t>, permitiendo que un técnico o usuario apunte a un dispositivo y vea instantáneamente:</a:t>
            </a:r>
            <a:r>
              <a:rPr lang="en-US" sz="3000" dirty="0">
                <a:solidFill>
                  <a:schemeClr val="bg1"/>
                </a:solidFill>
              </a:rPr>
              <a:t> </a:t>
            </a:r>
            <a:r>
              <a:rPr lang="en-US" sz="3000" dirty="0">
                <a:solidFill>
                  <a:srgbClr val="FFC000"/>
                </a:solidFill>
              </a:rPr>
              <a:t>Temperatura y presión, </a:t>
            </a:r>
            <a:r>
              <a:rPr lang="es-SV" sz="3000" dirty="0">
                <a:solidFill>
                  <a:srgbClr val="FFC000"/>
                </a:solidFill>
              </a:rPr>
              <a:t>Niveles de energía o batería, </a:t>
            </a:r>
            <a:r>
              <a:rPr lang="en-US" sz="3000" dirty="0">
                <a:solidFill>
                  <a:srgbClr val="FFC000"/>
                </a:solidFill>
              </a:rPr>
              <a:t>Alertas de mantenimiento predictivo.</a:t>
            </a:r>
          </a:p>
          <a:p>
            <a:pPr algn="l">
              <a:lnSpc>
                <a:spcPts val="3569"/>
              </a:lnSpc>
            </a:pPr>
            <a:endParaRPr lang="en-US" sz="3000" b="1" dirty="0">
              <a:solidFill>
                <a:srgbClr val="FFFFFF"/>
              </a:solidFill>
              <a:latin typeface="Now Bold"/>
              <a:ea typeface="Now Bold"/>
              <a:cs typeface="Now Bold"/>
              <a:sym typeface="Now Bold"/>
            </a:endParaRPr>
          </a:p>
        </p:txBody>
      </p:sp>
      <p:sp>
        <p:nvSpPr>
          <p:cNvPr id="5" name="TextBox 5"/>
          <p:cNvSpPr txBox="1"/>
          <p:nvPr/>
        </p:nvSpPr>
        <p:spPr>
          <a:xfrm>
            <a:off x="231920" y="4922698"/>
            <a:ext cx="17294080" cy="461665"/>
          </a:xfrm>
          <a:prstGeom prst="rect">
            <a:avLst/>
          </a:prstGeom>
        </p:spPr>
        <p:txBody>
          <a:bodyPr wrap="square" lIns="0" tIns="0" rIns="0" bIns="0" rtlCol="0" anchor="t">
            <a:spAutoFit/>
          </a:bodyPr>
          <a:lstStyle/>
          <a:p>
            <a:pPr>
              <a:lnSpc>
                <a:spcPts val="3569"/>
              </a:lnSpc>
            </a:pPr>
            <a:r>
              <a:rPr lang="es-419" sz="2500" dirty="0">
                <a:solidFill>
                  <a:schemeClr val="bg1"/>
                </a:solidFill>
              </a:rPr>
              <a:t>• </a:t>
            </a:r>
            <a:r>
              <a:rPr lang="es-419" sz="2800" dirty="0">
                <a:solidFill>
                  <a:schemeClr val="bg1"/>
                </a:solidFill>
              </a:rPr>
              <a:t>¿Cómo visualizar datos de </a:t>
            </a:r>
            <a:r>
              <a:rPr lang="es-419" sz="2800" dirty="0">
                <a:solidFill>
                  <a:srgbClr val="FF0000"/>
                </a:solidFill>
              </a:rPr>
              <a:t>sensores IoT </a:t>
            </a:r>
            <a:r>
              <a:rPr lang="es-419" sz="2800" dirty="0">
                <a:solidFill>
                  <a:schemeClr val="bg1"/>
                </a:solidFill>
              </a:rPr>
              <a:t>en </a:t>
            </a:r>
            <a:r>
              <a:rPr lang="es-419" sz="2800" dirty="0">
                <a:solidFill>
                  <a:srgbClr val="FF0000"/>
                </a:solidFill>
              </a:rPr>
              <a:t>AR</a:t>
            </a:r>
            <a:r>
              <a:rPr lang="es-419" sz="2800" dirty="0">
                <a:solidFill>
                  <a:schemeClr val="bg1"/>
                </a:solidFill>
              </a:rPr>
              <a:t>: Ejemplo de un </a:t>
            </a:r>
            <a:r>
              <a:rPr lang="es-419" sz="2800" dirty="0" err="1">
                <a:solidFill>
                  <a:srgbClr val="FF0000"/>
                </a:solidFill>
              </a:rPr>
              <a:t>dashboard</a:t>
            </a:r>
            <a:r>
              <a:rPr lang="es-419" sz="2800" dirty="0">
                <a:solidFill>
                  <a:srgbClr val="FF0000"/>
                </a:solidFill>
              </a:rPr>
              <a:t> AR </a:t>
            </a:r>
            <a:r>
              <a:rPr lang="es-419" sz="2800" dirty="0">
                <a:solidFill>
                  <a:schemeClr val="bg1"/>
                </a:solidFill>
              </a:rPr>
              <a:t>que muestre información en tiempo real? </a:t>
            </a:r>
            <a:endParaRPr lang="en-US" sz="2800" b="1" dirty="0">
              <a:solidFill>
                <a:srgbClr val="FFFFFF"/>
              </a:solidFill>
              <a:latin typeface="Now Bold"/>
              <a:ea typeface="Now Bold"/>
              <a:cs typeface="Now Bold"/>
              <a:sym typeface="Now Bold"/>
            </a:endParaRPr>
          </a:p>
        </p:txBody>
      </p:sp>
      <p:sp>
        <p:nvSpPr>
          <p:cNvPr id="11" name="TextBox 11"/>
          <p:cNvSpPr txBox="1"/>
          <p:nvPr/>
        </p:nvSpPr>
        <p:spPr>
          <a:xfrm>
            <a:off x="264825" y="5753100"/>
            <a:ext cx="17301007" cy="3847207"/>
          </a:xfrm>
          <a:prstGeom prst="rect">
            <a:avLst/>
          </a:prstGeom>
        </p:spPr>
        <p:txBody>
          <a:bodyPr wrap="square" lIns="0" tIns="0" rIns="0" bIns="0" rtlCol="0" anchor="t">
            <a:spAutoFit/>
          </a:bodyPr>
          <a:lstStyle/>
          <a:p>
            <a:r>
              <a:rPr lang="es-419" sz="2500" dirty="0">
                <a:solidFill>
                  <a:schemeClr val="bg1"/>
                </a:solidFill>
              </a:rPr>
              <a:t>La Realidad Aumentada </a:t>
            </a:r>
            <a:r>
              <a:rPr lang="es-419" sz="2500" dirty="0">
                <a:solidFill>
                  <a:srgbClr val="FF0000"/>
                </a:solidFill>
              </a:rPr>
              <a:t>(AR) </a:t>
            </a:r>
            <a:r>
              <a:rPr lang="es-419" sz="2500" dirty="0">
                <a:solidFill>
                  <a:schemeClr val="bg1"/>
                </a:solidFill>
              </a:rPr>
              <a:t>permite superponer información digital sobre el mundo real mediante la cámara del dispositivo móvil.</a:t>
            </a:r>
            <a:endParaRPr lang="en-US" sz="2500" dirty="0">
              <a:solidFill>
                <a:schemeClr val="bg1"/>
              </a:solidFill>
            </a:endParaRPr>
          </a:p>
          <a:p>
            <a:r>
              <a:rPr lang="es-419" sz="2500" dirty="0">
                <a:solidFill>
                  <a:schemeClr val="bg1"/>
                </a:solidFill>
              </a:rPr>
              <a:t>En sistemas IoT, la AR se utiliza para visualizar datos de sensores en tiempo real directamente sobre los objetos físicos.</a:t>
            </a:r>
            <a:endParaRPr lang="en-US" sz="2500" dirty="0">
              <a:solidFill>
                <a:schemeClr val="bg1"/>
              </a:solidFill>
            </a:endParaRPr>
          </a:p>
          <a:p>
            <a:r>
              <a:rPr lang="es-419" sz="2500" dirty="0">
                <a:solidFill>
                  <a:schemeClr val="bg1"/>
                </a:solidFill>
              </a:rPr>
              <a:t>Ejemplo: Dashboard AR para sensores IoT</a:t>
            </a:r>
            <a:endParaRPr lang="en-US" sz="2500" dirty="0">
              <a:solidFill>
                <a:schemeClr val="bg1"/>
              </a:solidFill>
            </a:endParaRPr>
          </a:p>
          <a:p>
            <a:r>
              <a:rPr lang="es-419" sz="2500" dirty="0">
                <a:solidFill>
                  <a:schemeClr val="bg1"/>
                </a:solidFill>
              </a:rPr>
              <a:t>Supongamos un sistema de monitoreo industrial.</a:t>
            </a:r>
            <a:endParaRPr lang="en-US" sz="2500" dirty="0">
              <a:solidFill>
                <a:schemeClr val="bg1"/>
              </a:solidFill>
            </a:endParaRPr>
          </a:p>
          <a:p>
            <a:r>
              <a:rPr lang="es-419" sz="2500" dirty="0">
                <a:solidFill>
                  <a:srgbClr val="FF0000"/>
                </a:solidFill>
              </a:rPr>
              <a:t>Paso 1: Sensores IoT                           </a:t>
            </a:r>
            <a:endParaRPr lang="en-US" sz="2500" dirty="0">
              <a:solidFill>
                <a:srgbClr val="FF0000"/>
              </a:solidFill>
            </a:endParaRPr>
          </a:p>
          <a:p>
            <a:r>
              <a:rPr lang="es-419" sz="2500" dirty="0">
                <a:solidFill>
                  <a:schemeClr val="bg1"/>
                </a:solidFill>
              </a:rPr>
              <a:t>Los sensores miden datos como:</a:t>
            </a:r>
            <a:endParaRPr lang="en-US" sz="2500" dirty="0">
              <a:solidFill>
                <a:schemeClr val="bg1"/>
              </a:solidFill>
            </a:endParaRPr>
          </a:p>
          <a:p>
            <a:pPr lvl="0"/>
            <a:r>
              <a:rPr lang="es-419" sz="2500" dirty="0">
                <a:solidFill>
                  <a:srgbClr val="FFC000"/>
                </a:solidFill>
              </a:rPr>
              <a:t>temperatura </a:t>
            </a:r>
            <a:endParaRPr lang="en-US" sz="2500" dirty="0">
              <a:solidFill>
                <a:srgbClr val="FFC000"/>
              </a:solidFill>
            </a:endParaRPr>
          </a:p>
          <a:p>
            <a:pPr lvl="0"/>
            <a:r>
              <a:rPr lang="es-419" sz="2500" dirty="0">
                <a:solidFill>
                  <a:srgbClr val="FFC000"/>
                </a:solidFill>
              </a:rPr>
              <a:t>humedad </a:t>
            </a:r>
            <a:endParaRPr lang="en-US" sz="2500" dirty="0">
              <a:solidFill>
                <a:srgbClr val="FFC000"/>
              </a:solidFill>
            </a:endParaRPr>
          </a:p>
          <a:p>
            <a:pPr lvl="0"/>
            <a:r>
              <a:rPr lang="es-419" sz="2500" dirty="0">
                <a:solidFill>
                  <a:srgbClr val="FFC000"/>
                </a:solidFill>
              </a:rPr>
              <a:t>presión </a:t>
            </a:r>
            <a:endParaRPr lang="en-US" sz="2500" dirty="0">
              <a:solidFill>
                <a:srgbClr val="FFC000"/>
              </a:solidFill>
            </a:endParaRPr>
          </a:p>
          <a:p>
            <a:pPr lvl="0"/>
            <a:r>
              <a:rPr lang="es-419" sz="2500" dirty="0">
                <a:solidFill>
                  <a:srgbClr val="FFC000"/>
                </a:solidFill>
              </a:rPr>
              <a:t>vibración</a:t>
            </a:r>
            <a:endParaRPr lang="en-US" sz="1800" dirty="0">
              <a:solidFill>
                <a:srgbClr val="FFC000"/>
              </a:solidFill>
              <a:latin typeface="Now"/>
              <a:ea typeface="Now"/>
              <a:cs typeface="Now"/>
              <a:sym typeface="Now"/>
            </a:endParaRPr>
          </a:p>
        </p:txBody>
      </p:sp>
      <p:sp>
        <p:nvSpPr>
          <p:cNvPr id="14" name="TextBox 14"/>
          <p:cNvSpPr txBox="1"/>
          <p:nvPr/>
        </p:nvSpPr>
        <p:spPr>
          <a:xfrm>
            <a:off x="838200" y="-149964"/>
            <a:ext cx="4631309" cy="1077218"/>
          </a:xfrm>
          <a:prstGeom prst="rect">
            <a:avLst/>
          </a:prstGeom>
        </p:spPr>
        <p:txBody>
          <a:bodyPr wrap="square" lIns="0" tIns="0" rIns="0" bIns="0" rtlCol="0" anchor="t">
            <a:spAutoFit/>
          </a:bodyPr>
          <a:lstStyle/>
          <a:p>
            <a:pPr algn="ctr">
              <a:lnSpc>
                <a:spcPts val="8400"/>
              </a:lnSpc>
            </a:pPr>
            <a:r>
              <a:rPr lang="es-419" sz="3200" dirty="0">
                <a:solidFill>
                  <a:schemeClr val="bg1"/>
                </a:solidFill>
              </a:rPr>
              <a:t>• </a:t>
            </a:r>
            <a:r>
              <a:rPr lang="es-419" sz="3000" dirty="0">
                <a:solidFill>
                  <a:srgbClr val="FFC000"/>
                </a:solidFill>
              </a:rPr>
              <a:t>Integración de AR con IoT </a:t>
            </a:r>
            <a:endParaRPr lang="en-US" sz="3000" dirty="0">
              <a:solidFill>
                <a:srgbClr val="FFC000"/>
              </a:solidFill>
            </a:endParaRPr>
          </a:p>
        </p:txBody>
      </p:sp>
      <p:sp>
        <p:nvSpPr>
          <p:cNvPr id="16" name="Freeform 16"/>
          <p:cNvSpPr/>
          <p:nvPr/>
        </p:nvSpPr>
        <p:spPr>
          <a:xfrm rot="8038605">
            <a:off x="-303072" y="-123827"/>
            <a:ext cx="1108085" cy="1110756"/>
          </a:xfrm>
          <a:custGeom>
            <a:avLst/>
            <a:gdLst/>
            <a:ahLst/>
            <a:cxnLst/>
            <a:rect l="l" t="t" r="r" b="b"/>
            <a:pathLst>
              <a:path w="1742554" h="1742554">
                <a:moveTo>
                  <a:pt x="0" y="0"/>
                </a:moveTo>
                <a:lnTo>
                  <a:pt x="1742555" y="0"/>
                </a:lnTo>
                <a:lnTo>
                  <a:pt x="1742555" y="1742555"/>
                </a:lnTo>
                <a:lnTo>
                  <a:pt x="0" y="174255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419"/>
          </a:p>
        </p:txBody>
      </p:sp>
      <p:sp>
        <p:nvSpPr>
          <p:cNvPr id="18" name="Freeform 18"/>
          <p:cNvSpPr/>
          <p:nvPr/>
        </p:nvSpPr>
        <p:spPr>
          <a:xfrm>
            <a:off x="17526000" y="-303433"/>
            <a:ext cx="1321003" cy="1230687"/>
          </a:xfrm>
          <a:custGeom>
            <a:avLst/>
            <a:gdLst/>
            <a:ahLst/>
            <a:cxnLst/>
            <a:rect l="l" t="t" r="r" b="b"/>
            <a:pathLst>
              <a:path w="2463898" h="2463898">
                <a:moveTo>
                  <a:pt x="0" y="0"/>
                </a:moveTo>
                <a:lnTo>
                  <a:pt x="2463898" y="0"/>
                </a:lnTo>
                <a:lnTo>
                  <a:pt x="2463898" y="2463897"/>
                </a:lnTo>
                <a:lnTo>
                  <a:pt x="0" y="246389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419"/>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6" name="Freeform 6"/>
          <p:cNvSpPr/>
          <p:nvPr/>
        </p:nvSpPr>
        <p:spPr>
          <a:xfrm>
            <a:off x="17377498" y="8724900"/>
            <a:ext cx="1363803" cy="1276350"/>
          </a:xfrm>
          <a:custGeom>
            <a:avLst/>
            <a:gdLst/>
            <a:ahLst/>
            <a:cxnLst/>
            <a:rect l="l" t="t" r="r" b="b"/>
            <a:pathLst>
              <a:path w="6601579" h="6601579">
                <a:moveTo>
                  <a:pt x="0" y="0"/>
                </a:moveTo>
                <a:lnTo>
                  <a:pt x="6601579" y="0"/>
                </a:lnTo>
                <a:lnTo>
                  <a:pt x="6601579" y="6601579"/>
                </a:lnTo>
                <a:lnTo>
                  <a:pt x="0" y="660157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419"/>
          </a:p>
        </p:txBody>
      </p:sp>
      <p:sp>
        <p:nvSpPr>
          <p:cNvPr id="7" name="Freeform 7"/>
          <p:cNvSpPr/>
          <p:nvPr/>
        </p:nvSpPr>
        <p:spPr>
          <a:xfrm rot="10415872">
            <a:off x="-439846" y="-354830"/>
            <a:ext cx="879691" cy="1142557"/>
          </a:xfrm>
          <a:custGeom>
            <a:avLst/>
            <a:gdLst/>
            <a:ahLst/>
            <a:cxnLst/>
            <a:rect l="l" t="t" r="r" b="b"/>
            <a:pathLst>
              <a:path w="3323266" h="3323266">
                <a:moveTo>
                  <a:pt x="0" y="0"/>
                </a:moveTo>
                <a:lnTo>
                  <a:pt x="3323266" y="0"/>
                </a:lnTo>
                <a:lnTo>
                  <a:pt x="3323266" y="3323266"/>
                </a:lnTo>
                <a:lnTo>
                  <a:pt x="0" y="332326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419"/>
          </a:p>
        </p:txBody>
      </p:sp>
      <p:sp>
        <p:nvSpPr>
          <p:cNvPr id="8" name="Rectángulo 7"/>
          <p:cNvSpPr/>
          <p:nvPr/>
        </p:nvSpPr>
        <p:spPr>
          <a:xfrm>
            <a:off x="76201" y="339161"/>
            <a:ext cx="17983199" cy="11981100"/>
          </a:xfrm>
          <a:prstGeom prst="rect">
            <a:avLst/>
          </a:prstGeom>
        </p:spPr>
        <p:txBody>
          <a:bodyPr wrap="square">
            <a:spAutoFit/>
          </a:bodyPr>
          <a:lstStyle/>
          <a:p>
            <a:pPr marL="228600">
              <a:lnSpc>
                <a:spcPct val="107000"/>
              </a:lnSpc>
              <a:spcAft>
                <a:spcPts val="800"/>
              </a:spcAft>
            </a:pPr>
            <a:r>
              <a:rPr lang="es-419" sz="2700" dirty="0">
                <a:solidFill>
                  <a:schemeClr val="bg1"/>
                </a:solidFill>
                <a:latin typeface="Times New Roman" panose="02020603050405020304" pitchFamily="18" charset="0"/>
                <a:ea typeface="Calibri" panose="020F0502020204030204" pitchFamily="34" charset="0"/>
              </a:rPr>
              <a:t>• ¿</a:t>
            </a:r>
            <a:r>
              <a:rPr lang="es-419" sz="27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Cómo conectar una </a:t>
            </a:r>
            <a:r>
              <a:rPr lang="es-419" sz="27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app AR </a:t>
            </a:r>
            <a:r>
              <a:rPr lang="es-419" sz="27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con un </a:t>
            </a:r>
            <a:r>
              <a:rPr lang="es-419" sz="27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Servidor IoT</a:t>
            </a:r>
            <a:r>
              <a:rPr lang="es-419" sz="27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Uso de </a:t>
            </a:r>
            <a:r>
              <a:rPr lang="es-419" sz="27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Firebase</a:t>
            </a:r>
            <a:r>
              <a:rPr lang="es-419" sz="27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s-419" sz="27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MQTT</a:t>
            </a:r>
            <a:r>
              <a:rPr lang="es-419" sz="27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o </a:t>
            </a:r>
            <a:r>
              <a:rPr lang="es-419" sz="2700" dirty="0">
                <a:solidFill>
                  <a:srgbClr val="FFC000"/>
                </a:solidFill>
                <a:latin typeface="Times New Roman" panose="02020603050405020304" pitchFamily="18" charset="0"/>
                <a:ea typeface="Calibri" panose="020F0502020204030204" pitchFamily="34" charset="0"/>
                <a:cs typeface="Times New Roman" panose="02020603050405020304" pitchFamily="18" charset="0"/>
              </a:rPr>
              <a:t>WebSockets</a:t>
            </a:r>
            <a:r>
              <a:rPr lang="es-419" sz="27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para la </a:t>
            </a:r>
            <a:r>
              <a:rPr lang="es-419" sz="2700" dirty="0">
                <a:solidFill>
                  <a:srgbClr val="FFC000"/>
                </a:solidFill>
                <a:latin typeface="Times New Roman" panose="02020603050405020304" pitchFamily="18" charset="0"/>
                <a:ea typeface="Calibri" panose="020F0502020204030204" pitchFamily="34" charset="0"/>
                <a:cs typeface="Times New Roman" panose="02020603050405020304" pitchFamily="18" charset="0"/>
              </a:rPr>
              <a:t>Transmisión de Datos?</a:t>
            </a:r>
          </a:p>
          <a:p>
            <a:r>
              <a:rPr lang="es-419" sz="2600" dirty="0">
                <a:solidFill>
                  <a:schemeClr val="bg1"/>
                </a:solidFill>
              </a:rPr>
              <a:t>La Realidad Aumentada (AR) permite superponer información digital sobre el mundo real mediante la cámara del dispositivo móvil.</a:t>
            </a:r>
            <a:endParaRPr lang="en-US" sz="2600" dirty="0">
              <a:solidFill>
                <a:schemeClr val="bg1"/>
              </a:solidFill>
            </a:endParaRPr>
          </a:p>
          <a:p>
            <a:r>
              <a:rPr lang="es-419" sz="2600" dirty="0">
                <a:solidFill>
                  <a:schemeClr val="bg1"/>
                </a:solidFill>
              </a:rPr>
              <a:t>En sistemas </a:t>
            </a:r>
            <a:r>
              <a:rPr lang="es-419" sz="2600" dirty="0">
                <a:solidFill>
                  <a:srgbClr val="FFC000"/>
                </a:solidFill>
              </a:rPr>
              <a:t>IoT, la AR </a:t>
            </a:r>
            <a:r>
              <a:rPr lang="es-419" sz="2600" dirty="0">
                <a:solidFill>
                  <a:schemeClr val="bg1"/>
                </a:solidFill>
              </a:rPr>
              <a:t>se utiliza para visualizar datos de sensores en tiempo real directamente sobre los objetos físicos.</a:t>
            </a:r>
            <a:r>
              <a:rPr lang="en-US" sz="2600" dirty="0">
                <a:solidFill>
                  <a:schemeClr val="bg1"/>
                </a:solidFill>
              </a:rPr>
              <a:t>   </a:t>
            </a:r>
            <a:r>
              <a:rPr lang="es-419" sz="2600" dirty="0">
                <a:solidFill>
                  <a:schemeClr val="bg1"/>
                </a:solidFill>
              </a:rPr>
              <a:t>Ejemplo: </a:t>
            </a:r>
            <a:r>
              <a:rPr lang="es-419" sz="2600" dirty="0">
                <a:solidFill>
                  <a:srgbClr val="FFC000"/>
                </a:solidFill>
              </a:rPr>
              <a:t>Dashboard AR </a:t>
            </a:r>
            <a:r>
              <a:rPr lang="es-419" sz="2600" dirty="0">
                <a:solidFill>
                  <a:schemeClr val="bg1"/>
                </a:solidFill>
              </a:rPr>
              <a:t>para sensores </a:t>
            </a:r>
            <a:r>
              <a:rPr lang="es-419" sz="2600" dirty="0">
                <a:solidFill>
                  <a:srgbClr val="FFC000"/>
                </a:solidFill>
              </a:rPr>
              <a:t>IoT</a:t>
            </a:r>
            <a:r>
              <a:rPr lang="en-US" sz="2600" dirty="0">
                <a:solidFill>
                  <a:srgbClr val="FFC000"/>
                </a:solidFill>
              </a:rPr>
              <a:t> </a:t>
            </a:r>
            <a:r>
              <a:rPr lang="es-419" sz="2600" dirty="0">
                <a:solidFill>
                  <a:schemeClr val="bg1"/>
                </a:solidFill>
              </a:rPr>
              <a:t>Supongamos un sistema de monitoreo industrial.</a:t>
            </a:r>
            <a:endParaRPr lang="en-US" sz="2600" dirty="0">
              <a:solidFill>
                <a:schemeClr val="bg1"/>
              </a:solidFill>
            </a:endParaRPr>
          </a:p>
          <a:p>
            <a:r>
              <a:rPr lang="es-419" sz="3000" dirty="0">
                <a:solidFill>
                  <a:srgbClr val="FFC000"/>
                </a:solidFill>
              </a:rPr>
              <a:t>Paso 1: Sensores IoT</a:t>
            </a:r>
            <a:endParaRPr lang="en-US" sz="3000" dirty="0">
              <a:solidFill>
                <a:srgbClr val="FFC000"/>
              </a:solidFill>
            </a:endParaRPr>
          </a:p>
          <a:p>
            <a:r>
              <a:rPr lang="es-419" sz="3000" dirty="0">
                <a:solidFill>
                  <a:schemeClr val="bg1"/>
                </a:solidFill>
              </a:rPr>
              <a:t>Los sensores miden datos como:</a:t>
            </a:r>
            <a:endParaRPr lang="en-US" sz="3000" dirty="0">
              <a:solidFill>
                <a:schemeClr val="bg1"/>
              </a:solidFill>
            </a:endParaRPr>
          </a:p>
          <a:p>
            <a:pPr lvl="0"/>
            <a:r>
              <a:rPr lang="es-419" sz="3000" dirty="0">
                <a:solidFill>
                  <a:srgbClr val="00B050"/>
                </a:solidFill>
              </a:rPr>
              <a:t>temperatura </a:t>
            </a:r>
            <a:endParaRPr lang="en-US" sz="3000" dirty="0">
              <a:solidFill>
                <a:srgbClr val="00B050"/>
              </a:solidFill>
            </a:endParaRPr>
          </a:p>
          <a:p>
            <a:pPr lvl="0"/>
            <a:r>
              <a:rPr lang="es-419" sz="3000" dirty="0">
                <a:solidFill>
                  <a:srgbClr val="00B050"/>
                </a:solidFill>
              </a:rPr>
              <a:t>humedad </a:t>
            </a:r>
            <a:endParaRPr lang="en-US" sz="3000" dirty="0">
              <a:solidFill>
                <a:srgbClr val="00B050"/>
              </a:solidFill>
            </a:endParaRPr>
          </a:p>
          <a:p>
            <a:pPr lvl="0"/>
            <a:r>
              <a:rPr lang="es-419" sz="3000" dirty="0">
                <a:solidFill>
                  <a:srgbClr val="00B050"/>
                </a:solidFill>
              </a:rPr>
              <a:t>presión </a:t>
            </a:r>
            <a:endParaRPr lang="en-US" sz="3000" dirty="0">
              <a:solidFill>
                <a:srgbClr val="00B050"/>
              </a:solidFill>
            </a:endParaRPr>
          </a:p>
          <a:p>
            <a:r>
              <a:rPr lang="es-419" sz="3000" dirty="0">
                <a:solidFill>
                  <a:srgbClr val="00B050"/>
                </a:solidFill>
              </a:rPr>
              <a:t>Vibración</a:t>
            </a:r>
          </a:p>
          <a:p>
            <a:endParaRPr lang="en-US" sz="2500" dirty="0">
              <a:solidFill>
                <a:srgbClr val="00B050"/>
              </a:solidFill>
              <a:latin typeface="Calibri" panose="020F0502020204030204" pitchFamily="34" charset="0"/>
              <a:ea typeface="Calibri" panose="020F0502020204030204" pitchFamily="34" charset="0"/>
              <a:cs typeface="Times New Roman" panose="02020603050405020304" pitchFamily="18" charset="0"/>
            </a:endParaRPr>
          </a:p>
          <a:p>
            <a:r>
              <a:rPr lang="es-419" sz="2500" dirty="0">
                <a:solidFill>
                  <a:schemeClr val="bg1"/>
                </a:solidFill>
                <a:latin typeface="Times New Roman" panose="02020603050405020304" pitchFamily="18" charset="0"/>
                <a:ea typeface="Calibri" panose="020F0502020204030204" pitchFamily="34" charset="0"/>
              </a:rPr>
              <a:t>• </a:t>
            </a:r>
            <a:r>
              <a:rPr lang="es-419" sz="2600" dirty="0">
                <a:solidFill>
                  <a:schemeClr val="bg1"/>
                </a:solidFill>
                <a:latin typeface="Times New Roman" panose="02020603050405020304" pitchFamily="18" charset="0"/>
                <a:ea typeface="Calibri" panose="020F0502020204030204" pitchFamily="34" charset="0"/>
              </a:rPr>
              <a:t>Ejemplos de implementación en la industria: </a:t>
            </a:r>
            <a:r>
              <a:rPr lang="es-419" sz="2600" dirty="0">
                <a:solidFill>
                  <a:srgbClr val="FFC000"/>
                </a:solidFill>
                <a:latin typeface="Times New Roman" panose="02020603050405020304" pitchFamily="18" charset="0"/>
                <a:ea typeface="Calibri" panose="020F0502020204030204" pitchFamily="34" charset="0"/>
              </a:rPr>
              <a:t>Aplicaciones en Mantenimiento predictivo</a:t>
            </a:r>
            <a:r>
              <a:rPr lang="es-419" sz="2600" dirty="0">
                <a:solidFill>
                  <a:schemeClr val="bg1"/>
                </a:solidFill>
                <a:latin typeface="Times New Roman" panose="02020603050405020304" pitchFamily="18" charset="0"/>
                <a:ea typeface="Calibri" panose="020F0502020204030204" pitchFamily="34" charset="0"/>
              </a:rPr>
              <a:t>, </a:t>
            </a:r>
            <a:r>
              <a:rPr lang="es-419" sz="2600" dirty="0">
                <a:solidFill>
                  <a:srgbClr val="FFC000"/>
                </a:solidFill>
                <a:latin typeface="Times New Roman" panose="02020603050405020304" pitchFamily="18" charset="0"/>
                <a:ea typeface="Calibri" panose="020F0502020204030204" pitchFamily="34" charset="0"/>
              </a:rPr>
              <a:t>monitoreo ambiental</a:t>
            </a:r>
            <a:r>
              <a:rPr lang="es-419" sz="2600" dirty="0">
                <a:solidFill>
                  <a:schemeClr val="bg1"/>
                </a:solidFill>
                <a:latin typeface="Times New Roman" panose="02020603050405020304" pitchFamily="18" charset="0"/>
                <a:ea typeface="Calibri" panose="020F0502020204030204" pitchFamily="34" charset="0"/>
              </a:rPr>
              <a:t>, </a:t>
            </a:r>
            <a:r>
              <a:rPr lang="es-419" sz="2600" dirty="0">
                <a:solidFill>
                  <a:srgbClr val="FFC000"/>
                </a:solidFill>
                <a:latin typeface="Times New Roman" panose="02020603050405020304" pitchFamily="18" charset="0"/>
                <a:ea typeface="Calibri" panose="020F0502020204030204" pitchFamily="34" charset="0"/>
              </a:rPr>
              <a:t>domótica y salud. </a:t>
            </a:r>
          </a:p>
          <a:p>
            <a:endParaRPr lang="es-419" sz="2500" dirty="0">
              <a:solidFill>
                <a:srgbClr val="FFC000"/>
              </a:solidFill>
              <a:latin typeface="Times New Roman" panose="02020603050405020304" pitchFamily="18" charset="0"/>
              <a:ea typeface="Calibri" panose="020F0502020204030204" pitchFamily="34" charset="0"/>
            </a:endParaRPr>
          </a:p>
          <a:p>
            <a:r>
              <a:rPr lang="es-419" sz="3000" b="1" dirty="0">
                <a:solidFill>
                  <a:srgbClr val="FF0000"/>
                </a:solidFill>
              </a:rPr>
              <a:t>Aplicaciones en mantenimiento predictivo</a:t>
            </a:r>
            <a:endParaRPr lang="en-US" sz="3000" dirty="0">
              <a:solidFill>
                <a:srgbClr val="FF0000"/>
              </a:solidFill>
            </a:endParaRPr>
          </a:p>
          <a:p>
            <a:r>
              <a:rPr lang="es-419" sz="3000" dirty="0">
                <a:solidFill>
                  <a:schemeClr val="bg1"/>
                </a:solidFill>
              </a:rPr>
              <a:t> </a:t>
            </a:r>
            <a:endParaRPr lang="en-US" sz="3000" dirty="0">
              <a:solidFill>
                <a:schemeClr val="bg1"/>
              </a:solidFill>
            </a:endParaRPr>
          </a:p>
          <a:p>
            <a:r>
              <a:rPr lang="es-419" sz="3000" dirty="0">
                <a:solidFill>
                  <a:schemeClr val="bg1"/>
                </a:solidFill>
              </a:rPr>
              <a:t>En la Industria 4.0, el protocolo </a:t>
            </a:r>
            <a:r>
              <a:rPr lang="es-419" sz="3000" dirty="0">
                <a:solidFill>
                  <a:srgbClr val="FFC000"/>
                </a:solidFill>
              </a:rPr>
              <a:t>MQTT </a:t>
            </a:r>
            <a:r>
              <a:rPr lang="es-419" sz="3000" dirty="0">
                <a:solidFill>
                  <a:schemeClr val="bg1"/>
                </a:solidFill>
              </a:rPr>
              <a:t>es el estándar para transmitir datos de sensores de vibraciones, temperatura y corriente de motores eléctricos industriales. </a:t>
            </a:r>
            <a:endParaRPr lang="en-US" sz="3000" dirty="0">
              <a:solidFill>
                <a:schemeClr val="bg1"/>
              </a:solidFill>
            </a:endParaRPr>
          </a:p>
          <a:p>
            <a:r>
              <a:rPr lang="es-419" sz="3000" dirty="0">
                <a:solidFill>
                  <a:schemeClr val="bg1"/>
                </a:solidFill>
              </a:rPr>
              <a:t> </a:t>
            </a:r>
            <a:endParaRPr lang="en-US" sz="3000" dirty="0">
              <a:solidFill>
                <a:schemeClr val="bg1"/>
              </a:solidFill>
            </a:endParaRPr>
          </a:p>
          <a:p>
            <a:r>
              <a:rPr lang="es-419" sz="3000" b="1" i="1" dirty="0">
                <a:solidFill>
                  <a:srgbClr val="FF0000"/>
                </a:solidFill>
              </a:rPr>
              <a:t>App AR</a:t>
            </a:r>
            <a:r>
              <a:rPr lang="es-419" sz="3000" b="1" dirty="0">
                <a:solidFill>
                  <a:srgbClr val="FF0000"/>
                </a:solidFill>
              </a:rPr>
              <a:t>:</a:t>
            </a:r>
            <a:r>
              <a:rPr lang="es-419" sz="3000" dirty="0">
                <a:solidFill>
                  <a:srgbClr val="FF0000"/>
                </a:solidFill>
              </a:rPr>
              <a:t> </a:t>
            </a:r>
            <a:r>
              <a:rPr lang="es-419" sz="3000" dirty="0">
                <a:solidFill>
                  <a:schemeClr val="bg1"/>
                </a:solidFill>
              </a:rPr>
              <a:t>Un técnico puede apuntar su </a:t>
            </a:r>
            <a:r>
              <a:rPr lang="es-419" sz="3000" dirty="0" err="1">
                <a:solidFill>
                  <a:schemeClr val="bg1"/>
                </a:solidFill>
              </a:rPr>
              <a:t>tablet</a:t>
            </a:r>
            <a:r>
              <a:rPr lang="es-419" sz="3000" dirty="0">
                <a:solidFill>
                  <a:schemeClr val="bg1"/>
                </a:solidFill>
              </a:rPr>
              <a:t> a una máquina y ver, mediante una etiqueta AR, el tiempo de vida restante de un rodamiento basado en datos de vibración procesados por algoritmos de IA y enviados vía MQTT.</a:t>
            </a:r>
            <a:endParaRPr lang="en-US" sz="3000" dirty="0">
              <a:solidFill>
                <a:schemeClr val="bg1"/>
              </a:solidFill>
            </a:endParaRPr>
          </a:p>
          <a:p>
            <a:endParaRPr lang="es-419" sz="3000" dirty="0">
              <a:solidFill>
                <a:schemeClr val="bg1"/>
              </a:solidFill>
              <a:latin typeface="Times New Roman" panose="02020603050405020304" pitchFamily="18" charset="0"/>
            </a:endParaRPr>
          </a:p>
          <a:p>
            <a:endParaRPr lang="es-419" sz="3000" dirty="0">
              <a:solidFill>
                <a:schemeClr val="bg1"/>
              </a:solidFill>
              <a:latin typeface="Times New Roman" panose="02020603050405020304" pitchFamily="18" charset="0"/>
            </a:endParaRPr>
          </a:p>
          <a:p>
            <a:endParaRPr lang="es-419" sz="3000" dirty="0">
              <a:solidFill>
                <a:schemeClr val="bg1"/>
              </a:solidFill>
              <a:latin typeface="Times New Roman" panose="02020603050405020304" pitchFamily="18" charset="0"/>
            </a:endParaRPr>
          </a:p>
          <a:p>
            <a:endParaRPr lang="es-419" sz="2500" dirty="0">
              <a:solidFill>
                <a:schemeClr val="bg1"/>
              </a:solidFill>
              <a:latin typeface="Times New Roman" panose="02020603050405020304" pitchFamily="18" charset="0"/>
            </a:endParaRPr>
          </a:p>
          <a:p>
            <a:endParaRPr lang="es-419" sz="2500" dirty="0">
              <a:solidFill>
                <a:schemeClr val="bg1"/>
              </a:solidFill>
              <a:latin typeface="Times New Roman" panose="02020603050405020304" pitchFamily="18" charset="0"/>
            </a:endParaRPr>
          </a:p>
          <a:p>
            <a:endParaRPr lang="en-US" sz="2500"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extBox 3"/>
          <p:cNvSpPr txBox="1"/>
          <p:nvPr/>
        </p:nvSpPr>
        <p:spPr>
          <a:xfrm>
            <a:off x="1085776" y="152398"/>
            <a:ext cx="10268024" cy="1279196"/>
          </a:xfrm>
          <a:prstGeom prst="rect">
            <a:avLst/>
          </a:prstGeom>
        </p:spPr>
        <p:txBody>
          <a:bodyPr wrap="square" lIns="0" tIns="0" rIns="0" bIns="0" rtlCol="0" anchor="t">
            <a:spAutoFit/>
          </a:bodyPr>
          <a:lstStyle/>
          <a:p>
            <a:pPr algn="r">
              <a:lnSpc>
                <a:spcPts val="10863"/>
              </a:lnSpc>
            </a:pPr>
            <a:r>
              <a:rPr lang="es-SV" sz="6000" b="1" spc="-194" dirty="0">
                <a:solidFill>
                  <a:srgbClr val="FFFFFF"/>
                </a:solidFill>
                <a:latin typeface="Now Bold"/>
                <a:ea typeface="Now Bold"/>
                <a:cs typeface="Now Bold"/>
                <a:sym typeface="Now Bold"/>
              </a:rPr>
              <a:t>Explicación Códigos: </a:t>
            </a:r>
            <a:r>
              <a:rPr lang="es-SV" sz="6000" b="1" spc="-194" dirty="0">
                <a:solidFill>
                  <a:srgbClr val="FFFF00"/>
                </a:solidFill>
                <a:latin typeface="Now Bold"/>
                <a:ea typeface="Now Bold"/>
                <a:cs typeface="Now Bold"/>
                <a:sym typeface="Now Bold"/>
              </a:rPr>
              <a:t>APP.js</a:t>
            </a:r>
            <a:endParaRPr lang="en-US" sz="6000" b="1" spc="-194" dirty="0">
              <a:solidFill>
                <a:srgbClr val="FFFF00"/>
              </a:solidFill>
              <a:latin typeface="Now Bold"/>
              <a:ea typeface="Now Bold"/>
              <a:cs typeface="Now Bold"/>
              <a:sym typeface="Now Bold"/>
            </a:endParaRPr>
          </a:p>
        </p:txBody>
      </p:sp>
      <p:sp>
        <p:nvSpPr>
          <p:cNvPr id="5" name="Freeform 5"/>
          <p:cNvSpPr/>
          <p:nvPr/>
        </p:nvSpPr>
        <p:spPr>
          <a:xfrm rot="10415872">
            <a:off x="16956338" y="-829748"/>
            <a:ext cx="2307347" cy="1888093"/>
          </a:xfrm>
          <a:custGeom>
            <a:avLst/>
            <a:gdLst/>
            <a:ahLst/>
            <a:cxnLst/>
            <a:rect l="l" t="t" r="r" b="b"/>
            <a:pathLst>
              <a:path w="5277584" h="5277584">
                <a:moveTo>
                  <a:pt x="0" y="0"/>
                </a:moveTo>
                <a:lnTo>
                  <a:pt x="5277583" y="0"/>
                </a:lnTo>
                <a:lnTo>
                  <a:pt x="5277583" y="5277584"/>
                </a:lnTo>
                <a:lnTo>
                  <a:pt x="0" y="527758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419"/>
          </a:p>
        </p:txBody>
      </p:sp>
      <p:sp>
        <p:nvSpPr>
          <p:cNvPr id="6" name="Freeform 6"/>
          <p:cNvSpPr/>
          <p:nvPr/>
        </p:nvSpPr>
        <p:spPr>
          <a:xfrm>
            <a:off x="-228600" y="9334500"/>
            <a:ext cx="845127" cy="1371448"/>
          </a:xfrm>
          <a:custGeom>
            <a:avLst/>
            <a:gdLst/>
            <a:ahLst/>
            <a:cxnLst/>
            <a:rect l="l" t="t" r="r" b="b"/>
            <a:pathLst>
              <a:path w="4774256" h="4774256">
                <a:moveTo>
                  <a:pt x="0" y="0"/>
                </a:moveTo>
                <a:lnTo>
                  <a:pt x="4774256" y="0"/>
                </a:lnTo>
                <a:lnTo>
                  <a:pt x="4774256" y="4774256"/>
                </a:lnTo>
                <a:lnTo>
                  <a:pt x="0" y="477425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419"/>
          </a:p>
        </p:txBody>
      </p:sp>
      <p:sp>
        <p:nvSpPr>
          <p:cNvPr id="7" name="Freeform 2"/>
          <p:cNvSpPr/>
          <p:nvPr/>
        </p:nvSpPr>
        <p:spPr>
          <a:xfrm>
            <a:off x="16892901" y="8518810"/>
            <a:ext cx="1524000" cy="1631379"/>
          </a:xfrm>
          <a:custGeom>
            <a:avLst/>
            <a:gdLst/>
            <a:ahLst/>
            <a:cxnLst/>
            <a:rect l="l" t="t" r="r" b="b"/>
            <a:pathLst>
              <a:path w="1811250" h="2012500">
                <a:moveTo>
                  <a:pt x="0" y="0"/>
                </a:moveTo>
                <a:lnTo>
                  <a:pt x="1811251" y="0"/>
                </a:lnTo>
                <a:lnTo>
                  <a:pt x="1811251" y="2012501"/>
                </a:lnTo>
                <a:lnTo>
                  <a:pt x="0" y="20125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sp>
        <p:nvSpPr>
          <p:cNvPr id="8" name="Freeform 2"/>
          <p:cNvSpPr/>
          <p:nvPr/>
        </p:nvSpPr>
        <p:spPr>
          <a:xfrm rot="12423514">
            <a:off x="-105868" y="-199790"/>
            <a:ext cx="965003" cy="1228641"/>
          </a:xfrm>
          <a:custGeom>
            <a:avLst/>
            <a:gdLst/>
            <a:ahLst/>
            <a:cxnLst/>
            <a:rect l="l" t="t" r="r" b="b"/>
            <a:pathLst>
              <a:path w="1811250" h="2012500">
                <a:moveTo>
                  <a:pt x="0" y="0"/>
                </a:moveTo>
                <a:lnTo>
                  <a:pt x="1811251" y="0"/>
                </a:lnTo>
                <a:lnTo>
                  <a:pt x="1811251" y="2012501"/>
                </a:lnTo>
                <a:lnTo>
                  <a:pt x="0" y="20125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pic>
        <p:nvPicPr>
          <p:cNvPr id="4" name="Imagen 3">
            <a:extLst>
              <a:ext uri="{FF2B5EF4-FFF2-40B4-BE49-F238E27FC236}">
                <a16:creationId xmlns:a16="http://schemas.microsoft.com/office/drawing/2014/main" id="{BD56EB97-D09B-F1CE-79F2-CCD8D2DE203C}"/>
              </a:ext>
            </a:extLst>
          </p:cNvPr>
          <p:cNvPicPr>
            <a:picLocks noChangeAspect="1"/>
          </p:cNvPicPr>
          <p:nvPr/>
        </p:nvPicPr>
        <p:blipFill>
          <a:blip r:embed="rId5"/>
          <a:stretch>
            <a:fillRect/>
          </a:stretch>
        </p:blipFill>
        <p:spPr>
          <a:xfrm>
            <a:off x="719077" y="1663479"/>
            <a:ext cx="16071273" cy="8112180"/>
          </a:xfrm>
          <a:prstGeom prst="rect">
            <a:avLst/>
          </a:prstGeom>
        </p:spPr>
      </p:pic>
    </p:spTree>
    <p:extLst>
      <p:ext uri="{BB962C8B-B14F-4D97-AF65-F5344CB8AC3E}">
        <p14:creationId xmlns:p14="http://schemas.microsoft.com/office/powerpoint/2010/main" val="1348419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5E4DAFD9-A74D-ABA4-2107-DE3BE6EB5485}"/>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307B29C7-DE20-5BF2-6621-D9FC4F06B21E}"/>
              </a:ext>
            </a:extLst>
          </p:cNvPr>
          <p:cNvSpPr txBox="1"/>
          <p:nvPr/>
        </p:nvSpPr>
        <p:spPr>
          <a:xfrm>
            <a:off x="1085776" y="152398"/>
            <a:ext cx="10268024" cy="1279196"/>
          </a:xfrm>
          <a:prstGeom prst="rect">
            <a:avLst/>
          </a:prstGeom>
        </p:spPr>
        <p:txBody>
          <a:bodyPr wrap="square" lIns="0" tIns="0" rIns="0" bIns="0" rtlCol="0" anchor="t">
            <a:spAutoFit/>
          </a:bodyPr>
          <a:lstStyle/>
          <a:p>
            <a:pPr algn="r">
              <a:lnSpc>
                <a:spcPts val="10863"/>
              </a:lnSpc>
            </a:pPr>
            <a:r>
              <a:rPr lang="es-SV" sz="6000" b="1" spc="-194" dirty="0">
                <a:solidFill>
                  <a:srgbClr val="FFFFFF"/>
                </a:solidFill>
                <a:latin typeface="Now Bold"/>
                <a:ea typeface="Now Bold"/>
                <a:cs typeface="Now Bold"/>
                <a:sym typeface="Now Bold"/>
              </a:rPr>
              <a:t>Explicación Códigos: </a:t>
            </a:r>
            <a:r>
              <a:rPr lang="es-SV" sz="6000" b="1" spc="-194" dirty="0">
                <a:solidFill>
                  <a:srgbClr val="FFFF00"/>
                </a:solidFill>
                <a:latin typeface="Now Bold"/>
                <a:ea typeface="Now Bold"/>
                <a:cs typeface="Now Bold"/>
                <a:sym typeface="Now Bold"/>
              </a:rPr>
              <a:t>APP.js</a:t>
            </a:r>
            <a:endParaRPr lang="en-US" sz="6000" b="1" spc="-194" dirty="0">
              <a:solidFill>
                <a:srgbClr val="FFFF00"/>
              </a:solidFill>
              <a:latin typeface="Now Bold"/>
              <a:ea typeface="Now Bold"/>
              <a:cs typeface="Now Bold"/>
              <a:sym typeface="Now Bold"/>
            </a:endParaRPr>
          </a:p>
        </p:txBody>
      </p:sp>
      <p:sp>
        <p:nvSpPr>
          <p:cNvPr id="5" name="Freeform 5">
            <a:extLst>
              <a:ext uri="{FF2B5EF4-FFF2-40B4-BE49-F238E27FC236}">
                <a16:creationId xmlns:a16="http://schemas.microsoft.com/office/drawing/2014/main" id="{3408C677-AC1B-792B-F5F7-E39F1578AD59}"/>
              </a:ext>
            </a:extLst>
          </p:cNvPr>
          <p:cNvSpPr/>
          <p:nvPr/>
        </p:nvSpPr>
        <p:spPr>
          <a:xfrm rot="10415872">
            <a:off x="16956338" y="-829748"/>
            <a:ext cx="2307347" cy="1888093"/>
          </a:xfrm>
          <a:custGeom>
            <a:avLst/>
            <a:gdLst/>
            <a:ahLst/>
            <a:cxnLst/>
            <a:rect l="l" t="t" r="r" b="b"/>
            <a:pathLst>
              <a:path w="5277584" h="5277584">
                <a:moveTo>
                  <a:pt x="0" y="0"/>
                </a:moveTo>
                <a:lnTo>
                  <a:pt x="5277583" y="0"/>
                </a:lnTo>
                <a:lnTo>
                  <a:pt x="5277583" y="5277584"/>
                </a:lnTo>
                <a:lnTo>
                  <a:pt x="0" y="527758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419"/>
          </a:p>
        </p:txBody>
      </p:sp>
      <p:sp>
        <p:nvSpPr>
          <p:cNvPr id="6" name="Freeform 6">
            <a:extLst>
              <a:ext uri="{FF2B5EF4-FFF2-40B4-BE49-F238E27FC236}">
                <a16:creationId xmlns:a16="http://schemas.microsoft.com/office/drawing/2014/main" id="{B8C2A3BB-5B44-83AB-F80A-A4832182D5F9}"/>
              </a:ext>
            </a:extLst>
          </p:cNvPr>
          <p:cNvSpPr/>
          <p:nvPr/>
        </p:nvSpPr>
        <p:spPr>
          <a:xfrm>
            <a:off x="-228600" y="9334500"/>
            <a:ext cx="845127" cy="1371448"/>
          </a:xfrm>
          <a:custGeom>
            <a:avLst/>
            <a:gdLst/>
            <a:ahLst/>
            <a:cxnLst/>
            <a:rect l="l" t="t" r="r" b="b"/>
            <a:pathLst>
              <a:path w="4774256" h="4774256">
                <a:moveTo>
                  <a:pt x="0" y="0"/>
                </a:moveTo>
                <a:lnTo>
                  <a:pt x="4774256" y="0"/>
                </a:lnTo>
                <a:lnTo>
                  <a:pt x="4774256" y="4774256"/>
                </a:lnTo>
                <a:lnTo>
                  <a:pt x="0" y="477425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419"/>
          </a:p>
        </p:txBody>
      </p:sp>
      <p:sp>
        <p:nvSpPr>
          <p:cNvPr id="7" name="Freeform 2">
            <a:extLst>
              <a:ext uri="{FF2B5EF4-FFF2-40B4-BE49-F238E27FC236}">
                <a16:creationId xmlns:a16="http://schemas.microsoft.com/office/drawing/2014/main" id="{E0DC1333-2552-76CA-D989-A388DEB398D7}"/>
              </a:ext>
            </a:extLst>
          </p:cNvPr>
          <p:cNvSpPr/>
          <p:nvPr/>
        </p:nvSpPr>
        <p:spPr>
          <a:xfrm>
            <a:off x="16892901" y="8518810"/>
            <a:ext cx="1524000" cy="1631379"/>
          </a:xfrm>
          <a:custGeom>
            <a:avLst/>
            <a:gdLst/>
            <a:ahLst/>
            <a:cxnLst/>
            <a:rect l="l" t="t" r="r" b="b"/>
            <a:pathLst>
              <a:path w="1811250" h="2012500">
                <a:moveTo>
                  <a:pt x="0" y="0"/>
                </a:moveTo>
                <a:lnTo>
                  <a:pt x="1811251" y="0"/>
                </a:lnTo>
                <a:lnTo>
                  <a:pt x="1811251" y="2012501"/>
                </a:lnTo>
                <a:lnTo>
                  <a:pt x="0" y="20125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sp>
        <p:nvSpPr>
          <p:cNvPr id="8" name="Freeform 2">
            <a:extLst>
              <a:ext uri="{FF2B5EF4-FFF2-40B4-BE49-F238E27FC236}">
                <a16:creationId xmlns:a16="http://schemas.microsoft.com/office/drawing/2014/main" id="{B8D8E9CB-92FD-C22A-B4BC-7752E76BE1E7}"/>
              </a:ext>
            </a:extLst>
          </p:cNvPr>
          <p:cNvSpPr/>
          <p:nvPr/>
        </p:nvSpPr>
        <p:spPr>
          <a:xfrm rot="12423514">
            <a:off x="-105868" y="-199790"/>
            <a:ext cx="965003" cy="1228641"/>
          </a:xfrm>
          <a:custGeom>
            <a:avLst/>
            <a:gdLst/>
            <a:ahLst/>
            <a:cxnLst/>
            <a:rect l="l" t="t" r="r" b="b"/>
            <a:pathLst>
              <a:path w="1811250" h="2012500">
                <a:moveTo>
                  <a:pt x="0" y="0"/>
                </a:moveTo>
                <a:lnTo>
                  <a:pt x="1811251" y="0"/>
                </a:lnTo>
                <a:lnTo>
                  <a:pt x="1811251" y="2012501"/>
                </a:lnTo>
                <a:lnTo>
                  <a:pt x="0" y="20125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pic>
        <p:nvPicPr>
          <p:cNvPr id="9" name="Imagen 8">
            <a:extLst>
              <a:ext uri="{FF2B5EF4-FFF2-40B4-BE49-F238E27FC236}">
                <a16:creationId xmlns:a16="http://schemas.microsoft.com/office/drawing/2014/main" id="{3656389E-B0BB-3B6B-AD6A-DA1529F6B047}"/>
              </a:ext>
            </a:extLst>
          </p:cNvPr>
          <p:cNvPicPr>
            <a:picLocks noChangeAspect="1"/>
          </p:cNvPicPr>
          <p:nvPr/>
        </p:nvPicPr>
        <p:blipFill>
          <a:blip r:embed="rId5"/>
          <a:stretch>
            <a:fillRect/>
          </a:stretch>
        </p:blipFill>
        <p:spPr>
          <a:xfrm>
            <a:off x="914400" y="1685537"/>
            <a:ext cx="13106400" cy="8182363"/>
          </a:xfrm>
          <a:prstGeom prst="rect">
            <a:avLst/>
          </a:prstGeom>
        </p:spPr>
      </p:pic>
    </p:spTree>
    <p:extLst>
      <p:ext uri="{BB962C8B-B14F-4D97-AF65-F5344CB8AC3E}">
        <p14:creationId xmlns:p14="http://schemas.microsoft.com/office/powerpoint/2010/main" val="3498709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75F4942C-8DDE-37A2-88B1-5D7F1B044A34}"/>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5CB99D95-3B58-44CE-CC7E-80C6AAD0DE2E}"/>
              </a:ext>
            </a:extLst>
          </p:cNvPr>
          <p:cNvSpPr txBox="1"/>
          <p:nvPr/>
        </p:nvSpPr>
        <p:spPr>
          <a:xfrm>
            <a:off x="1085776" y="152398"/>
            <a:ext cx="10268024" cy="1279196"/>
          </a:xfrm>
          <a:prstGeom prst="rect">
            <a:avLst/>
          </a:prstGeom>
        </p:spPr>
        <p:txBody>
          <a:bodyPr wrap="square" lIns="0" tIns="0" rIns="0" bIns="0" rtlCol="0" anchor="t">
            <a:spAutoFit/>
          </a:bodyPr>
          <a:lstStyle/>
          <a:p>
            <a:pPr algn="r">
              <a:lnSpc>
                <a:spcPts val="10863"/>
              </a:lnSpc>
            </a:pPr>
            <a:r>
              <a:rPr lang="es-SV" sz="6000" b="1" spc="-194" dirty="0">
                <a:solidFill>
                  <a:srgbClr val="FFFFFF"/>
                </a:solidFill>
                <a:latin typeface="Now Bold"/>
                <a:ea typeface="Now Bold"/>
                <a:cs typeface="Now Bold"/>
                <a:sym typeface="Now Bold"/>
              </a:rPr>
              <a:t>Explicación Códigos: </a:t>
            </a:r>
            <a:r>
              <a:rPr lang="es-SV" sz="6000" b="1" spc="-194" dirty="0">
                <a:solidFill>
                  <a:srgbClr val="FFFF00"/>
                </a:solidFill>
                <a:latin typeface="Now Bold"/>
                <a:ea typeface="Now Bold"/>
                <a:cs typeface="Now Bold"/>
                <a:sym typeface="Now Bold"/>
              </a:rPr>
              <a:t>APP.js</a:t>
            </a:r>
            <a:endParaRPr lang="en-US" sz="6000" b="1" spc="-194" dirty="0">
              <a:solidFill>
                <a:srgbClr val="FFFF00"/>
              </a:solidFill>
              <a:latin typeface="Now Bold"/>
              <a:ea typeface="Now Bold"/>
              <a:cs typeface="Now Bold"/>
              <a:sym typeface="Now Bold"/>
            </a:endParaRPr>
          </a:p>
        </p:txBody>
      </p:sp>
      <p:sp>
        <p:nvSpPr>
          <p:cNvPr id="5" name="Freeform 5">
            <a:extLst>
              <a:ext uri="{FF2B5EF4-FFF2-40B4-BE49-F238E27FC236}">
                <a16:creationId xmlns:a16="http://schemas.microsoft.com/office/drawing/2014/main" id="{D00BB209-273F-B15A-98F5-6EECFD81DA2C}"/>
              </a:ext>
            </a:extLst>
          </p:cNvPr>
          <p:cNvSpPr/>
          <p:nvPr/>
        </p:nvSpPr>
        <p:spPr>
          <a:xfrm rot="10415872">
            <a:off x="16956338" y="-829748"/>
            <a:ext cx="2307347" cy="1888093"/>
          </a:xfrm>
          <a:custGeom>
            <a:avLst/>
            <a:gdLst/>
            <a:ahLst/>
            <a:cxnLst/>
            <a:rect l="l" t="t" r="r" b="b"/>
            <a:pathLst>
              <a:path w="5277584" h="5277584">
                <a:moveTo>
                  <a:pt x="0" y="0"/>
                </a:moveTo>
                <a:lnTo>
                  <a:pt x="5277583" y="0"/>
                </a:lnTo>
                <a:lnTo>
                  <a:pt x="5277583" y="5277584"/>
                </a:lnTo>
                <a:lnTo>
                  <a:pt x="0" y="527758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419"/>
          </a:p>
        </p:txBody>
      </p:sp>
      <p:sp>
        <p:nvSpPr>
          <p:cNvPr id="6" name="Freeform 6">
            <a:extLst>
              <a:ext uri="{FF2B5EF4-FFF2-40B4-BE49-F238E27FC236}">
                <a16:creationId xmlns:a16="http://schemas.microsoft.com/office/drawing/2014/main" id="{2ABB6529-4C13-B548-B606-E8B65B32CDF9}"/>
              </a:ext>
            </a:extLst>
          </p:cNvPr>
          <p:cNvSpPr/>
          <p:nvPr/>
        </p:nvSpPr>
        <p:spPr>
          <a:xfrm>
            <a:off x="-228600" y="9334500"/>
            <a:ext cx="845127" cy="1371448"/>
          </a:xfrm>
          <a:custGeom>
            <a:avLst/>
            <a:gdLst/>
            <a:ahLst/>
            <a:cxnLst/>
            <a:rect l="l" t="t" r="r" b="b"/>
            <a:pathLst>
              <a:path w="4774256" h="4774256">
                <a:moveTo>
                  <a:pt x="0" y="0"/>
                </a:moveTo>
                <a:lnTo>
                  <a:pt x="4774256" y="0"/>
                </a:lnTo>
                <a:lnTo>
                  <a:pt x="4774256" y="4774256"/>
                </a:lnTo>
                <a:lnTo>
                  <a:pt x="0" y="477425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419"/>
          </a:p>
        </p:txBody>
      </p:sp>
      <p:sp>
        <p:nvSpPr>
          <p:cNvPr id="7" name="Freeform 2">
            <a:extLst>
              <a:ext uri="{FF2B5EF4-FFF2-40B4-BE49-F238E27FC236}">
                <a16:creationId xmlns:a16="http://schemas.microsoft.com/office/drawing/2014/main" id="{765031BA-5B29-A76E-1AC2-9EBE4FBCF71E}"/>
              </a:ext>
            </a:extLst>
          </p:cNvPr>
          <p:cNvSpPr/>
          <p:nvPr/>
        </p:nvSpPr>
        <p:spPr>
          <a:xfrm>
            <a:off x="16892901" y="8518810"/>
            <a:ext cx="1524000" cy="1631379"/>
          </a:xfrm>
          <a:custGeom>
            <a:avLst/>
            <a:gdLst/>
            <a:ahLst/>
            <a:cxnLst/>
            <a:rect l="l" t="t" r="r" b="b"/>
            <a:pathLst>
              <a:path w="1811250" h="2012500">
                <a:moveTo>
                  <a:pt x="0" y="0"/>
                </a:moveTo>
                <a:lnTo>
                  <a:pt x="1811251" y="0"/>
                </a:lnTo>
                <a:lnTo>
                  <a:pt x="1811251" y="2012501"/>
                </a:lnTo>
                <a:lnTo>
                  <a:pt x="0" y="20125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sp>
        <p:nvSpPr>
          <p:cNvPr id="8" name="Freeform 2">
            <a:extLst>
              <a:ext uri="{FF2B5EF4-FFF2-40B4-BE49-F238E27FC236}">
                <a16:creationId xmlns:a16="http://schemas.microsoft.com/office/drawing/2014/main" id="{AC130FB7-D297-0E7F-E59D-A0FEAF9DDEC8}"/>
              </a:ext>
            </a:extLst>
          </p:cNvPr>
          <p:cNvSpPr/>
          <p:nvPr/>
        </p:nvSpPr>
        <p:spPr>
          <a:xfrm rot="12423514">
            <a:off x="-105868" y="-199790"/>
            <a:ext cx="965003" cy="1228641"/>
          </a:xfrm>
          <a:custGeom>
            <a:avLst/>
            <a:gdLst/>
            <a:ahLst/>
            <a:cxnLst/>
            <a:rect l="l" t="t" r="r" b="b"/>
            <a:pathLst>
              <a:path w="1811250" h="2012500">
                <a:moveTo>
                  <a:pt x="0" y="0"/>
                </a:moveTo>
                <a:lnTo>
                  <a:pt x="1811251" y="0"/>
                </a:lnTo>
                <a:lnTo>
                  <a:pt x="1811251" y="2012501"/>
                </a:lnTo>
                <a:lnTo>
                  <a:pt x="0" y="20125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pic>
        <p:nvPicPr>
          <p:cNvPr id="4" name="Imagen 3">
            <a:extLst>
              <a:ext uri="{FF2B5EF4-FFF2-40B4-BE49-F238E27FC236}">
                <a16:creationId xmlns:a16="http://schemas.microsoft.com/office/drawing/2014/main" id="{F055B966-1E68-566D-B652-24AA3908F0BC}"/>
              </a:ext>
            </a:extLst>
          </p:cNvPr>
          <p:cNvPicPr>
            <a:picLocks noChangeAspect="1"/>
          </p:cNvPicPr>
          <p:nvPr/>
        </p:nvPicPr>
        <p:blipFill>
          <a:blip r:embed="rId5"/>
          <a:stretch>
            <a:fillRect/>
          </a:stretch>
        </p:blipFill>
        <p:spPr>
          <a:xfrm>
            <a:off x="837762" y="1685537"/>
            <a:ext cx="10764051" cy="8029963"/>
          </a:xfrm>
          <a:prstGeom prst="rect">
            <a:avLst/>
          </a:prstGeom>
        </p:spPr>
      </p:pic>
    </p:spTree>
    <p:extLst>
      <p:ext uri="{BB962C8B-B14F-4D97-AF65-F5344CB8AC3E}">
        <p14:creationId xmlns:p14="http://schemas.microsoft.com/office/powerpoint/2010/main" val="28632076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F1171A6A-B379-CC55-39CD-A6B445DD8F79}"/>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8A788E56-1662-0AAD-326B-F5A8E40578D7}"/>
              </a:ext>
            </a:extLst>
          </p:cNvPr>
          <p:cNvSpPr txBox="1"/>
          <p:nvPr/>
        </p:nvSpPr>
        <p:spPr>
          <a:xfrm>
            <a:off x="1085776" y="152398"/>
            <a:ext cx="10268024" cy="1279196"/>
          </a:xfrm>
          <a:prstGeom prst="rect">
            <a:avLst/>
          </a:prstGeom>
        </p:spPr>
        <p:txBody>
          <a:bodyPr wrap="square" lIns="0" tIns="0" rIns="0" bIns="0" rtlCol="0" anchor="t">
            <a:spAutoFit/>
          </a:bodyPr>
          <a:lstStyle/>
          <a:p>
            <a:pPr algn="r">
              <a:lnSpc>
                <a:spcPts val="10863"/>
              </a:lnSpc>
            </a:pPr>
            <a:r>
              <a:rPr lang="es-SV" sz="6000" b="1" spc="-194" dirty="0">
                <a:solidFill>
                  <a:srgbClr val="FFFFFF"/>
                </a:solidFill>
                <a:latin typeface="Now Bold"/>
                <a:ea typeface="Now Bold"/>
                <a:cs typeface="Now Bold"/>
                <a:sym typeface="Now Bold"/>
              </a:rPr>
              <a:t>Explicación Códigos: </a:t>
            </a:r>
            <a:r>
              <a:rPr lang="es-SV" sz="6000" b="1" spc="-194" dirty="0">
                <a:solidFill>
                  <a:srgbClr val="FFFF00"/>
                </a:solidFill>
                <a:latin typeface="Now Bold"/>
                <a:ea typeface="Now Bold"/>
                <a:cs typeface="Now Bold"/>
                <a:sym typeface="Now Bold"/>
              </a:rPr>
              <a:t>APP.js</a:t>
            </a:r>
            <a:endParaRPr lang="en-US" sz="6000" b="1" spc="-194" dirty="0">
              <a:solidFill>
                <a:srgbClr val="FFFF00"/>
              </a:solidFill>
              <a:latin typeface="Now Bold"/>
              <a:ea typeface="Now Bold"/>
              <a:cs typeface="Now Bold"/>
              <a:sym typeface="Now Bold"/>
            </a:endParaRPr>
          </a:p>
        </p:txBody>
      </p:sp>
      <p:sp>
        <p:nvSpPr>
          <p:cNvPr id="5" name="Freeform 5">
            <a:extLst>
              <a:ext uri="{FF2B5EF4-FFF2-40B4-BE49-F238E27FC236}">
                <a16:creationId xmlns:a16="http://schemas.microsoft.com/office/drawing/2014/main" id="{E724B68A-9271-398D-D05C-8511505E271F}"/>
              </a:ext>
            </a:extLst>
          </p:cNvPr>
          <p:cNvSpPr/>
          <p:nvPr/>
        </p:nvSpPr>
        <p:spPr>
          <a:xfrm rot="10415872">
            <a:off x="16956338" y="-829748"/>
            <a:ext cx="2307347" cy="1888093"/>
          </a:xfrm>
          <a:custGeom>
            <a:avLst/>
            <a:gdLst/>
            <a:ahLst/>
            <a:cxnLst/>
            <a:rect l="l" t="t" r="r" b="b"/>
            <a:pathLst>
              <a:path w="5277584" h="5277584">
                <a:moveTo>
                  <a:pt x="0" y="0"/>
                </a:moveTo>
                <a:lnTo>
                  <a:pt x="5277583" y="0"/>
                </a:lnTo>
                <a:lnTo>
                  <a:pt x="5277583" y="5277584"/>
                </a:lnTo>
                <a:lnTo>
                  <a:pt x="0" y="527758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419"/>
          </a:p>
        </p:txBody>
      </p:sp>
      <p:sp>
        <p:nvSpPr>
          <p:cNvPr id="6" name="Freeform 6">
            <a:extLst>
              <a:ext uri="{FF2B5EF4-FFF2-40B4-BE49-F238E27FC236}">
                <a16:creationId xmlns:a16="http://schemas.microsoft.com/office/drawing/2014/main" id="{BFD8CF04-94C0-D9B8-1F7D-B9E41EB5D4E0}"/>
              </a:ext>
            </a:extLst>
          </p:cNvPr>
          <p:cNvSpPr/>
          <p:nvPr/>
        </p:nvSpPr>
        <p:spPr>
          <a:xfrm>
            <a:off x="-228600" y="9334500"/>
            <a:ext cx="845127" cy="1371448"/>
          </a:xfrm>
          <a:custGeom>
            <a:avLst/>
            <a:gdLst/>
            <a:ahLst/>
            <a:cxnLst/>
            <a:rect l="l" t="t" r="r" b="b"/>
            <a:pathLst>
              <a:path w="4774256" h="4774256">
                <a:moveTo>
                  <a:pt x="0" y="0"/>
                </a:moveTo>
                <a:lnTo>
                  <a:pt x="4774256" y="0"/>
                </a:lnTo>
                <a:lnTo>
                  <a:pt x="4774256" y="4774256"/>
                </a:lnTo>
                <a:lnTo>
                  <a:pt x="0" y="477425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419"/>
          </a:p>
        </p:txBody>
      </p:sp>
      <p:sp>
        <p:nvSpPr>
          <p:cNvPr id="7" name="Freeform 2">
            <a:extLst>
              <a:ext uri="{FF2B5EF4-FFF2-40B4-BE49-F238E27FC236}">
                <a16:creationId xmlns:a16="http://schemas.microsoft.com/office/drawing/2014/main" id="{87572897-EF32-C723-240B-0E1A31439157}"/>
              </a:ext>
            </a:extLst>
          </p:cNvPr>
          <p:cNvSpPr/>
          <p:nvPr/>
        </p:nvSpPr>
        <p:spPr>
          <a:xfrm>
            <a:off x="16892901" y="8518810"/>
            <a:ext cx="1524000" cy="1631379"/>
          </a:xfrm>
          <a:custGeom>
            <a:avLst/>
            <a:gdLst/>
            <a:ahLst/>
            <a:cxnLst/>
            <a:rect l="l" t="t" r="r" b="b"/>
            <a:pathLst>
              <a:path w="1811250" h="2012500">
                <a:moveTo>
                  <a:pt x="0" y="0"/>
                </a:moveTo>
                <a:lnTo>
                  <a:pt x="1811251" y="0"/>
                </a:lnTo>
                <a:lnTo>
                  <a:pt x="1811251" y="2012501"/>
                </a:lnTo>
                <a:lnTo>
                  <a:pt x="0" y="20125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sp>
        <p:nvSpPr>
          <p:cNvPr id="8" name="Freeform 2">
            <a:extLst>
              <a:ext uri="{FF2B5EF4-FFF2-40B4-BE49-F238E27FC236}">
                <a16:creationId xmlns:a16="http://schemas.microsoft.com/office/drawing/2014/main" id="{C4A1CCD4-9A8A-DFBD-BF16-D39B1A0D965C}"/>
              </a:ext>
            </a:extLst>
          </p:cNvPr>
          <p:cNvSpPr/>
          <p:nvPr/>
        </p:nvSpPr>
        <p:spPr>
          <a:xfrm rot="12423514">
            <a:off x="-105868" y="-199790"/>
            <a:ext cx="965003" cy="1228641"/>
          </a:xfrm>
          <a:custGeom>
            <a:avLst/>
            <a:gdLst/>
            <a:ahLst/>
            <a:cxnLst/>
            <a:rect l="l" t="t" r="r" b="b"/>
            <a:pathLst>
              <a:path w="1811250" h="2012500">
                <a:moveTo>
                  <a:pt x="0" y="0"/>
                </a:moveTo>
                <a:lnTo>
                  <a:pt x="1811251" y="0"/>
                </a:lnTo>
                <a:lnTo>
                  <a:pt x="1811251" y="2012501"/>
                </a:lnTo>
                <a:lnTo>
                  <a:pt x="0" y="20125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pic>
        <p:nvPicPr>
          <p:cNvPr id="4" name="Imagen 3">
            <a:extLst>
              <a:ext uri="{FF2B5EF4-FFF2-40B4-BE49-F238E27FC236}">
                <a16:creationId xmlns:a16="http://schemas.microsoft.com/office/drawing/2014/main" id="{4EFE8523-EF00-4455-8DBA-693A665D3225}"/>
              </a:ext>
            </a:extLst>
          </p:cNvPr>
          <p:cNvPicPr>
            <a:picLocks noChangeAspect="1"/>
          </p:cNvPicPr>
          <p:nvPr/>
        </p:nvPicPr>
        <p:blipFill>
          <a:blip r:embed="rId5"/>
          <a:stretch>
            <a:fillRect/>
          </a:stretch>
        </p:blipFill>
        <p:spPr>
          <a:xfrm>
            <a:off x="1074890" y="1750850"/>
            <a:ext cx="11498110" cy="8383751"/>
          </a:xfrm>
          <a:prstGeom prst="rect">
            <a:avLst/>
          </a:prstGeom>
        </p:spPr>
      </p:pic>
    </p:spTree>
    <p:extLst>
      <p:ext uri="{BB962C8B-B14F-4D97-AF65-F5344CB8AC3E}">
        <p14:creationId xmlns:p14="http://schemas.microsoft.com/office/powerpoint/2010/main" val="9971861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E84379CA-062F-1834-983C-B5389C8F38BD}"/>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C753B8E3-BF2A-7BFC-9800-DBBE5415C390}"/>
              </a:ext>
            </a:extLst>
          </p:cNvPr>
          <p:cNvSpPr txBox="1"/>
          <p:nvPr/>
        </p:nvSpPr>
        <p:spPr>
          <a:xfrm>
            <a:off x="1085776" y="152398"/>
            <a:ext cx="10268024" cy="1279196"/>
          </a:xfrm>
          <a:prstGeom prst="rect">
            <a:avLst/>
          </a:prstGeom>
        </p:spPr>
        <p:txBody>
          <a:bodyPr wrap="square" lIns="0" tIns="0" rIns="0" bIns="0" rtlCol="0" anchor="t">
            <a:spAutoFit/>
          </a:bodyPr>
          <a:lstStyle/>
          <a:p>
            <a:pPr algn="r">
              <a:lnSpc>
                <a:spcPts val="10863"/>
              </a:lnSpc>
            </a:pPr>
            <a:r>
              <a:rPr lang="es-SV" sz="6000" b="1" spc="-194" dirty="0">
                <a:solidFill>
                  <a:srgbClr val="FFFFFF"/>
                </a:solidFill>
                <a:latin typeface="Now Bold"/>
                <a:ea typeface="Now Bold"/>
                <a:cs typeface="Now Bold"/>
                <a:sym typeface="Now Bold"/>
              </a:rPr>
              <a:t>Explicación Códigos: </a:t>
            </a:r>
            <a:r>
              <a:rPr lang="es-SV" sz="6000" b="1" spc="-194" dirty="0">
                <a:solidFill>
                  <a:srgbClr val="FFFF00"/>
                </a:solidFill>
                <a:latin typeface="Now Bold"/>
                <a:ea typeface="Now Bold"/>
                <a:cs typeface="Now Bold"/>
                <a:sym typeface="Now Bold"/>
              </a:rPr>
              <a:t>APP.js</a:t>
            </a:r>
            <a:endParaRPr lang="en-US" sz="6000" b="1" spc="-194" dirty="0">
              <a:solidFill>
                <a:srgbClr val="FFFF00"/>
              </a:solidFill>
              <a:latin typeface="Now Bold"/>
              <a:ea typeface="Now Bold"/>
              <a:cs typeface="Now Bold"/>
              <a:sym typeface="Now Bold"/>
            </a:endParaRPr>
          </a:p>
        </p:txBody>
      </p:sp>
      <p:sp>
        <p:nvSpPr>
          <p:cNvPr id="5" name="Freeform 5">
            <a:extLst>
              <a:ext uri="{FF2B5EF4-FFF2-40B4-BE49-F238E27FC236}">
                <a16:creationId xmlns:a16="http://schemas.microsoft.com/office/drawing/2014/main" id="{48902FA9-1E73-4FD2-E19F-5D2AB56B4E33}"/>
              </a:ext>
            </a:extLst>
          </p:cNvPr>
          <p:cNvSpPr/>
          <p:nvPr/>
        </p:nvSpPr>
        <p:spPr>
          <a:xfrm rot="10415872">
            <a:off x="16956338" y="-829748"/>
            <a:ext cx="2307347" cy="1888093"/>
          </a:xfrm>
          <a:custGeom>
            <a:avLst/>
            <a:gdLst/>
            <a:ahLst/>
            <a:cxnLst/>
            <a:rect l="l" t="t" r="r" b="b"/>
            <a:pathLst>
              <a:path w="5277584" h="5277584">
                <a:moveTo>
                  <a:pt x="0" y="0"/>
                </a:moveTo>
                <a:lnTo>
                  <a:pt x="5277583" y="0"/>
                </a:lnTo>
                <a:lnTo>
                  <a:pt x="5277583" y="5277584"/>
                </a:lnTo>
                <a:lnTo>
                  <a:pt x="0" y="527758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419"/>
          </a:p>
        </p:txBody>
      </p:sp>
      <p:sp>
        <p:nvSpPr>
          <p:cNvPr id="6" name="Freeform 6">
            <a:extLst>
              <a:ext uri="{FF2B5EF4-FFF2-40B4-BE49-F238E27FC236}">
                <a16:creationId xmlns:a16="http://schemas.microsoft.com/office/drawing/2014/main" id="{A9A7C239-0413-F248-C7A6-FDF9FE134BA2}"/>
              </a:ext>
            </a:extLst>
          </p:cNvPr>
          <p:cNvSpPr/>
          <p:nvPr/>
        </p:nvSpPr>
        <p:spPr>
          <a:xfrm>
            <a:off x="-228600" y="9334500"/>
            <a:ext cx="845127" cy="1371448"/>
          </a:xfrm>
          <a:custGeom>
            <a:avLst/>
            <a:gdLst/>
            <a:ahLst/>
            <a:cxnLst/>
            <a:rect l="l" t="t" r="r" b="b"/>
            <a:pathLst>
              <a:path w="4774256" h="4774256">
                <a:moveTo>
                  <a:pt x="0" y="0"/>
                </a:moveTo>
                <a:lnTo>
                  <a:pt x="4774256" y="0"/>
                </a:lnTo>
                <a:lnTo>
                  <a:pt x="4774256" y="4774256"/>
                </a:lnTo>
                <a:lnTo>
                  <a:pt x="0" y="477425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419"/>
          </a:p>
        </p:txBody>
      </p:sp>
      <p:sp>
        <p:nvSpPr>
          <p:cNvPr id="7" name="Freeform 2">
            <a:extLst>
              <a:ext uri="{FF2B5EF4-FFF2-40B4-BE49-F238E27FC236}">
                <a16:creationId xmlns:a16="http://schemas.microsoft.com/office/drawing/2014/main" id="{06E5A0AA-566B-086E-9CDF-96687DCC15A5}"/>
              </a:ext>
            </a:extLst>
          </p:cNvPr>
          <p:cNvSpPr/>
          <p:nvPr/>
        </p:nvSpPr>
        <p:spPr>
          <a:xfrm>
            <a:off x="16892901" y="8518810"/>
            <a:ext cx="1524000" cy="1631379"/>
          </a:xfrm>
          <a:custGeom>
            <a:avLst/>
            <a:gdLst/>
            <a:ahLst/>
            <a:cxnLst/>
            <a:rect l="l" t="t" r="r" b="b"/>
            <a:pathLst>
              <a:path w="1811250" h="2012500">
                <a:moveTo>
                  <a:pt x="0" y="0"/>
                </a:moveTo>
                <a:lnTo>
                  <a:pt x="1811251" y="0"/>
                </a:lnTo>
                <a:lnTo>
                  <a:pt x="1811251" y="2012501"/>
                </a:lnTo>
                <a:lnTo>
                  <a:pt x="0" y="20125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sp>
        <p:nvSpPr>
          <p:cNvPr id="8" name="Freeform 2">
            <a:extLst>
              <a:ext uri="{FF2B5EF4-FFF2-40B4-BE49-F238E27FC236}">
                <a16:creationId xmlns:a16="http://schemas.microsoft.com/office/drawing/2014/main" id="{F17E3464-B242-B5E9-6053-5A2BA52E17D2}"/>
              </a:ext>
            </a:extLst>
          </p:cNvPr>
          <p:cNvSpPr/>
          <p:nvPr/>
        </p:nvSpPr>
        <p:spPr>
          <a:xfrm rot="12423514">
            <a:off x="-105868" y="-199790"/>
            <a:ext cx="965003" cy="1228641"/>
          </a:xfrm>
          <a:custGeom>
            <a:avLst/>
            <a:gdLst/>
            <a:ahLst/>
            <a:cxnLst/>
            <a:rect l="l" t="t" r="r" b="b"/>
            <a:pathLst>
              <a:path w="1811250" h="2012500">
                <a:moveTo>
                  <a:pt x="0" y="0"/>
                </a:moveTo>
                <a:lnTo>
                  <a:pt x="1811251" y="0"/>
                </a:lnTo>
                <a:lnTo>
                  <a:pt x="1811251" y="2012501"/>
                </a:lnTo>
                <a:lnTo>
                  <a:pt x="0" y="20125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pic>
        <p:nvPicPr>
          <p:cNvPr id="4" name="Imagen 3">
            <a:extLst>
              <a:ext uri="{FF2B5EF4-FFF2-40B4-BE49-F238E27FC236}">
                <a16:creationId xmlns:a16="http://schemas.microsoft.com/office/drawing/2014/main" id="{21473D80-6896-375A-6109-941D0EB57051}"/>
              </a:ext>
            </a:extLst>
          </p:cNvPr>
          <p:cNvPicPr>
            <a:picLocks noChangeAspect="1"/>
          </p:cNvPicPr>
          <p:nvPr/>
        </p:nvPicPr>
        <p:blipFill>
          <a:blip r:embed="rId5"/>
          <a:stretch>
            <a:fillRect/>
          </a:stretch>
        </p:blipFill>
        <p:spPr>
          <a:xfrm>
            <a:off x="990600" y="1398936"/>
            <a:ext cx="9067800" cy="8735665"/>
          </a:xfrm>
          <a:prstGeom prst="rect">
            <a:avLst/>
          </a:prstGeom>
        </p:spPr>
      </p:pic>
    </p:spTree>
    <p:extLst>
      <p:ext uri="{BB962C8B-B14F-4D97-AF65-F5344CB8AC3E}">
        <p14:creationId xmlns:p14="http://schemas.microsoft.com/office/powerpoint/2010/main" val="2082581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extBox 3"/>
          <p:cNvSpPr txBox="1"/>
          <p:nvPr/>
        </p:nvSpPr>
        <p:spPr>
          <a:xfrm>
            <a:off x="1085776" y="152398"/>
            <a:ext cx="13087424" cy="1279196"/>
          </a:xfrm>
          <a:prstGeom prst="rect">
            <a:avLst/>
          </a:prstGeom>
        </p:spPr>
        <p:txBody>
          <a:bodyPr wrap="square" lIns="0" tIns="0" rIns="0" bIns="0" rtlCol="0" anchor="t">
            <a:spAutoFit/>
          </a:bodyPr>
          <a:lstStyle/>
          <a:p>
            <a:pPr algn="r">
              <a:lnSpc>
                <a:spcPts val="10863"/>
              </a:lnSpc>
            </a:pPr>
            <a:r>
              <a:rPr lang="es-SV" sz="6000" b="1" spc="-194" dirty="0">
                <a:solidFill>
                  <a:srgbClr val="FFFFFF"/>
                </a:solidFill>
                <a:latin typeface="Now Bold"/>
                <a:ea typeface="Now Bold"/>
                <a:cs typeface="Now Bold"/>
                <a:sym typeface="Now Bold"/>
              </a:rPr>
              <a:t>Explicación Códigos: </a:t>
            </a:r>
            <a:r>
              <a:rPr lang="es-SV" sz="6000" b="1" spc="-194" dirty="0" err="1">
                <a:solidFill>
                  <a:srgbClr val="FFC000"/>
                </a:solidFill>
                <a:latin typeface="Now Bold"/>
                <a:ea typeface="Now Bold"/>
                <a:cs typeface="Now Bold"/>
                <a:sym typeface="Now Bold"/>
              </a:rPr>
              <a:t>App.Json</a:t>
            </a:r>
            <a:endParaRPr lang="en-US" sz="6000" b="1" spc="-194" dirty="0">
              <a:solidFill>
                <a:srgbClr val="FFC000"/>
              </a:solidFill>
              <a:latin typeface="Now Bold"/>
              <a:ea typeface="Now Bold"/>
              <a:cs typeface="Now Bold"/>
              <a:sym typeface="Now Bold"/>
            </a:endParaRPr>
          </a:p>
        </p:txBody>
      </p:sp>
      <p:sp>
        <p:nvSpPr>
          <p:cNvPr id="5" name="Freeform 5"/>
          <p:cNvSpPr/>
          <p:nvPr/>
        </p:nvSpPr>
        <p:spPr>
          <a:xfrm rot="10415872">
            <a:off x="16956338" y="-829748"/>
            <a:ext cx="2307347" cy="1888093"/>
          </a:xfrm>
          <a:custGeom>
            <a:avLst/>
            <a:gdLst/>
            <a:ahLst/>
            <a:cxnLst/>
            <a:rect l="l" t="t" r="r" b="b"/>
            <a:pathLst>
              <a:path w="5277584" h="5277584">
                <a:moveTo>
                  <a:pt x="0" y="0"/>
                </a:moveTo>
                <a:lnTo>
                  <a:pt x="5277583" y="0"/>
                </a:lnTo>
                <a:lnTo>
                  <a:pt x="5277583" y="5277584"/>
                </a:lnTo>
                <a:lnTo>
                  <a:pt x="0" y="527758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419"/>
          </a:p>
        </p:txBody>
      </p:sp>
      <p:sp>
        <p:nvSpPr>
          <p:cNvPr id="6" name="Freeform 6"/>
          <p:cNvSpPr/>
          <p:nvPr/>
        </p:nvSpPr>
        <p:spPr>
          <a:xfrm>
            <a:off x="-228600" y="9334500"/>
            <a:ext cx="845127" cy="1371448"/>
          </a:xfrm>
          <a:custGeom>
            <a:avLst/>
            <a:gdLst/>
            <a:ahLst/>
            <a:cxnLst/>
            <a:rect l="l" t="t" r="r" b="b"/>
            <a:pathLst>
              <a:path w="4774256" h="4774256">
                <a:moveTo>
                  <a:pt x="0" y="0"/>
                </a:moveTo>
                <a:lnTo>
                  <a:pt x="4774256" y="0"/>
                </a:lnTo>
                <a:lnTo>
                  <a:pt x="4774256" y="4774256"/>
                </a:lnTo>
                <a:lnTo>
                  <a:pt x="0" y="477425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419"/>
          </a:p>
        </p:txBody>
      </p:sp>
      <p:sp>
        <p:nvSpPr>
          <p:cNvPr id="7" name="Freeform 2"/>
          <p:cNvSpPr/>
          <p:nvPr/>
        </p:nvSpPr>
        <p:spPr>
          <a:xfrm>
            <a:off x="16892901" y="8518810"/>
            <a:ext cx="1524000" cy="1631379"/>
          </a:xfrm>
          <a:custGeom>
            <a:avLst/>
            <a:gdLst/>
            <a:ahLst/>
            <a:cxnLst/>
            <a:rect l="l" t="t" r="r" b="b"/>
            <a:pathLst>
              <a:path w="1811250" h="2012500">
                <a:moveTo>
                  <a:pt x="0" y="0"/>
                </a:moveTo>
                <a:lnTo>
                  <a:pt x="1811251" y="0"/>
                </a:lnTo>
                <a:lnTo>
                  <a:pt x="1811251" y="2012501"/>
                </a:lnTo>
                <a:lnTo>
                  <a:pt x="0" y="20125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sp>
        <p:nvSpPr>
          <p:cNvPr id="8" name="Freeform 2"/>
          <p:cNvSpPr/>
          <p:nvPr/>
        </p:nvSpPr>
        <p:spPr>
          <a:xfrm rot="12423514">
            <a:off x="-105868" y="-199790"/>
            <a:ext cx="965003" cy="1228641"/>
          </a:xfrm>
          <a:custGeom>
            <a:avLst/>
            <a:gdLst/>
            <a:ahLst/>
            <a:cxnLst/>
            <a:rect l="l" t="t" r="r" b="b"/>
            <a:pathLst>
              <a:path w="1811250" h="2012500">
                <a:moveTo>
                  <a:pt x="0" y="0"/>
                </a:moveTo>
                <a:lnTo>
                  <a:pt x="1811251" y="0"/>
                </a:lnTo>
                <a:lnTo>
                  <a:pt x="1811251" y="2012501"/>
                </a:lnTo>
                <a:lnTo>
                  <a:pt x="0" y="20125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pic>
        <p:nvPicPr>
          <p:cNvPr id="11" name="Imagen 10">
            <a:extLst>
              <a:ext uri="{FF2B5EF4-FFF2-40B4-BE49-F238E27FC236}">
                <a16:creationId xmlns:a16="http://schemas.microsoft.com/office/drawing/2014/main" id="{B21CA1CE-517A-0EA3-B90C-E946E82D24B2}"/>
              </a:ext>
            </a:extLst>
          </p:cNvPr>
          <p:cNvPicPr>
            <a:picLocks noChangeAspect="1"/>
          </p:cNvPicPr>
          <p:nvPr/>
        </p:nvPicPr>
        <p:blipFill>
          <a:blip r:embed="rId5"/>
          <a:stretch>
            <a:fillRect/>
          </a:stretch>
        </p:blipFill>
        <p:spPr>
          <a:xfrm>
            <a:off x="914400" y="1361547"/>
            <a:ext cx="13087424" cy="8353954"/>
          </a:xfrm>
          <a:prstGeom prst="rect">
            <a:avLst/>
          </a:prstGeom>
        </p:spPr>
      </p:pic>
    </p:spTree>
    <p:extLst>
      <p:ext uri="{BB962C8B-B14F-4D97-AF65-F5344CB8AC3E}">
        <p14:creationId xmlns:p14="http://schemas.microsoft.com/office/powerpoint/2010/main" val="23882483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5CFECA60-6804-39BA-AB06-BA72BD4FA917}"/>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DB0D26DC-E22A-C881-8FD1-C49E8C871C3D}"/>
              </a:ext>
            </a:extLst>
          </p:cNvPr>
          <p:cNvSpPr txBox="1"/>
          <p:nvPr/>
        </p:nvSpPr>
        <p:spPr>
          <a:xfrm>
            <a:off x="1085776" y="152398"/>
            <a:ext cx="13087424" cy="1279196"/>
          </a:xfrm>
          <a:prstGeom prst="rect">
            <a:avLst/>
          </a:prstGeom>
        </p:spPr>
        <p:txBody>
          <a:bodyPr wrap="square" lIns="0" tIns="0" rIns="0" bIns="0" rtlCol="0" anchor="t">
            <a:spAutoFit/>
          </a:bodyPr>
          <a:lstStyle/>
          <a:p>
            <a:pPr algn="r">
              <a:lnSpc>
                <a:spcPts val="10863"/>
              </a:lnSpc>
            </a:pPr>
            <a:r>
              <a:rPr lang="es-SV" sz="6000" b="1" spc="-194" dirty="0">
                <a:solidFill>
                  <a:srgbClr val="FFFFFF"/>
                </a:solidFill>
                <a:latin typeface="Now Bold"/>
                <a:ea typeface="Now Bold"/>
                <a:cs typeface="Now Bold"/>
                <a:sym typeface="Now Bold"/>
              </a:rPr>
              <a:t>Explicación Códigos: </a:t>
            </a:r>
            <a:r>
              <a:rPr lang="es-SV" sz="6000" b="1" spc="-194" dirty="0" err="1">
                <a:solidFill>
                  <a:srgbClr val="FFC000"/>
                </a:solidFill>
                <a:latin typeface="Now Bold"/>
                <a:ea typeface="Now Bold"/>
                <a:cs typeface="Now Bold"/>
                <a:sym typeface="Now Bold"/>
              </a:rPr>
              <a:t>App.Json</a:t>
            </a:r>
            <a:endParaRPr lang="en-US" sz="6000" b="1" spc="-194" dirty="0">
              <a:solidFill>
                <a:srgbClr val="FFC000"/>
              </a:solidFill>
              <a:latin typeface="Now Bold"/>
              <a:ea typeface="Now Bold"/>
              <a:cs typeface="Now Bold"/>
              <a:sym typeface="Now Bold"/>
            </a:endParaRPr>
          </a:p>
        </p:txBody>
      </p:sp>
      <p:sp>
        <p:nvSpPr>
          <p:cNvPr id="5" name="Freeform 5">
            <a:extLst>
              <a:ext uri="{FF2B5EF4-FFF2-40B4-BE49-F238E27FC236}">
                <a16:creationId xmlns:a16="http://schemas.microsoft.com/office/drawing/2014/main" id="{41C70397-1EB6-726C-0B53-41F704BB8F25}"/>
              </a:ext>
            </a:extLst>
          </p:cNvPr>
          <p:cNvSpPr/>
          <p:nvPr/>
        </p:nvSpPr>
        <p:spPr>
          <a:xfrm rot="10415872">
            <a:off x="16956338" y="-829748"/>
            <a:ext cx="2307347" cy="1888093"/>
          </a:xfrm>
          <a:custGeom>
            <a:avLst/>
            <a:gdLst/>
            <a:ahLst/>
            <a:cxnLst/>
            <a:rect l="l" t="t" r="r" b="b"/>
            <a:pathLst>
              <a:path w="5277584" h="5277584">
                <a:moveTo>
                  <a:pt x="0" y="0"/>
                </a:moveTo>
                <a:lnTo>
                  <a:pt x="5277583" y="0"/>
                </a:lnTo>
                <a:lnTo>
                  <a:pt x="5277583" y="5277584"/>
                </a:lnTo>
                <a:lnTo>
                  <a:pt x="0" y="527758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419"/>
          </a:p>
        </p:txBody>
      </p:sp>
      <p:sp>
        <p:nvSpPr>
          <p:cNvPr id="6" name="Freeform 6">
            <a:extLst>
              <a:ext uri="{FF2B5EF4-FFF2-40B4-BE49-F238E27FC236}">
                <a16:creationId xmlns:a16="http://schemas.microsoft.com/office/drawing/2014/main" id="{F365E62B-7887-7DBF-4077-B8039E5E4D85}"/>
              </a:ext>
            </a:extLst>
          </p:cNvPr>
          <p:cNvSpPr/>
          <p:nvPr/>
        </p:nvSpPr>
        <p:spPr>
          <a:xfrm>
            <a:off x="-228600" y="9334500"/>
            <a:ext cx="845127" cy="1371448"/>
          </a:xfrm>
          <a:custGeom>
            <a:avLst/>
            <a:gdLst/>
            <a:ahLst/>
            <a:cxnLst/>
            <a:rect l="l" t="t" r="r" b="b"/>
            <a:pathLst>
              <a:path w="4774256" h="4774256">
                <a:moveTo>
                  <a:pt x="0" y="0"/>
                </a:moveTo>
                <a:lnTo>
                  <a:pt x="4774256" y="0"/>
                </a:lnTo>
                <a:lnTo>
                  <a:pt x="4774256" y="4774256"/>
                </a:lnTo>
                <a:lnTo>
                  <a:pt x="0" y="477425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419"/>
          </a:p>
        </p:txBody>
      </p:sp>
      <p:sp>
        <p:nvSpPr>
          <p:cNvPr id="7" name="Freeform 2">
            <a:extLst>
              <a:ext uri="{FF2B5EF4-FFF2-40B4-BE49-F238E27FC236}">
                <a16:creationId xmlns:a16="http://schemas.microsoft.com/office/drawing/2014/main" id="{E09019CC-2438-0B81-A066-E32D4950E117}"/>
              </a:ext>
            </a:extLst>
          </p:cNvPr>
          <p:cNvSpPr/>
          <p:nvPr/>
        </p:nvSpPr>
        <p:spPr>
          <a:xfrm>
            <a:off x="16892901" y="8518810"/>
            <a:ext cx="1524000" cy="1631379"/>
          </a:xfrm>
          <a:custGeom>
            <a:avLst/>
            <a:gdLst/>
            <a:ahLst/>
            <a:cxnLst/>
            <a:rect l="l" t="t" r="r" b="b"/>
            <a:pathLst>
              <a:path w="1811250" h="2012500">
                <a:moveTo>
                  <a:pt x="0" y="0"/>
                </a:moveTo>
                <a:lnTo>
                  <a:pt x="1811251" y="0"/>
                </a:lnTo>
                <a:lnTo>
                  <a:pt x="1811251" y="2012501"/>
                </a:lnTo>
                <a:lnTo>
                  <a:pt x="0" y="20125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sp>
        <p:nvSpPr>
          <p:cNvPr id="8" name="Freeform 2">
            <a:extLst>
              <a:ext uri="{FF2B5EF4-FFF2-40B4-BE49-F238E27FC236}">
                <a16:creationId xmlns:a16="http://schemas.microsoft.com/office/drawing/2014/main" id="{B1FC9F41-F8BC-FBA3-5028-72F3715DF7B5}"/>
              </a:ext>
            </a:extLst>
          </p:cNvPr>
          <p:cNvSpPr/>
          <p:nvPr/>
        </p:nvSpPr>
        <p:spPr>
          <a:xfrm rot="12423514">
            <a:off x="-105868" y="-199790"/>
            <a:ext cx="965003" cy="1228641"/>
          </a:xfrm>
          <a:custGeom>
            <a:avLst/>
            <a:gdLst/>
            <a:ahLst/>
            <a:cxnLst/>
            <a:rect l="l" t="t" r="r" b="b"/>
            <a:pathLst>
              <a:path w="1811250" h="2012500">
                <a:moveTo>
                  <a:pt x="0" y="0"/>
                </a:moveTo>
                <a:lnTo>
                  <a:pt x="1811251" y="0"/>
                </a:lnTo>
                <a:lnTo>
                  <a:pt x="1811251" y="2012501"/>
                </a:lnTo>
                <a:lnTo>
                  <a:pt x="0" y="20125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pic>
        <p:nvPicPr>
          <p:cNvPr id="4" name="Imagen 3">
            <a:extLst>
              <a:ext uri="{FF2B5EF4-FFF2-40B4-BE49-F238E27FC236}">
                <a16:creationId xmlns:a16="http://schemas.microsoft.com/office/drawing/2014/main" id="{E067E6B9-CEF3-26AB-72C7-7EFF6CE6A5AD}"/>
              </a:ext>
            </a:extLst>
          </p:cNvPr>
          <p:cNvPicPr>
            <a:picLocks noChangeAspect="1"/>
          </p:cNvPicPr>
          <p:nvPr/>
        </p:nvPicPr>
        <p:blipFill>
          <a:blip r:embed="rId5"/>
          <a:stretch>
            <a:fillRect/>
          </a:stretch>
        </p:blipFill>
        <p:spPr>
          <a:xfrm>
            <a:off x="2286000" y="2095500"/>
            <a:ext cx="9372600" cy="5562600"/>
          </a:xfrm>
          <a:prstGeom prst="rect">
            <a:avLst/>
          </a:prstGeom>
        </p:spPr>
      </p:pic>
    </p:spTree>
    <p:extLst>
      <p:ext uri="{BB962C8B-B14F-4D97-AF65-F5344CB8AC3E}">
        <p14:creationId xmlns:p14="http://schemas.microsoft.com/office/powerpoint/2010/main" val="16614454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B0720E83-C0F0-256C-A279-BAF6959FB681}"/>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B42530FE-6488-E337-04DC-B220021BA9EC}"/>
              </a:ext>
            </a:extLst>
          </p:cNvPr>
          <p:cNvSpPr txBox="1"/>
          <p:nvPr/>
        </p:nvSpPr>
        <p:spPr>
          <a:xfrm>
            <a:off x="1085776" y="152398"/>
            <a:ext cx="13087424" cy="1279196"/>
          </a:xfrm>
          <a:prstGeom prst="rect">
            <a:avLst/>
          </a:prstGeom>
        </p:spPr>
        <p:txBody>
          <a:bodyPr wrap="square" lIns="0" tIns="0" rIns="0" bIns="0" rtlCol="0" anchor="t">
            <a:spAutoFit/>
          </a:bodyPr>
          <a:lstStyle/>
          <a:p>
            <a:pPr algn="r">
              <a:lnSpc>
                <a:spcPts val="10863"/>
              </a:lnSpc>
            </a:pPr>
            <a:r>
              <a:rPr lang="es-SV" sz="6000" b="1" spc="-194" dirty="0">
                <a:solidFill>
                  <a:srgbClr val="FFFFFF"/>
                </a:solidFill>
                <a:latin typeface="Now Bold"/>
                <a:ea typeface="Now Bold"/>
                <a:cs typeface="Now Bold"/>
                <a:sym typeface="Now Bold"/>
              </a:rPr>
              <a:t>Explicación Códigos: </a:t>
            </a:r>
            <a:r>
              <a:rPr lang="es-SV" sz="6000" b="1" spc="-194" dirty="0">
                <a:solidFill>
                  <a:srgbClr val="FFC000"/>
                </a:solidFill>
                <a:latin typeface="Now Bold"/>
                <a:ea typeface="Now Bold"/>
                <a:cs typeface="Now Bold"/>
                <a:sym typeface="Now Bold"/>
              </a:rPr>
              <a:t>db.Json</a:t>
            </a:r>
            <a:endParaRPr lang="en-US" sz="6000" b="1" spc="-194" dirty="0">
              <a:solidFill>
                <a:srgbClr val="FFC000"/>
              </a:solidFill>
              <a:latin typeface="Now Bold"/>
              <a:ea typeface="Now Bold"/>
              <a:cs typeface="Now Bold"/>
              <a:sym typeface="Now Bold"/>
            </a:endParaRPr>
          </a:p>
        </p:txBody>
      </p:sp>
      <p:sp>
        <p:nvSpPr>
          <p:cNvPr id="5" name="Freeform 5">
            <a:extLst>
              <a:ext uri="{FF2B5EF4-FFF2-40B4-BE49-F238E27FC236}">
                <a16:creationId xmlns:a16="http://schemas.microsoft.com/office/drawing/2014/main" id="{DD0C03A3-4B66-F4F6-EE21-CD02C66B5879}"/>
              </a:ext>
            </a:extLst>
          </p:cNvPr>
          <p:cNvSpPr/>
          <p:nvPr/>
        </p:nvSpPr>
        <p:spPr>
          <a:xfrm rot="10415872">
            <a:off x="16956338" y="-829748"/>
            <a:ext cx="2307347" cy="1888093"/>
          </a:xfrm>
          <a:custGeom>
            <a:avLst/>
            <a:gdLst/>
            <a:ahLst/>
            <a:cxnLst/>
            <a:rect l="l" t="t" r="r" b="b"/>
            <a:pathLst>
              <a:path w="5277584" h="5277584">
                <a:moveTo>
                  <a:pt x="0" y="0"/>
                </a:moveTo>
                <a:lnTo>
                  <a:pt x="5277583" y="0"/>
                </a:lnTo>
                <a:lnTo>
                  <a:pt x="5277583" y="5277584"/>
                </a:lnTo>
                <a:lnTo>
                  <a:pt x="0" y="527758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419"/>
          </a:p>
        </p:txBody>
      </p:sp>
      <p:sp>
        <p:nvSpPr>
          <p:cNvPr id="6" name="Freeform 6">
            <a:extLst>
              <a:ext uri="{FF2B5EF4-FFF2-40B4-BE49-F238E27FC236}">
                <a16:creationId xmlns:a16="http://schemas.microsoft.com/office/drawing/2014/main" id="{AE990CC3-1F59-F27B-A1CE-A25F18B5FC2F}"/>
              </a:ext>
            </a:extLst>
          </p:cNvPr>
          <p:cNvSpPr/>
          <p:nvPr/>
        </p:nvSpPr>
        <p:spPr>
          <a:xfrm>
            <a:off x="-228600" y="9334500"/>
            <a:ext cx="845127" cy="1371448"/>
          </a:xfrm>
          <a:custGeom>
            <a:avLst/>
            <a:gdLst/>
            <a:ahLst/>
            <a:cxnLst/>
            <a:rect l="l" t="t" r="r" b="b"/>
            <a:pathLst>
              <a:path w="4774256" h="4774256">
                <a:moveTo>
                  <a:pt x="0" y="0"/>
                </a:moveTo>
                <a:lnTo>
                  <a:pt x="4774256" y="0"/>
                </a:lnTo>
                <a:lnTo>
                  <a:pt x="4774256" y="4774256"/>
                </a:lnTo>
                <a:lnTo>
                  <a:pt x="0" y="477425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419"/>
          </a:p>
        </p:txBody>
      </p:sp>
      <p:sp>
        <p:nvSpPr>
          <p:cNvPr id="7" name="Freeform 2">
            <a:extLst>
              <a:ext uri="{FF2B5EF4-FFF2-40B4-BE49-F238E27FC236}">
                <a16:creationId xmlns:a16="http://schemas.microsoft.com/office/drawing/2014/main" id="{C5423157-EF81-83FA-F3B2-147FB2B1FE50}"/>
              </a:ext>
            </a:extLst>
          </p:cNvPr>
          <p:cNvSpPr/>
          <p:nvPr/>
        </p:nvSpPr>
        <p:spPr>
          <a:xfrm>
            <a:off x="16892901" y="8518810"/>
            <a:ext cx="1524000" cy="1631379"/>
          </a:xfrm>
          <a:custGeom>
            <a:avLst/>
            <a:gdLst/>
            <a:ahLst/>
            <a:cxnLst/>
            <a:rect l="l" t="t" r="r" b="b"/>
            <a:pathLst>
              <a:path w="1811250" h="2012500">
                <a:moveTo>
                  <a:pt x="0" y="0"/>
                </a:moveTo>
                <a:lnTo>
                  <a:pt x="1811251" y="0"/>
                </a:lnTo>
                <a:lnTo>
                  <a:pt x="1811251" y="2012501"/>
                </a:lnTo>
                <a:lnTo>
                  <a:pt x="0" y="20125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sp>
        <p:nvSpPr>
          <p:cNvPr id="8" name="Freeform 2">
            <a:extLst>
              <a:ext uri="{FF2B5EF4-FFF2-40B4-BE49-F238E27FC236}">
                <a16:creationId xmlns:a16="http://schemas.microsoft.com/office/drawing/2014/main" id="{DA821C4D-B412-8C44-AA60-01BD3170523A}"/>
              </a:ext>
            </a:extLst>
          </p:cNvPr>
          <p:cNvSpPr/>
          <p:nvPr/>
        </p:nvSpPr>
        <p:spPr>
          <a:xfrm rot="12423514">
            <a:off x="-105868" y="-199790"/>
            <a:ext cx="965003" cy="1228641"/>
          </a:xfrm>
          <a:custGeom>
            <a:avLst/>
            <a:gdLst/>
            <a:ahLst/>
            <a:cxnLst/>
            <a:rect l="l" t="t" r="r" b="b"/>
            <a:pathLst>
              <a:path w="1811250" h="2012500">
                <a:moveTo>
                  <a:pt x="0" y="0"/>
                </a:moveTo>
                <a:lnTo>
                  <a:pt x="1811251" y="0"/>
                </a:lnTo>
                <a:lnTo>
                  <a:pt x="1811251" y="2012501"/>
                </a:lnTo>
                <a:lnTo>
                  <a:pt x="0" y="20125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pic>
        <p:nvPicPr>
          <p:cNvPr id="2" name="Imagen 1">
            <a:extLst>
              <a:ext uri="{FF2B5EF4-FFF2-40B4-BE49-F238E27FC236}">
                <a16:creationId xmlns:a16="http://schemas.microsoft.com/office/drawing/2014/main" id="{39510C36-C001-0004-CB85-1E1213D64F3B}"/>
              </a:ext>
            </a:extLst>
          </p:cNvPr>
          <p:cNvPicPr>
            <a:picLocks noChangeAspect="1"/>
          </p:cNvPicPr>
          <p:nvPr/>
        </p:nvPicPr>
        <p:blipFill>
          <a:blip r:embed="rId5"/>
          <a:stretch>
            <a:fillRect/>
          </a:stretch>
        </p:blipFill>
        <p:spPr>
          <a:xfrm>
            <a:off x="2819400" y="1936030"/>
            <a:ext cx="9296400" cy="7169869"/>
          </a:xfrm>
          <a:prstGeom prst="rect">
            <a:avLst/>
          </a:prstGeom>
        </p:spPr>
      </p:pic>
    </p:spTree>
    <p:extLst>
      <p:ext uri="{BB962C8B-B14F-4D97-AF65-F5344CB8AC3E}">
        <p14:creationId xmlns:p14="http://schemas.microsoft.com/office/powerpoint/2010/main" val="14243217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E41E31E3-34CF-DA8C-5A6B-D296177EBBF0}"/>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FBE9BD33-0D5A-F8B3-55BC-E26391DCBC03}"/>
              </a:ext>
            </a:extLst>
          </p:cNvPr>
          <p:cNvSpPr txBox="1"/>
          <p:nvPr/>
        </p:nvSpPr>
        <p:spPr>
          <a:xfrm>
            <a:off x="1085776" y="152398"/>
            <a:ext cx="13087424" cy="1279196"/>
          </a:xfrm>
          <a:prstGeom prst="rect">
            <a:avLst/>
          </a:prstGeom>
        </p:spPr>
        <p:txBody>
          <a:bodyPr wrap="square" lIns="0" tIns="0" rIns="0" bIns="0" rtlCol="0" anchor="t">
            <a:spAutoFit/>
          </a:bodyPr>
          <a:lstStyle/>
          <a:p>
            <a:pPr algn="r">
              <a:lnSpc>
                <a:spcPts val="10863"/>
              </a:lnSpc>
            </a:pPr>
            <a:r>
              <a:rPr lang="es-SV" sz="6000" b="1" spc="-194" dirty="0">
                <a:solidFill>
                  <a:srgbClr val="FFFFFF"/>
                </a:solidFill>
                <a:latin typeface="Now Bold"/>
                <a:ea typeface="Now Bold"/>
                <a:cs typeface="Now Bold"/>
                <a:sym typeface="Now Bold"/>
              </a:rPr>
              <a:t>Explicación Códigos: </a:t>
            </a:r>
            <a:r>
              <a:rPr lang="es-SV" sz="6000" b="1" spc="-194" dirty="0" err="1">
                <a:solidFill>
                  <a:srgbClr val="FFC000"/>
                </a:solidFill>
                <a:latin typeface="Now Bold"/>
                <a:ea typeface="Now Bold"/>
                <a:cs typeface="Now Bold"/>
                <a:sym typeface="Now Bold"/>
              </a:rPr>
              <a:t>eas.Json</a:t>
            </a:r>
            <a:endParaRPr lang="en-US" sz="6000" b="1" spc="-194" dirty="0">
              <a:solidFill>
                <a:srgbClr val="FFC000"/>
              </a:solidFill>
              <a:latin typeface="Now Bold"/>
              <a:ea typeface="Now Bold"/>
              <a:cs typeface="Now Bold"/>
              <a:sym typeface="Now Bold"/>
            </a:endParaRPr>
          </a:p>
        </p:txBody>
      </p:sp>
      <p:sp>
        <p:nvSpPr>
          <p:cNvPr id="5" name="Freeform 5">
            <a:extLst>
              <a:ext uri="{FF2B5EF4-FFF2-40B4-BE49-F238E27FC236}">
                <a16:creationId xmlns:a16="http://schemas.microsoft.com/office/drawing/2014/main" id="{6BB90D6D-F7D9-831C-DF0F-4951E09B3929}"/>
              </a:ext>
            </a:extLst>
          </p:cNvPr>
          <p:cNvSpPr/>
          <p:nvPr/>
        </p:nvSpPr>
        <p:spPr>
          <a:xfrm rot="10415872">
            <a:off x="16956338" y="-829748"/>
            <a:ext cx="2307347" cy="1888093"/>
          </a:xfrm>
          <a:custGeom>
            <a:avLst/>
            <a:gdLst/>
            <a:ahLst/>
            <a:cxnLst/>
            <a:rect l="l" t="t" r="r" b="b"/>
            <a:pathLst>
              <a:path w="5277584" h="5277584">
                <a:moveTo>
                  <a:pt x="0" y="0"/>
                </a:moveTo>
                <a:lnTo>
                  <a:pt x="5277583" y="0"/>
                </a:lnTo>
                <a:lnTo>
                  <a:pt x="5277583" y="5277584"/>
                </a:lnTo>
                <a:lnTo>
                  <a:pt x="0" y="527758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419"/>
          </a:p>
        </p:txBody>
      </p:sp>
      <p:sp>
        <p:nvSpPr>
          <p:cNvPr id="6" name="Freeform 6">
            <a:extLst>
              <a:ext uri="{FF2B5EF4-FFF2-40B4-BE49-F238E27FC236}">
                <a16:creationId xmlns:a16="http://schemas.microsoft.com/office/drawing/2014/main" id="{8E6554C5-9248-5C30-133E-53D1DDAEA7C6}"/>
              </a:ext>
            </a:extLst>
          </p:cNvPr>
          <p:cNvSpPr/>
          <p:nvPr/>
        </p:nvSpPr>
        <p:spPr>
          <a:xfrm>
            <a:off x="-228600" y="9334500"/>
            <a:ext cx="845127" cy="1371448"/>
          </a:xfrm>
          <a:custGeom>
            <a:avLst/>
            <a:gdLst/>
            <a:ahLst/>
            <a:cxnLst/>
            <a:rect l="l" t="t" r="r" b="b"/>
            <a:pathLst>
              <a:path w="4774256" h="4774256">
                <a:moveTo>
                  <a:pt x="0" y="0"/>
                </a:moveTo>
                <a:lnTo>
                  <a:pt x="4774256" y="0"/>
                </a:lnTo>
                <a:lnTo>
                  <a:pt x="4774256" y="4774256"/>
                </a:lnTo>
                <a:lnTo>
                  <a:pt x="0" y="477425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419"/>
          </a:p>
        </p:txBody>
      </p:sp>
      <p:sp>
        <p:nvSpPr>
          <p:cNvPr id="7" name="Freeform 2">
            <a:extLst>
              <a:ext uri="{FF2B5EF4-FFF2-40B4-BE49-F238E27FC236}">
                <a16:creationId xmlns:a16="http://schemas.microsoft.com/office/drawing/2014/main" id="{7705F6B9-66A1-18A6-A7F9-E743EFD0050D}"/>
              </a:ext>
            </a:extLst>
          </p:cNvPr>
          <p:cNvSpPr/>
          <p:nvPr/>
        </p:nvSpPr>
        <p:spPr>
          <a:xfrm>
            <a:off x="16892901" y="8518810"/>
            <a:ext cx="1524000" cy="1631379"/>
          </a:xfrm>
          <a:custGeom>
            <a:avLst/>
            <a:gdLst/>
            <a:ahLst/>
            <a:cxnLst/>
            <a:rect l="l" t="t" r="r" b="b"/>
            <a:pathLst>
              <a:path w="1811250" h="2012500">
                <a:moveTo>
                  <a:pt x="0" y="0"/>
                </a:moveTo>
                <a:lnTo>
                  <a:pt x="1811251" y="0"/>
                </a:lnTo>
                <a:lnTo>
                  <a:pt x="1811251" y="2012501"/>
                </a:lnTo>
                <a:lnTo>
                  <a:pt x="0" y="20125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sp>
        <p:nvSpPr>
          <p:cNvPr id="8" name="Freeform 2">
            <a:extLst>
              <a:ext uri="{FF2B5EF4-FFF2-40B4-BE49-F238E27FC236}">
                <a16:creationId xmlns:a16="http://schemas.microsoft.com/office/drawing/2014/main" id="{4670605E-ED1E-2DB5-C4B0-03B863DD9AA5}"/>
              </a:ext>
            </a:extLst>
          </p:cNvPr>
          <p:cNvSpPr/>
          <p:nvPr/>
        </p:nvSpPr>
        <p:spPr>
          <a:xfrm rot="12423514">
            <a:off x="-105868" y="-199790"/>
            <a:ext cx="965003" cy="1228641"/>
          </a:xfrm>
          <a:custGeom>
            <a:avLst/>
            <a:gdLst/>
            <a:ahLst/>
            <a:cxnLst/>
            <a:rect l="l" t="t" r="r" b="b"/>
            <a:pathLst>
              <a:path w="1811250" h="2012500">
                <a:moveTo>
                  <a:pt x="0" y="0"/>
                </a:moveTo>
                <a:lnTo>
                  <a:pt x="1811251" y="0"/>
                </a:lnTo>
                <a:lnTo>
                  <a:pt x="1811251" y="2012501"/>
                </a:lnTo>
                <a:lnTo>
                  <a:pt x="0" y="20125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pic>
        <p:nvPicPr>
          <p:cNvPr id="10" name="Imagen 9">
            <a:extLst>
              <a:ext uri="{FF2B5EF4-FFF2-40B4-BE49-F238E27FC236}">
                <a16:creationId xmlns:a16="http://schemas.microsoft.com/office/drawing/2014/main" id="{5BB593CF-5866-CEFF-56D1-3B5F6A803FC4}"/>
              </a:ext>
            </a:extLst>
          </p:cNvPr>
          <p:cNvPicPr>
            <a:picLocks noChangeAspect="1"/>
          </p:cNvPicPr>
          <p:nvPr/>
        </p:nvPicPr>
        <p:blipFill>
          <a:blip r:embed="rId5"/>
          <a:stretch>
            <a:fillRect/>
          </a:stretch>
        </p:blipFill>
        <p:spPr>
          <a:xfrm>
            <a:off x="2362200" y="1431594"/>
            <a:ext cx="8229600" cy="8703008"/>
          </a:xfrm>
          <a:prstGeom prst="rect">
            <a:avLst/>
          </a:prstGeom>
        </p:spPr>
      </p:pic>
    </p:spTree>
    <p:extLst>
      <p:ext uri="{BB962C8B-B14F-4D97-AF65-F5344CB8AC3E}">
        <p14:creationId xmlns:p14="http://schemas.microsoft.com/office/powerpoint/2010/main" val="30445485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extBox 3"/>
          <p:cNvSpPr txBox="1"/>
          <p:nvPr/>
        </p:nvSpPr>
        <p:spPr>
          <a:xfrm>
            <a:off x="1085776" y="152398"/>
            <a:ext cx="11106224" cy="1279196"/>
          </a:xfrm>
          <a:prstGeom prst="rect">
            <a:avLst/>
          </a:prstGeom>
        </p:spPr>
        <p:txBody>
          <a:bodyPr wrap="square" lIns="0" tIns="0" rIns="0" bIns="0" rtlCol="0" anchor="t">
            <a:spAutoFit/>
          </a:bodyPr>
          <a:lstStyle/>
          <a:p>
            <a:pPr algn="r">
              <a:lnSpc>
                <a:spcPts val="10863"/>
              </a:lnSpc>
            </a:pPr>
            <a:r>
              <a:rPr lang="es-SV" sz="6000" b="1" spc="-194" dirty="0">
                <a:solidFill>
                  <a:srgbClr val="FFFFFF"/>
                </a:solidFill>
                <a:latin typeface="Now Bold"/>
                <a:ea typeface="Now Bold"/>
                <a:cs typeface="Now Bold"/>
                <a:sym typeface="Now Bold"/>
              </a:rPr>
              <a:t>Explicación Códigos: </a:t>
            </a:r>
            <a:r>
              <a:rPr lang="es-SV" sz="6000" b="1" spc="-194" dirty="0">
                <a:solidFill>
                  <a:srgbClr val="FFFF00"/>
                </a:solidFill>
                <a:latin typeface="Now Bold"/>
                <a:ea typeface="Now Bold"/>
                <a:cs typeface="Now Bold"/>
                <a:sym typeface="Now Bold"/>
              </a:rPr>
              <a:t>index.js</a:t>
            </a:r>
            <a:endParaRPr lang="en-US" sz="6000" b="1" spc="-194" dirty="0">
              <a:solidFill>
                <a:srgbClr val="FFFF00"/>
              </a:solidFill>
              <a:latin typeface="Now Bold"/>
              <a:ea typeface="Now Bold"/>
              <a:cs typeface="Now Bold"/>
              <a:sym typeface="Now Bold"/>
            </a:endParaRPr>
          </a:p>
        </p:txBody>
      </p:sp>
      <p:sp>
        <p:nvSpPr>
          <p:cNvPr id="5" name="Freeform 5"/>
          <p:cNvSpPr/>
          <p:nvPr/>
        </p:nvSpPr>
        <p:spPr>
          <a:xfrm rot="10415872">
            <a:off x="16956338" y="-829748"/>
            <a:ext cx="2307347" cy="1888093"/>
          </a:xfrm>
          <a:custGeom>
            <a:avLst/>
            <a:gdLst/>
            <a:ahLst/>
            <a:cxnLst/>
            <a:rect l="l" t="t" r="r" b="b"/>
            <a:pathLst>
              <a:path w="5277584" h="5277584">
                <a:moveTo>
                  <a:pt x="0" y="0"/>
                </a:moveTo>
                <a:lnTo>
                  <a:pt x="5277583" y="0"/>
                </a:lnTo>
                <a:lnTo>
                  <a:pt x="5277583" y="5277584"/>
                </a:lnTo>
                <a:lnTo>
                  <a:pt x="0" y="527758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419"/>
          </a:p>
        </p:txBody>
      </p:sp>
      <p:sp>
        <p:nvSpPr>
          <p:cNvPr id="6" name="Freeform 6"/>
          <p:cNvSpPr/>
          <p:nvPr/>
        </p:nvSpPr>
        <p:spPr>
          <a:xfrm>
            <a:off x="-228600" y="9334500"/>
            <a:ext cx="845127" cy="1371448"/>
          </a:xfrm>
          <a:custGeom>
            <a:avLst/>
            <a:gdLst/>
            <a:ahLst/>
            <a:cxnLst/>
            <a:rect l="l" t="t" r="r" b="b"/>
            <a:pathLst>
              <a:path w="4774256" h="4774256">
                <a:moveTo>
                  <a:pt x="0" y="0"/>
                </a:moveTo>
                <a:lnTo>
                  <a:pt x="4774256" y="0"/>
                </a:lnTo>
                <a:lnTo>
                  <a:pt x="4774256" y="4774256"/>
                </a:lnTo>
                <a:lnTo>
                  <a:pt x="0" y="477425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419"/>
          </a:p>
        </p:txBody>
      </p:sp>
      <p:sp>
        <p:nvSpPr>
          <p:cNvPr id="7" name="Freeform 2"/>
          <p:cNvSpPr/>
          <p:nvPr/>
        </p:nvSpPr>
        <p:spPr>
          <a:xfrm>
            <a:off x="16892901" y="8518810"/>
            <a:ext cx="1524000" cy="1631379"/>
          </a:xfrm>
          <a:custGeom>
            <a:avLst/>
            <a:gdLst/>
            <a:ahLst/>
            <a:cxnLst/>
            <a:rect l="l" t="t" r="r" b="b"/>
            <a:pathLst>
              <a:path w="1811250" h="2012500">
                <a:moveTo>
                  <a:pt x="0" y="0"/>
                </a:moveTo>
                <a:lnTo>
                  <a:pt x="1811251" y="0"/>
                </a:lnTo>
                <a:lnTo>
                  <a:pt x="1811251" y="2012501"/>
                </a:lnTo>
                <a:lnTo>
                  <a:pt x="0" y="20125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sp>
        <p:nvSpPr>
          <p:cNvPr id="8" name="Freeform 2"/>
          <p:cNvSpPr/>
          <p:nvPr/>
        </p:nvSpPr>
        <p:spPr>
          <a:xfrm rot="12423514">
            <a:off x="-105868" y="-199790"/>
            <a:ext cx="965003" cy="1228641"/>
          </a:xfrm>
          <a:custGeom>
            <a:avLst/>
            <a:gdLst/>
            <a:ahLst/>
            <a:cxnLst/>
            <a:rect l="l" t="t" r="r" b="b"/>
            <a:pathLst>
              <a:path w="1811250" h="2012500">
                <a:moveTo>
                  <a:pt x="0" y="0"/>
                </a:moveTo>
                <a:lnTo>
                  <a:pt x="1811251" y="0"/>
                </a:lnTo>
                <a:lnTo>
                  <a:pt x="1811251" y="2012501"/>
                </a:lnTo>
                <a:lnTo>
                  <a:pt x="0" y="20125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pic>
        <p:nvPicPr>
          <p:cNvPr id="4" name="Imagen 3">
            <a:extLst>
              <a:ext uri="{FF2B5EF4-FFF2-40B4-BE49-F238E27FC236}">
                <a16:creationId xmlns:a16="http://schemas.microsoft.com/office/drawing/2014/main" id="{4793C95E-C73E-AD11-49ED-7E5CE33B8BA1}"/>
              </a:ext>
            </a:extLst>
          </p:cNvPr>
          <p:cNvPicPr>
            <a:picLocks noChangeAspect="1"/>
          </p:cNvPicPr>
          <p:nvPr/>
        </p:nvPicPr>
        <p:blipFill>
          <a:blip r:embed="rId5"/>
          <a:stretch>
            <a:fillRect/>
          </a:stretch>
        </p:blipFill>
        <p:spPr>
          <a:xfrm>
            <a:off x="1219200" y="1903374"/>
            <a:ext cx="14554200" cy="5297526"/>
          </a:xfrm>
          <a:prstGeom prst="rect">
            <a:avLst/>
          </a:prstGeom>
        </p:spPr>
      </p:pic>
    </p:spTree>
    <p:extLst>
      <p:ext uri="{BB962C8B-B14F-4D97-AF65-F5344CB8AC3E}">
        <p14:creationId xmlns:p14="http://schemas.microsoft.com/office/powerpoint/2010/main" val="36288287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extBox 3"/>
          <p:cNvSpPr txBox="1"/>
          <p:nvPr/>
        </p:nvSpPr>
        <p:spPr>
          <a:xfrm>
            <a:off x="1085776" y="152398"/>
            <a:ext cx="15983024" cy="1279196"/>
          </a:xfrm>
          <a:prstGeom prst="rect">
            <a:avLst/>
          </a:prstGeom>
        </p:spPr>
        <p:txBody>
          <a:bodyPr wrap="square" lIns="0" tIns="0" rIns="0" bIns="0" rtlCol="0" anchor="t">
            <a:spAutoFit/>
          </a:bodyPr>
          <a:lstStyle/>
          <a:p>
            <a:pPr algn="r">
              <a:lnSpc>
                <a:spcPts val="10863"/>
              </a:lnSpc>
            </a:pPr>
            <a:r>
              <a:rPr lang="es-SV" sz="6000" b="1" spc="-194" dirty="0">
                <a:solidFill>
                  <a:srgbClr val="FFFFFF"/>
                </a:solidFill>
                <a:latin typeface="Now Bold"/>
                <a:ea typeface="Now Bold"/>
                <a:cs typeface="Now Bold"/>
                <a:sym typeface="Now Bold"/>
              </a:rPr>
              <a:t>Explicación Códigos: </a:t>
            </a:r>
            <a:r>
              <a:rPr lang="es-SV" sz="6000" b="1" spc="-194" dirty="0" err="1">
                <a:solidFill>
                  <a:srgbClr val="FFFF00"/>
                </a:solidFill>
                <a:latin typeface="Now Bold"/>
                <a:ea typeface="Now Bold"/>
                <a:cs typeface="Now Bold"/>
                <a:sym typeface="Now Bold"/>
              </a:rPr>
              <a:t>Package-lock.json</a:t>
            </a:r>
            <a:endParaRPr lang="en-US" sz="6000" b="1" spc="-194" dirty="0">
              <a:solidFill>
                <a:srgbClr val="FFFF00"/>
              </a:solidFill>
              <a:latin typeface="Now Bold"/>
              <a:ea typeface="Now Bold"/>
              <a:cs typeface="Now Bold"/>
              <a:sym typeface="Now Bold"/>
            </a:endParaRPr>
          </a:p>
        </p:txBody>
      </p:sp>
      <p:sp>
        <p:nvSpPr>
          <p:cNvPr id="5" name="Freeform 5"/>
          <p:cNvSpPr/>
          <p:nvPr/>
        </p:nvSpPr>
        <p:spPr>
          <a:xfrm rot="10415872">
            <a:off x="16956338" y="-829748"/>
            <a:ext cx="2307347" cy="1888093"/>
          </a:xfrm>
          <a:custGeom>
            <a:avLst/>
            <a:gdLst/>
            <a:ahLst/>
            <a:cxnLst/>
            <a:rect l="l" t="t" r="r" b="b"/>
            <a:pathLst>
              <a:path w="5277584" h="5277584">
                <a:moveTo>
                  <a:pt x="0" y="0"/>
                </a:moveTo>
                <a:lnTo>
                  <a:pt x="5277583" y="0"/>
                </a:lnTo>
                <a:lnTo>
                  <a:pt x="5277583" y="5277584"/>
                </a:lnTo>
                <a:lnTo>
                  <a:pt x="0" y="527758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419"/>
          </a:p>
        </p:txBody>
      </p:sp>
      <p:sp>
        <p:nvSpPr>
          <p:cNvPr id="6" name="Freeform 6"/>
          <p:cNvSpPr/>
          <p:nvPr/>
        </p:nvSpPr>
        <p:spPr>
          <a:xfrm>
            <a:off x="-228600" y="9334500"/>
            <a:ext cx="845127" cy="1371448"/>
          </a:xfrm>
          <a:custGeom>
            <a:avLst/>
            <a:gdLst/>
            <a:ahLst/>
            <a:cxnLst/>
            <a:rect l="l" t="t" r="r" b="b"/>
            <a:pathLst>
              <a:path w="4774256" h="4774256">
                <a:moveTo>
                  <a:pt x="0" y="0"/>
                </a:moveTo>
                <a:lnTo>
                  <a:pt x="4774256" y="0"/>
                </a:lnTo>
                <a:lnTo>
                  <a:pt x="4774256" y="4774256"/>
                </a:lnTo>
                <a:lnTo>
                  <a:pt x="0" y="477425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419"/>
          </a:p>
        </p:txBody>
      </p:sp>
      <p:sp>
        <p:nvSpPr>
          <p:cNvPr id="7" name="Freeform 2"/>
          <p:cNvSpPr/>
          <p:nvPr/>
        </p:nvSpPr>
        <p:spPr>
          <a:xfrm>
            <a:off x="16892901" y="8518810"/>
            <a:ext cx="1524000" cy="1631379"/>
          </a:xfrm>
          <a:custGeom>
            <a:avLst/>
            <a:gdLst/>
            <a:ahLst/>
            <a:cxnLst/>
            <a:rect l="l" t="t" r="r" b="b"/>
            <a:pathLst>
              <a:path w="1811250" h="2012500">
                <a:moveTo>
                  <a:pt x="0" y="0"/>
                </a:moveTo>
                <a:lnTo>
                  <a:pt x="1811251" y="0"/>
                </a:lnTo>
                <a:lnTo>
                  <a:pt x="1811251" y="2012501"/>
                </a:lnTo>
                <a:lnTo>
                  <a:pt x="0" y="20125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sp>
        <p:nvSpPr>
          <p:cNvPr id="8" name="Freeform 2"/>
          <p:cNvSpPr/>
          <p:nvPr/>
        </p:nvSpPr>
        <p:spPr>
          <a:xfrm rot="12423514">
            <a:off x="-105868" y="-199790"/>
            <a:ext cx="965003" cy="1228641"/>
          </a:xfrm>
          <a:custGeom>
            <a:avLst/>
            <a:gdLst/>
            <a:ahLst/>
            <a:cxnLst/>
            <a:rect l="l" t="t" r="r" b="b"/>
            <a:pathLst>
              <a:path w="1811250" h="2012500">
                <a:moveTo>
                  <a:pt x="0" y="0"/>
                </a:moveTo>
                <a:lnTo>
                  <a:pt x="1811251" y="0"/>
                </a:lnTo>
                <a:lnTo>
                  <a:pt x="1811251" y="2012501"/>
                </a:lnTo>
                <a:lnTo>
                  <a:pt x="0" y="20125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pic>
        <p:nvPicPr>
          <p:cNvPr id="4" name="Imagen 3">
            <a:extLst>
              <a:ext uri="{FF2B5EF4-FFF2-40B4-BE49-F238E27FC236}">
                <a16:creationId xmlns:a16="http://schemas.microsoft.com/office/drawing/2014/main" id="{0046DE0D-05ED-CFC3-BD0F-034F9085CFD5}"/>
              </a:ext>
            </a:extLst>
          </p:cNvPr>
          <p:cNvPicPr>
            <a:picLocks noChangeAspect="1"/>
          </p:cNvPicPr>
          <p:nvPr/>
        </p:nvPicPr>
        <p:blipFill>
          <a:blip r:embed="rId5"/>
          <a:srcRect b="31047"/>
          <a:stretch>
            <a:fillRect/>
          </a:stretch>
        </p:blipFill>
        <p:spPr>
          <a:xfrm>
            <a:off x="1219200" y="1431594"/>
            <a:ext cx="15639065" cy="8360106"/>
          </a:xfrm>
          <a:prstGeom prst="rect">
            <a:avLst/>
          </a:prstGeom>
        </p:spPr>
      </p:pic>
    </p:spTree>
    <p:extLst>
      <p:ext uri="{BB962C8B-B14F-4D97-AF65-F5344CB8AC3E}">
        <p14:creationId xmlns:p14="http://schemas.microsoft.com/office/powerpoint/2010/main" val="33636128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extBox 3"/>
          <p:cNvSpPr txBox="1"/>
          <p:nvPr/>
        </p:nvSpPr>
        <p:spPr>
          <a:xfrm>
            <a:off x="1085776" y="152398"/>
            <a:ext cx="7905823" cy="1397819"/>
          </a:xfrm>
          <a:prstGeom prst="rect">
            <a:avLst/>
          </a:prstGeom>
        </p:spPr>
        <p:txBody>
          <a:bodyPr wrap="square" lIns="0" tIns="0" rIns="0" bIns="0" rtlCol="0" anchor="t">
            <a:spAutoFit/>
          </a:bodyPr>
          <a:lstStyle/>
          <a:p>
            <a:pPr algn="r">
              <a:lnSpc>
                <a:spcPts val="10863"/>
              </a:lnSpc>
            </a:pPr>
            <a:r>
              <a:rPr lang="es-SV" sz="6000" b="1" spc="-194" dirty="0">
                <a:solidFill>
                  <a:srgbClr val="FFFFFF"/>
                </a:solidFill>
                <a:latin typeface="Now Bold"/>
                <a:ea typeface="Now Bold"/>
                <a:cs typeface="Now Bold"/>
                <a:sym typeface="Now Bold"/>
              </a:rPr>
              <a:t>Explicación Códigos:</a:t>
            </a:r>
            <a:endParaRPr lang="en-US" sz="6000" b="1" spc="-194" dirty="0">
              <a:solidFill>
                <a:srgbClr val="FFFFFF"/>
              </a:solidFill>
              <a:latin typeface="Now Bold"/>
              <a:ea typeface="Now Bold"/>
              <a:cs typeface="Now Bold"/>
              <a:sym typeface="Now Bold"/>
            </a:endParaRPr>
          </a:p>
        </p:txBody>
      </p:sp>
      <p:sp>
        <p:nvSpPr>
          <p:cNvPr id="5" name="Freeform 5"/>
          <p:cNvSpPr/>
          <p:nvPr/>
        </p:nvSpPr>
        <p:spPr>
          <a:xfrm rot="10415872">
            <a:off x="16956338" y="-829748"/>
            <a:ext cx="2307347" cy="1888093"/>
          </a:xfrm>
          <a:custGeom>
            <a:avLst/>
            <a:gdLst/>
            <a:ahLst/>
            <a:cxnLst/>
            <a:rect l="l" t="t" r="r" b="b"/>
            <a:pathLst>
              <a:path w="5277584" h="5277584">
                <a:moveTo>
                  <a:pt x="0" y="0"/>
                </a:moveTo>
                <a:lnTo>
                  <a:pt x="5277583" y="0"/>
                </a:lnTo>
                <a:lnTo>
                  <a:pt x="5277583" y="5277584"/>
                </a:lnTo>
                <a:lnTo>
                  <a:pt x="0" y="527758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419"/>
          </a:p>
        </p:txBody>
      </p:sp>
      <p:sp>
        <p:nvSpPr>
          <p:cNvPr id="6" name="Freeform 6"/>
          <p:cNvSpPr/>
          <p:nvPr/>
        </p:nvSpPr>
        <p:spPr>
          <a:xfrm>
            <a:off x="-228600" y="9334500"/>
            <a:ext cx="845127" cy="1371448"/>
          </a:xfrm>
          <a:custGeom>
            <a:avLst/>
            <a:gdLst/>
            <a:ahLst/>
            <a:cxnLst/>
            <a:rect l="l" t="t" r="r" b="b"/>
            <a:pathLst>
              <a:path w="4774256" h="4774256">
                <a:moveTo>
                  <a:pt x="0" y="0"/>
                </a:moveTo>
                <a:lnTo>
                  <a:pt x="4774256" y="0"/>
                </a:lnTo>
                <a:lnTo>
                  <a:pt x="4774256" y="4774256"/>
                </a:lnTo>
                <a:lnTo>
                  <a:pt x="0" y="477425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419"/>
          </a:p>
        </p:txBody>
      </p:sp>
      <p:sp>
        <p:nvSpPr>
          <p:cNvPr id="7" name="Freeform 2"/>
          <p:cNvSpPr/>
          <p:nvPr/>
        </p:nvSpPr>
        <p:spPr>
          <a:xfrm>
            <a:off x="16892901" y="8518810"/>
            <a:ext cx="1524000" cy="1631379"/>
          </a:xfrm>
          <a:custGeom>
            <a:avLst/>
            <a:gdLst/>
            <a:ahLst/>
            <a:cxnLst/>
            <a:rect l="l" t="t" r="r" b="b"/>
            <a:pathLst>
              <a:path w="1811250" h="2012500">
                <a:moveTo>
                  <a:pt x="0" y="0"/>
                </a:moveTo>
                <a:lnTo>
                  <a:pt x="1811251" y="0"/>
                </a:lnTo>
                <a:lnTo>
                  <a:pt x="1811251" y="2012501"/>
                </a:lnTo>
                <a:lnTo>
                  <a:pt x="0" y="20125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sp>
        <p:nvSpPr>
          <p:cNvPr id="8" name="Freeform 2"/>
          <p:cNvSpPr/>
          <p:nvPr/>
        </p:nvSpPr>
        <p:spPr>
          <a:xfrm rot="12423514">
            <a:off x="-105868" y="-199790"/>
            <a:ext cx="965003" cy="1228641"/>
          </a:xfrm>
          <a:custGeom>
            <a:avLst/>
            <a:gdLst/>
            <a:ahLst/>
            <a:cxnLst/>
            <a:rect l="l" t="t" r="r" b="b"/>
            <a:pathLst>
              <a:path w="1811250" h="2012500">
                <a:moveTo>
                  <a:pt x="0" y="0"/>
                </a:moveTo>
                <a:lnTo>
                  <a:pt x="1811251" y="0"/>
                </a:lnTo>
                <a:lnTo>
                  <a:pt x="1811251" y="2012501"/>
                </a:lnTo>
                <a:lnTo>
                  <a:pt x="0" y="20125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419"/>
          </a:p>
        </p:txBody>
      </p:sp>
      <p:pic>
        <p:nvPicPr>
          <p:cNvPr id="4" name="Imagen 3">
            <a:extLst>
              <a:ext uri="{FF2B5EF4-FFF2-40B4-BE49-F238E27FC236}">
                <a16:creationId xmlns:a16="http://schemas.microsoft.com/office/drawing/2014/main" id="{99ECFC5B-6B48-A7D1-AC01-B72C292093B7}"/>
              </a:ext>
            </a:extLst>
          </p:cNvPr>
          <p:cNvPicPr>
            <a:picLocks noChangeAspect="1"/>
          </p:cNvPicPr>
          <p:nvPr/>
        </p:nvPicPr>
        <p:blipFill>
          <a:blip r:embed="rId5"/>
          <a:stretch>
            <a:fillRect/>
          </a:stretch>
        </p:blipFill>
        <p:spPr>
          <a:xfrm>
            <a:off x="838200" y="1685536"/>
            <a:ext cx="9144000" cy="8334763"/>
          </a:xfrm>
          <a:prstGeom prst="rect">
            <a:avLst/>
          </a:prstGeom>
        </p:spPr>
      </p:pic>
    </p:spTree>
    <p:extLst>
      <p:ext uri="{BB962C8B-B14F-4D97-AF65-F5344CB8AC3E}">
        <p14:creationId xmlns:p14="http://schemas.microsoft.com/office/powerpoint/2010/main" val="24096184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283</TotalTime>
  <Words>1727</Words>
  <Application>Microsoft Office PowerPoint</Application>
  <PresentationFormat>Personalizado</PresentationFormat>
  <Paragraphs>144</Paragraphs>
  <Slides>22</Slides>
  <Notes>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22</vt:i4>
      </vt:variant>
    </vt:vector>
  </HeadingPairs>
  <TitlesOfParts>
    <vt:vector size="28" baseType="lpstr">
      <vt:lpstr>Calibri</vt:lpstr>
      <vt:lpstr>Arial</vt:lpstr>
      <vt:lpstr>Now Bold</vt:lpstr>
      <vt:lpstr>Now</vt:lpstr>
      <vt:lpstr>Times New Roman</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Presentación versátil tecnológica y desarrollo fondo negro formas llamativas degradados</dc:title>
  <cp:lastModifiedBy>Leslye Olivares</cp:lastModifiedBy>
  <cp:revision>38</cp:revision>
  <dcterms:created xsi:type="dcterms:W3CDTF">2006-08-16T00:00:00Z</dcterms:created>
  <dcterms:modified xsi:type="dcterms:W3CDTF">2026-04-16T02:08:19Z</dcterms:modified>
  <dc:identifier>DAHFWZfHBJ8</dc:identifier>
</cp:coreProperties>
</file>